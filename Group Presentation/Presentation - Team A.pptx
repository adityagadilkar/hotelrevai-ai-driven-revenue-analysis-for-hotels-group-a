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ial Nova Bold" charset="1" panose="020B0804020202020204"/>
      <p:regular r:id="rId28"/>
    </p:embeddedFont>
    <p:embeddedFont>
      <p:font typeface="Arial Nova" charset="1" panose="020B0504020202020204"/>
      <p:regular r:id="rId29"/>
    </p:embeddedFont>
    <p:embeddedFont>
      <p:font typeface="Poppins Bold" charset="1" panose="00000800000000000000"/>
      <p:regular r:id="rId30"/>
    </p:embeddedFont>
    <p:embeddedFont>
      <p:font typeface="Poppins" charset="1" panose="00000500000000000000"/>
      <p:regular r:id="rId31"/>
    </p:embeddedFont>
    <p:embeddedFont>
      <p:font typeface="Arial Nova Bold Italics" charset="1" panose="020B080402020209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9" id="9"/>
          <p:cNvSpPr txBox="true"/>
          <p:nvPr/>
        </p:nvSpPr>
        <p:spPr>
          <a:xfrm rot="0">
            <a:off x="-17070" y="87313"/>
            <a:ext cx="18288000" cy="1698626"/>
          </a:xfrm>
          <a:prstGeom prst="rect">
            <a:avLst/>
          </a:prstGeom>
        </p:spPr>
        <p:txBody>
          <a:bodyPr anchor="t" rtlCol="false" tIns="0" lIns="0" bIns="0" rIns="0">
            <a:spAutoFit/>
          </a:bodyPr>
          <a:lstStyle/>
          <a:p>
            <a:pPr algn="ctr">
              <a:lnSpc>
                <a:spcPts val="13999"/>
              </a:lnSpc>
            </a:pPr>
            <a:r>
              <a:rPr lang="en-US" sz="9999" b="true">
                <a:solidFill>
                  <a:srgbClr val="D5EFEF"/>
                </a:solidFill>
                <a:latin typeface="Arial Nova Bold"/>
                <a:ea typeface="Arial Nova Bold"/>
                <a:cs typeface="Arial Nova Bold"/>
                <a:sym typeface="Arial Nova Bold"/>
              </a:rPr>
              <a:t>Hotel Revenue Management</a:t>
            </a:r>
          </a:p>
        </p:txBody>
      </p:sp>
      <p:sp>
        <p:nvSpPr>
          <p:cNvPr name="TextBox 10" id="10"/>
          <p:cNvSpPr txBox="true"/>
          <p:nvPr/>
        </p:nvSpPr>
        <p:spPr>
          <a:xfrm rot="0">
            <a:off x="14393366" y="6829318"/>
            <a:ext cx="3877564" cy="3190875"/>
          </a:xfrm>
          <a:prstGeom prst="rect">
            <a:avLst/>
          </a:prstGeom>
        </p:spPr>
        <p:txBody>
          <a:bodyPr anchor="t" rtlCol="false" tIns="0" lIns="0" bIns="0" rIns="0">
            <a:spAutoFit/>
          </a:bodyPr>
          <a:lstStyle/>
          <a:p>
            <a:pPr algn="l">
              <a:lnSpc>
                <a:spcPts val="4200"/>
              </a:lnSpc>
            </a:pPr>
            <a:r>
              <a:rPr lang="en-US" sz="3000" b="true">
                <a:solidFill>
                  <a:srgbClr val="D5EFEF"/>
                </a:solidFill>
                <a:latin typeface="Arial Nova Bold"/>
                <a:ea typeface="Arial Nova Bold"/>
                <a:cs typeface="Arial Nova Bold"/>
                <a:sym typeface="Arial Nova Bold"/>
              </a:rPr>
              <a:t>Presented By:</a:t>
            </a:r>
          </a:p>
          <a:p>
            <a:pPr algn="l">
              <a:lnSpc>
                <a:spcPts val="4200"/>
              </a:lnSpc>
            </a:pPr>
            <a:r>
              <a:rPr lang="en-US" sz="3000" b="true">
                <a:solidFill>
                  <a:srgbClr val="D5EFEF"/>
                </a:solidFill>
                <a:latin typeface="Arial Nova Bold"/>
                <a:ea typeface="Arial Nova Bold"/>
                <a:cs typeface="Arial Nova Bold"/>
                <a:sym typeface="Arial Nova Bold"/>
              </a:rPr>
              <a:t>Akula Sahithi</a:t>
            </a:r>
          </a:p>
          <a:p>
            <a:pPr algn="l">
              <a:lnSpc>
                <a:spcPts val="4200"/>
              </a:lnSpc>
            </a:pPr>
            <a:r>
              <a:rPr lang="en-US" sz="3000" b="true">
                <a:solidFill>
                  <a:srgbClr val="D5EFEF"/>
                </a:solidFill>
                <a:latin typeface="Arial Nova Bold"/>
                <a:ea typeface="Arial Nova Bold"/>
                <a:cs typeface="Arial Nova Bold"/>
                <a:sym typeface="Arial Nova Bold"/>
              </a:rPr>
              <a:t>Aditya Gadilkar</a:t>
            </a:r>
          </a:p>
          <a:p>
            <a:pPr algn="l">
              <a:lnSpc>
                <a:spcPts val="4200"/>
              </a:lnSpc>
            </a:pPr>
            <a:r>
              <a:rPr lang="en-US" sz="3000" b="true">
                <a:solidFill>
                  <a:srgbClr val="D5EFEF"/>
                </a:solidFill>
                <a:latin typeface="Arial Nova Bold"/>
                <a:ea typeface="Arial Nova Bold"/>
                <a:cs typeface="Arial Nova Bold"/>
                <a:sym typeface="Arial Nova Bold"/>
              </a:rPr>
              <a:t>Patnaikuni Sai Likhita</a:t>
            </a:r>
          </a:p>
          <a:p>
            <a:pPr algn="l">
              <a:lnSpc>
                <a:spcPts val="4200"/>
              </a:lnSpc>
            </a:pPr>
            <a:r>
              <a:rPr lang="en-US" sz="3000" b="true">
                <a:solidFill>
                  <a:srgbClr val="D5EFEF"/>
                </a:solidFill>
                <a:latin typeface="Arial Nova Bold"/>
                <a:ea typeface="Arial Nova Bold"/>
                <a:cs typeface="Arial Nova Bold"/>
                <a:sym typeface="Arial Nova Bold"/>
              </a:rPr>
              <a:t>Diya Lodha</a:t>
            </a:r>
          </a:p>
          <a:p>
            <a:pPr algn="l">
              <a:lnSpc>
                <a:spcPts val="4200"/>
              </a:lnSpc>
            </a:pPr>
            <a:r>
              <a:rPr lang="en-US" sz="3000" b="true">
                <a:solidFill>
                  <a:srgbClr val="D5EFEF"/>
                </a:solidFill>
                <a:latin typeface="Arial Nova Bold"/>
                <a:ea typeface="Arial Nova Bold"/>
                <a:cs typeface="Arial Nova Bold"/>
                <a:sym typeface="Arial Nova Bold"/>
              </a:rPr>
              <a:t>Adarsh Rout</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AutoShape 8" id="8"/>
          <p:cNvSpPr/>
          <p:nvPr/>
        </p:nvSpPr>
        <p:spPr>
          <a:xfrm>
            <a:off x="4195033" y="1783787"/>
            <a:ext cx="9897933" cy="0"/>
          </a:xfrm>
          <a:prstGeom prst="line">
            <a:avLst/>
          </a:prstGeom>
          <a:ln cap="flat" w="38100">
            <a:solidFill>
              <a:srgbClr val="FFFFFF"/>
            </a:solidFill>
            <a:prstDash val="solid"/>
            <a:headEnd type="diamond" len="lg" w="lg"/>
            <a:tailEnd type="diamond" len="lg" w="lg"/>
          </a:ln>
        </p:spPr>
      </p:sp>
      <p:sp>
        <p:nvSpPr>
          <p:cNvPr name="AutoShape 9" id="9"/>
          <p:cNvSpPr/>
          <p:nvPr/>
        </p:nvSpPr>
        <p:spPr>
          <a:xfrm>
            <a:off x="4195033" y="8507730"/>
            <a:ext cx="9897933" cy="0"/>
          </a:xfrm>
          <a:prstGeom prst="line">
            <a:avLst/>
          </a:prstGeom>
          <a:ln cap="flat" w="38100">
            <a:solidFill>
              <a:srgbClr val="FFFFFF"/>
            </a:solidFill>
            <a:prstDash val="solid"/>
            <a:headEnd type="diamond" len="lg" w="lg"/>
            <a:tailEnd type="diamond" len="lg" w="lg"/>
          </a:ln>
        </p:spPr>
      </p:sp>
      <p:grpSp>
        <p:nvGrpSpPr>
          <p:cNvPr name="Group 10" id="10"/>
          <p:cNvGrpSpPr/>
          <p:nvPr/>
        </p:nvGrpSpPr>
        <p:grpSpPr>
          <a:xfrm rot="0">
            <a:off x="1028700" y="2203508"/>
            <a:ext cx="16230600" cy="5818022"/>
            <a:chOff x="0" y="0"/>
            <a:chExt cx="4274726" cy="1532319"/>
          </a:xfrm>
        </p:grpSpPr>
        <p:sp>
          <p:nvSpPr>
            <p:cNvPr name="Freeform 11" id="11"/>
            <p:cNvSpPr/>
            <p:nvPr/>
          </p:nvSpPr>
          <p:spPr>
            <a:xfrm flipH="false" flipV="false" rot="0">
              <a:off x="0" y="0"/>
              <a:ext cx="4274726" cy="1532319"/>
            </a:xfrm>
            <a:custGeom>
              <a:avLst/>
              <a:gdLst/>
              <a:ahLst/>
              <a:cxnLst/>
              <a:rect r="r" b="b" t="t" l="l"/>
              <a:pathLst>
                <a:path h="1532319" w="4274726">
                  <a:moveTo>
                    <a:pt x="0" y="0"/>
                  </a:moveTo>
                  <a:lnTo>
                    <a:pt x="4274726" y="0"/>
                  </a:lnTo>
                  <a:lnTo>
                    <a:pt x="4274726" y="1532319"/>
                  </a:lnTo>
                  <a:lnTo>
                    <a:pt x="0" y="1532319"/>
                  </a:lnTo>
                  <a:close/>
                </a:path>
              </a:pathLst>
            </a:custGeom>
            <a:solidFill>
              <a:srgbClr val="036493"/>
            </a:solidFill>
          </p:spPr>
        </p:sp>
        <p:sp>
          <p:nvSpPr>
            <p:cNvPr name="TextBox 12" id="12"/>
            <p:cNvSpPr txBox="true"/>
            <p:nvPr/>
          </p:nvSpPr>
          <p:spPr>
            <a:xfrm>
              <a:off x="0" y="-66675"/>
              <a:ext cx="4274726" cy="1598994"/>
            </a:xfrm>
            <a:prstGeom prst="rect">
              <a:avLst/>
            </a:prstGeom>
          </p:spPr>
          <p:txBody>
            <a:bodyPr anchor="ctr" rtlCol="false" tIns="50800" lIns="50800" bIns="50800" rIns="50800"/>
            <a:lstStyle/>
            <a:p>
              <a:pPr algn="ctr">
                <a:lnSpc>
                  <a:spcPts val="3494"/>
                </a:lnSpc>
              </a:pPr>
            </a:p>
          </p:txBody>
        </p:sp>
      </p:grpSp>
      <p:sp>
        <p:nvSpPr>
          <p:cNvPr name="TextBox 13" id="13"/>
          <p:cNvSpPr txBox="true"/>
          <p:nvPr/>
        </p:nvSpPr>
        <p:spPr>
          <a:xfrm rot="0">
            <a:off x="1374203" y="2569845"/>
            <a:ext cx="15539594" cy="5080635"/>
          </a:xfrm>
          <a:prstGeom prst="rect">
            <a:avLst/>
          </a:prstGeom>
        </p:spPr>
        <p:txBody>
          <a:bodyPr anchor="t" rtlCol="false" tIns="0" lIns="0" bIns="0" rIns="0">
            <a:spAutoFit/>
          </a:bodyPr>
          <a:lstStyle/>
          <a:p>
            <a:pPr algn="just">
              <a:lnSpc>
                <a:spcPts val="5040"/>
              </a:lnSpc>
              <a:spcBef>
                <a:spcPct val="0"/>
              </a:spcBef>
            </a:pPr>
            <a:r>
              <a:rPr lang="en-US" sz="3600">
                <a:solidFill>
                  <a:srgbClr val="FFFEFE"/>
                </a:solidFill>
                <a:latin typeface="Arial Nova"/>
                <a:ea typeface="Arial Nova"/>
                <a:cs typeface="Arial Nova"/>
                <a:sym typeface="Arial Nova"/>
              </a:rPr>
              <a:t>This project develops a Hotel Revenue Management System to analyze booking, customer, and room data for improving occupancy and revenue performance. A star schema data model is used to calculate key metrics such as Occupancy Rate, ADR, and RevPAR across time and booking channels. Guest behavior, cancellation trends, and future occupancy are analyzed to support demand forecasting. The final interactive dashboard provides actionable insights on pricing, upselling, and revenue optimization for hotel management.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1028700" y="1831929"/>
            <a:ext cx="16230600" cy="7330826"/>
            <a:chOff x="0" y="0"/>
            <a:chExt cx="4274726" cy="1930752"/>
          </a:xfrm>
        </p:grpSpPr>
        <p:sp>
          <p:nvSpPr>
            <p:cNvPr name="Freeform 9" id="9"/>
            <p:cNvSpPr/>
            <p:nvPr/>
          </p:nvSpPr>
          <p:spPr>
            <a:xfrm flipH="false" flipV="false" rot="0">
              <a:off x="0" y="0"/>
              <a:ext cx="4274726" cy="1930752"/>
            </a:xfrm>
            <a:custGeom>
              <a:avLst/>
              <a:gdLst/>
              <a:ahLst/>
              <a:cxnLst/>
              <a:rect r="r" b="b" t="t" l="l"/>
              <a:pathLst>
                <a:path h="1930752" w="4274726">
                  <a:moveTo>
                    <a:pt x="0" y="0"/>
                  </a:moveTo>
                  <a:lnTo>
                    <a:pt x="4274726" y="0"/>
                  </a:lnTo>
                  <a:lnTo>
                    <a:pt x="4274726" y="1930752"/>
                  </a:lnTo>
                  <a:lnTo>
                    <a:pt x="0" y="1930752"/>
                  </a:lnTo>
                  <a:close/>
                </a:path>
              </a:pathLst>
            </a:custGeom>
            <a:solidFill>
              <a:srgbClr val="036493"/>
            </a:solidFill>
          </p:spPr>
        </p:sp>
        <p:sp>
          <p:nvSpPr>
            <p:cNvPr name="TextBox 10" id="10"/>
            <p:cNvSpPr txBox="true"/>
            <p:nvPr/>
          </p:nvSpPr>
          <p:spPr>
            <a:xfrm>
              <a:off x="0" y="-66675"/>
              <a:ext cx="4274726" cy="1997427"/>
            </a:xfrm>
            <a:prstGeom prst="rect">
              <a:avLst/>
            </a:prstGeom>
          </p:spPr>
          <p:txBody>
            <a:bodyPr anchor="ctr" rtlCol="false" tIns="50800" lIns="50800" bIns="50800" rIns="50800"/>
            <a:lstStyle/>
            <a:p>
              <a:pPr algn="l">
                <a:lnSpc>
                  <a:spcPts val="3494"/>
                </a:lnSpc>
              </a:pPr>
            </a:p>
          </p:txBody>
        </p:sp>
      </p:grpSp>
      <p:sp>
        <p:nvSpPr>
          <p:cNvPr name="TextBox 11" id="11"/>
          <p:cNvSpPr txBox="true"/>
          <p:nvPr/>
        </p:nvSpPr>
        <p:spPr>
          <a:xfrm rot="0">
            <a:off x="1218645" y="1841329"/>
            <a:ext cx="15816570" cy="7264400"/>
          </a:xfrm>
          <a:prstGeom prst="rect">
            <a:avLst/>
          </a:prstGeom>
        </p:spPr>
        <p:txBody>
          <a:bodyPr anchor="t" rtlCol="false" tIns="0" lIns="0" bIns="0" rIns="0">
            <a:spAutoFit/>
          </a:bodyPr>
          <a:lstStyle/>
          <a:p>
            <a:pPr algn="l">
              <a:lnSpc>
                <a:spcPts val="3850"/>
              </a:lnSpc>
              <a:spcBef>
                <a:spcPct val="0"/>
              </a:spcBef>
            </a:pPr>
            <a:r>
              <a:rPr lang="en-US" sz="2750" b="true">
                <a:solidFill>
                  <a:srgbClr val="FF914D"/>
                </a:solidFill>
                <a:latin typeface="Arial Nova Bold"/>
                <a:ea typeface="Arial Nova Bold"/>
                <a:cs typeface="Arial Nova Bold"/>
                <a:sym typeface="Arial Nova Bold"/>
              </a:rPr>
              <a:t>M</a:t>
            </a:r>
            <a:r>
              <a:rPr lang="en-US" b="true" sz="2750">
                <a:solidFill>
                  <a:srgbClr val="FF914D"/>
                </a:solidFill>
                <a:latin typeface="Arial Nova Bold"/>
                <a:ea typeface="Arial Nova Bold"/>
                <a:cs typeface="Arial Nova Bold"/>
                <a:sym typeface="Arial Nova Bold"/>
              </a:rPr>
              <a:t>odule Overview</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This module establishes the data foundation of the HotelRevAI system.</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Raw booking, customer, room, and hotel branch data are ingested, cleaned, and standardized.</a:t>
            </a:r>
          </a:p>
          <a:p>
            <a:pPr algn="l">
              <a:lnSpc>
                <a:spcPts val="3850"/>
              </a:lnSpc>
              <a:spcBef>
                <a:spcPct val="0"/>
              </a:spcBef>
            </a:pPr>
          </a:p>
          <a:p>
            <a:pPr algn="l">
              <a:lnSpc>
                <a:spcPts val="3850"/>
              </a:lnSpc>
              <a:spcBef>
                <a:spcPct val="0"/>
              </a:spcBef>
            </a:pPr>
            <a:r>
              <a:rPr lang="en-US" b="true" sz="2750">
                <a:solidFill>
                  <a:srgbClr val="FF914D"/>
                </a:solidFill>
                <a:latin typeface="Arial Nova Bold"/>
                <a:ea typeface="Arial Nova Bold"/>
                <a:cs typeface="Arial Nova Bold"/>
                <a:sym typeface="Arial Nova Bold"/>
              </a:rPr>
              <a:t>Data Architecture</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A star schema is designed with FactBookings at the center.</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Connected dimensions include Date, Room, Customer, and Hotel Branch for scalable analysis.</a:t>
            </a:r>
          </a:p>
          <a:p>
            <a:pPr algn="l">
              <a:lnSpc>
                <a:spcPts val="3850"/>
              </a:lnSpc>
              <a:spcBef>
                <a:spcPct val="0"/>
              </a:spcBef>
            </a:pPr>
          </a:p>
          <a:p>
            <a:pPr algn="l">
              <a:lnSpc>
                <a:spcPts val="3850"/>
              </a:lnSpc>
              <a:spcBef>
                <a:spcPct val="0"/>
              </a:spcBef>
            </a:pPr>
            <a:r>
              <a:rPr lang="en-US" b="true" sz="2750">
                <a:solidFill>
                  <a:srgbClr val="FF914D"/>
                </a:solidFill>
                <a:latin typeface="Arial Nova Bold"/>
                <a:ea typeface="Arial Nova Bold"/>
                <a:cs typeface="Arial Nova Bold"/>
                <a:sym typeface="Arial Nova Bold"/>
              </a:rPr>
              <a:t>Data Enrichment</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Key derived fields such as booking duration, room category, and stay type are calculated.</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These enrich the dataset and enable accurate downstream analytics.</a:t>
            </a:r>
          </a:p>
          <a:p>
            <a:pPr algn="l">
              <a:lnSpc>
                <a:spcPts val="3850"/>
              </a:lnSpc>
              <a:spcBef>
                <a:spcPct val="0"/>
              </a:spcBef>
            </a:pPr>
          </a:p>
          <a:p>
            <a:pPr algn="l">
              <a:lnSpc>
                <a:spcPts val="3850"/>
              </a:lnSpc>
              <a:spcBef>
                <a:spcPct val="0"/>
              </a:spcBef>
            </a:pPr>
            <a:r>
              <a:rPr lang="en-US" b="true" sz="2750">
                <a:solidFill>
                  <a:srgbClr val="FF914D"/>
                </a:solidFill>
                <a:latin typeface="Arial Nova Bold"/>
                <a:ea typeface="Arial Nova Bold"/>
                <a:cs typeface="Arial Nova Bold"/>
                <a:sym typeface="Arial Nova Bold"/>
              </a:rPr>
              <a:t>Business Impact</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Ensures data accuracy, consistency, and performance.</a:t>
            </a:r>
          </a:p>
          <a:p>
            <a:pPr algn="l" marL="593726" indent="-296863" lvl="1">
              <a:lnSpc>
                <a:spcPts val="3850"/>
              </a:lnSpc>
              <a:spcBef>
                <a:spcPct val="0"/>
              </a:spcBef>
              <a:buFont typeface="Arial"/>
              <a:buChar char="•"/>
            </a:pPr>
            <a:r>
              <a:rPr lang="en-US" sz="2750">
                <a:solidFill>
                  <a:srgbClr val="FFFFFF"/>
                </a:solidFill>
                <a:latin typeface="Arial Nova"/>
                <a:ea typeface="Arial Nova"/>
                <a:cs typeface="Arial Nova"/>
                <a:sym typeface="Arial Nova"/>
              </a:rPr>
              <a:t>Provides a reliable base for occupancy, revenue, forecasting, and strategy dashboards.</a:t>
            </a:r>
          </a:p>
        </p:txBody>
      </p:sp>
      <p:sp>
        <p:nvSpPr>
          <p:cNvPr name="TextBox 12" id="12"/>
          <p:cNvSpPr txBox="true"/>
          <p:nvPr/>
        </p:nvSpPr>
        <p:spPr>
          <a:xfrm rot="0">
            <a:off x="1408435" y="508000"/>
            <a:ext cx="15471130"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FFFFFF"/>
                </a:solidFill>
                <a:latin typeface="Arial Nova Bold"/>
                <a:ea typeface="Arial Nova Bold"/>
                <a:cs typeface="Arial Nova Bold"/>
                <a:sym typeface="Arial Nova Bold"/>
              </a:rPr>
              <a:t>M</a:t>
            </a:r>
            <a:r>
              <a:rPr lang="en-US" b="true" sz="5499">
                <a:solidFill>
                  <a:srgbClr val="FFFFFF"/>
                </a:solidFill>
                <a:latin typeface="Arial Nova Bold"/>
                <a:ea typeface="Arial Nova Bold"/>
                <a:cs typeface="Arial Nova Bold"/>
                <a:sym typeface="Arial Nova Bold"/>
              </a:rPr>
              <a:t>ODULE 1 - DATA MODELING AND INGESTION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835603" y="1562928"/>
            <a:ext cx="8738226" cy="7706630"/>
          </a:xfrm>
          <a:custGeom>
            <a:avLst/>
            <a:gdLst/>
            <a:ahLst/>
            <a:cxnLst/>
            <a:rect r="r" b="b" t="t" l="l"/>
            <a:pathLst>
              <a:path h="7706630" w="8738226">
                <a:moveTo>
                  <a:pt x="0" y="0"/>
                </a:moveTo>
                <a:lnTo>
                  <a:pt x="8738226" y="0"/>
                </a:lnTo>
                <a:lnTo>
                  <a:pt x="8738226" y="7706630"/>
                </a:lnTo>
                <a:lnTo>
                  <a:pt x="0" y="7706630"/>
                </a:lnTo>
                <a:lnTo>
                  <a:pt x="0" y="0"/>
                </a:lnTo>
                <a:close/>
              </a:path>
            </a:pathLst>
          </a:custGeom>
          <a:blipFill>
            <a:blip r:embed="rId2"/>
            <a:stretch>
              <a:fillRect l="-7430" t="-30088" r="-4065" b="-15431"/>
            </a:stretch>
          </a:blipFill>
        </p:spPr>
      </p:sp>
      <p:sp>
        <p:nvSpPr>
          <p:cNvPr name="TextBox 9" id="9"/>
          <p:cNvSpPr txBox="true"/>
          <p:nvPr/>
        </p:nvSpPr>
        <p:spPr>
          <a:xfrm rot="0">
            <a:off x="835603" y="268508"/>
            <a:ext cx="16423697" cy="1038225"/>
          </a:xfrm>
          <a:prstGeom prst="rect">
            <a:avLst/>
          </a:prstGeom>
        </p:spPr>
        <p:txBody>
          <a:bodyPr anchor="t" rtlCol="false" tIns="0" lIns="0" bIns="0" rIns="0">
            <a:spAutoFit/>
          </a:bodyPr>
          <a:lstStyle/>
          <a:p>
            <a:pPr algn="ctr">
              <a:lnSpc>
                <a:spcPts val="8400"/>
              </a:lnSpc>
              <a:spcBef>
                <a:spcPct val="0"/>
              </a:spcBef>
            </a:pPr>
            <a:r>
              <a:rPr lang="en-US" b="true" sz="6000">
                <a:solidFill>
                  <a:srgbClr val="FFFEFE"/>
                </a:solidFill>
                <a:latin typeface="Arial Nova Bold"/>
                <a:ea typeface="Arial Nova Bold"/>
                <a:cs typeface="Arial Nova Bold"/>
                <a:sym typeface="Arial Nova Bold"/>
              </a:rPr>
              <a:t>STAR SCHEMA DESIGN</a:t>
            </a:r>
          </a:p>
        </p:txBody>
      </p:sp>
      <p:grpSp>
        <p:nvGrpSpPr>
          <p:cNvPr name="Group 10" id="10"/>
          <p:cNvGrpSpPr/>
          <p:nvPr/>
        </p:nvGrpSpPr>
        <p:grpSpPr>
          <a:xfrm rot="0">
            <a:off x="9815851" y="1562928"/>
            <a:ext cx="7551887" cy="7706630"/>
            <a:chOff x="0" y="0"/>
            <a:chExt cx="1988974" cy="2029730"/>
          </a:xfrm>
        </p:grpSpPr>
        <p:sp>
          <p:nvSpPr>
            <p:cNvPr name="Freeform 11" id="11"/>
            <p:cNvSpPr/>
            <p:nvPr/>
          </p:nvSpPr>
          <p:spPr>
            <a:xfrm flipH="false" flipV="false" rot="0">
              <a:off x="0" y="0"/>
              <a:ext cx="1988974" cy="2029730"/>
            </a:xfrm>
            <a:custGeom>
              <a:avLst/>
              <a:gdLst/>
              <a:ahLst/>
              <a:cxnLst/>
              <a:rect r="r" b="b" t="t" l="l"/>
              <a:pathLst>
                <a:path h="2029730" w="1988974">
                  <a:moveTo>
                    <a:pt x="0" y="0"/>
                  </a:moveTo>
                  <a:lnTo>
                    <a:pt x="1988974" y="0"/>
                  </a:lnTo>
                  <a:lnTo>
                    <a:pt x="1988974" y="2029730"/>
                  </a:lnTo>
                  <a:lnTo>
                    <a:pt x="0" y="2029730"/>
                  </a:lnTo>
                  <a:close/>
                </a:path>
              </a:pathLst>
            </a:custGeom>
            <a:solidFill>
              <a:srgbClr val="036493"/>
            </a:solidFill>
          </p:spPr>
        </p:sp>
        <p:sp>
          <p:nvSpPr>
            <p:cNvPr name="TextBox 12" id="12"/>
            <p:cNvSpPr txBox="true"/>
            <p:nvPr/>
          </p:nvSpPr>
          <p:spPr>
            <a:xfrm>
              <a:off x="0" y="-66675"/>
              <a:ext cx="1988974" cy="2096405"/>
            </a:xfrm>
            <a:prstGeom prst="rect">
              <a:avLst/>
            </a:prstGeom>
          </p:spPr>
          <p:txBody>
            <a:bodyPr anchor="ctr" rtlCol="false" tIns="50800" lIns="50800" bIns="50800" rIns="50800"/>
            <a:lstStyle/>
            <a:p>
              <a:pPr algn="l">
                <a:lnSpc>
                  <a:spcPts val="3494"/>
                </a:lnSpc>
              </a:pPr>
            </a:p>
          </p:txBody>
        </p:sp>
      </p:grpSp>
      <p:sp>
        <p:nvSpPr>
          <p:cNvPr name="TextBox 13" id="13"/>
          <p:cNvSpPr txBox="true"/>
          <p:nvPr/>
        </p:nvSpPr>
        <p:spPr>
          <a:xfrm rot="0">
            <a:off x="9815851" y="1761636"/>
            <a:ext cx="7198969" cy="7301149"/>
          </a:xfrm>
          <a:prstGeom prst="rect">
            <a:avLst/>
          </a:prstGeom>
        </p:spPr>
        <p:txBody>
          <a:bodyPr anchor="t" rtlCol="false" tIns="0" lIns="0" bIns="0" rIns="0">
            <a:spAutoFit/>
          </a:bodyPr>
          <a:lstStyle/>
          <a:p>
            <a:pPr algn="l" marL="596159" indent="-298079" lvl="1">
              <a:lnSpc>
                <a:spcPts val="3865"/>
              </a:lnSpc>
              <a:buFont typeface="Arial"/>
              <a:buChar char="•"/>
            </a:pPr>
            <a:r>
              <a:rPr lang="en-US" sz="2761">
                <a:solidFill>
                  <a:srgbClr val="FFFEFE"/>
                </a:solidFill>
                <a:latin typeface="Arial Nova"/>
                <a:ea typeface="Arial Nova"/>
                <a:cs typeface="Arial Nova"/>
                <a:sym typeface="Arial Nova"/>
              </a:rPr>
              <a:t>This Power BI data model uses a star schema where HotelBookings is the fact table connected to dimensions like Date, Customer, Room, and HotelBranch, enabling efficient analysis of hotel performance, revenue trends, and customer behavior.</a:t>
            </a:r>
          </a:p>
          <a:p>
            <a:pPr algn="l">
              <a:lnSpc>
                <a:spcPts val="3865"/>
              </a:lnSpc>
            </a:pPr>
          </a:p>
          <a:p>
            <a:pPr algn="l" marL="596159" indent="-298079" lvl="1">
              <a:lnSpc>
                <a:spcPts val="3865"/>
              </a:lnSpc>
              <a:buFont typeface="Arial"/>
              <a:buChar char="•"/>
            </a:pPr>
            <a:r>
              <a:rPr lang="en-US" sz="2761">
                <a:solidFill>
                  <a:srgbClr val="FFFEFE"/>
                </a:solidFill>
                <a:latin typeface="Arial Nova"/>
                <a:ea typeface="Arial Nova"/>
                <a:cs typeface="Arial Nova"/>
                <a:sym typeface="Arial Nova"/>
              </a:rPr>
              <a:t>It enables analysis of booking trends, revenue, occupancy, and customer behavior across time and locations.</a:t>
            </a:r>
          </a:p>
          <a:p>
            <a:pPr algn="l">
              <a:lnSpc>
                <a:spcPts val="3865"/>
              </a:lnSpc>
            </a:pPr>
          </a:p>
          <a:p>
            <a:pPr algn="l" marL="596159" indent="-298079" lvl="1">
              <a:lnSpc>
                <a:spcPts val="3865"/>
              </a:lnSpc>
              <a:buFont typeface="Arial"/>
              <a:buChar char="•"/>
            </a:pPr>
            <a:r>
              <a:rPr lang="en-US" sz="2761">
                <a:solidFill>
                  <a:srgbClr val="FFFEFE"/>
                </a:solidFill>
                <a:latin typeface="Arial Nova"/>
                <a:ea typeface="Arial Nova"/>
                <a:cs typeface="Arial Nova"/>
                <a:sym typeface="Arial Nova"/>
              </a:rPr>
              <a:t> The structure ensures better performance, easy filtering, and accurate KPI calculations.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899826" y="1512884"/>
            <a:ext cx="16488349" cy="4120994"/>
          </a:xfrm>
          <a:custGeom>
            <a:avLst/>
            <a:gdLst/>
            <a:ahLst/>
            <a:cxnLst/>
            <a:rect r="r" b="b" t="t" l="l"/>
            <a:pathLst>
              <a:path h="4120994" w="16488349">
                <a:moveTo>
                  <a:pt x="0" y="0"/>
                </a:moveTo>
                <a:lnTo>
                  <a:pt x="16488348" y="0"/>
                </a:lnTo>
                <a:lnTo>
                  <a:pt x="16488348" y="4120994"/>
                </a:lnTo>
                <a:lnTo>
                  <a:pt x="0" y="4120994"/>
                </a:lnTo>
                <a:lnTo>
                  <a:pt x="0" y="0"/>
                </a:lnTo>
                <a:close/>
              </a:path>
            </a:pathLst>
          </a:custGeom>
          <a:blipFill>
            <a:blip r:embed="rId2"/>
            <a:stretch>
              <a:fillRect l="-169" t="-10904" r="-169" b="0"/>
            </a:stretch>
          </a:blipFill>
        </p:spPr>
      </p:sp>
      <p:sp>
        <p:nvSpPr>
          <p:cNvPr name="Freeform 9" id="9"/>
          <p:cNvSpPr/>
          <p:nvPr/>
        </p:nvSpPr>
        <p:spPr>
          <a:xfrm flipH="false" flipV="false" rot="0">
            <a:off x="1028700" y="5633878"/>
            <a:ext cx="7887624" cy="4073581"/>
          </a:xfrm>
          <a:custGeom>
            <a:avLst/>
            <a:gdLst/>
            <a:ahLst/>
            <a:cxnLst/>
            <a:rect r="r" b="b" t="t" l="l"/>
            <a:pathLst>
              <a:path h="4073581" w="7887624">
                <a:moveTo>
                  <a:pt x="0" y="0"/>
                </a:moveTo>
                <a:lnTo>
                  <a:pt x="7887624" y="0"/>
                </a:lnTo>
                <a:lnTo>
                  <a:pt x="7887624" y="4073582"/>
                </a:lnTo>
                <a:lnTo>
                  <a:pt x="0" y="4073582"/>
                </a:lnTo>
                <a:lnTo>
                  <a:pt x="0" y="0"/>
                </a:lnTo>
                <a:close/>
              </a:path>
            </a:pathLst>
          </a:custGeom>
          <a:blipFill>
            <a:blip r:embed="rId3"/>
            <a:stretch>
              <a:fillRect l="0" t="-2568" r="-486" b="-2568"/>
            </a:stretch>
          </a:blipFill>
        </p:spPr>
      </p:sp>
      <p:sp>
        <p:nvSpPr>
          <p:cNvPr name="Freeform 10" id="10"/>
          <p:cNvSpPr/>
          <p:nvPr/>
        </p:nvSpPr>
        <p:spPr>
          <a:xfrm flipH="false" flipV="false" rot="0">
            <a:off x="9467222" y="5605303"/>
            <a:ext cx="7920953" cy="4042341"/>
          </a:xfrm>
          <a:custGeom>
            <a:avLst/>
            <a:gdLst/>
            <a:ahLst/>
            <a:cxnLst/>
            <a:rect r="r" b="b" t="t" l="l"/>
            <a:pathLst>
              <a:path h="4042341" w="7920953">
                <a:moveTo>
                  <a:pt x="0" y="0"/>
                </a:moveTo>
                <a:lnTo>
                  <a:pt x="7920952" y="0"/>
                </a:lnTo>
                <a:lnTo>
                  <a:pt x="7920952" y="4042342"/>
                </a:lnTo>
                <a:lnTo>
                  <a:pt x="0" y="4042342"/>
                </a:lnTo>
                <a:lnTo>
                  <a:pt x="0" y="0"/>
                </a:lnTo>
                <a:close/>
              </a:path>
            </a:pathLst>
          </a:custGeom>
          <a:blipFill>
            <a:blip r:embed="rId4"/>
            <a:stretch>
              <a:fillRect l="-1206" t="-5472" r="0" b="-3168"/>
            </a:stretch>
          </a:blipFill>
        </p:spPr>
      </p:sp>
      <p:sp>
        <p:nvSpPr>
          <p:cNvPr name="TextBox 11" id="11"/>
          <p:cNvSpPr txBox="true"/>
          <p:nvPr/>
        </p:nvSpPr>
        <p:spPr>
          <a:xfrm rot="0">
            <a:off x="899826" y="316230"/>
            <a:ext cx="16488349" cy="712470"/>
          </a:xfrm>
          <a:prstGeom prst="rect">
            <a:avLst/>
          </a:prstGeom>
        </p:spPr>
        <p:txBody>
          <a:bodyPr anchor="t" rtlCol="false" tIns="0" lIns="0" bIns="0" rIns="0">
            <a:spAutoFit/>
          </a:bodyPr>
          <a:lstStyle/>
          <a:p>
            <a:pPr algn="ctr">
              <a:lnSpc>
                <a:spcPts val="5880"/>
              </a:lnSpc>
              <a:spcBef>
                <a:spcPct val="0"/>
              </a:spcBef>
            </a:pPr>
            <a:r>
              <a:rPr lang="en-US" b="true" sz="4200">
                <a:solidFill>
                  <a:srgbClr val="FFFFFF"/>
                </a:solidFill>
                <a:latin typeface="Arial Nova Bold"/>
                <a:ea typeface="Arial Nova Bold"/>
                <a:cs typeface="Arial Nova Bold"/>
                <a:sym typeface="Arial Nova Bold"/>
              </a:rPr>
              <a:t>DURATION &amp; STAY PATTERN INSIGHTS</a:t>
            </a:r>
          </a:p>
        </p:txBody>
      </p:sp>
      <p:sp>
        <p:nvSpPr>
          <p:cNvPr name="TextBox 12" id="12"/>
          <p:cNvSpPr txBox="true"/>
          <p:nvPr/>
        </p:nvSpPr>
        <p:spPr>
          <a:xfrm rot="0">
            <a:off x="899826" y="926779"/>
            <a:ext cx="16488349" cy="481330"/>
          </a:xfrm>
          <a:prstGeom prst="rect">
            <a:avLst/>
          </a:prstGeom>
        </p:spPr>
        <p:txBody>
          <a:bodyPr anchor="t" rtlCol="false" tIns="0" lIns="0" bIns="0" rIns="0">
            <a:spAutoFit/>
          </a:bodyPr>
          <a:lstStyle/>
          <a:p>
            <a:pPr algn="ctr">
              <a:lnSpc>
                <a:spcPts val="3919"/>
              </a:lnSpc>
              <a:spcBef>
                <a:spcPct val="0"/>
              </a:spcBef>
            </a:pPr>
            <a:r>
              <a:rPr lang="en-US" b="true" sz="2799">
                <a:solidFill>
                  <a:srgbClr val="FF914D"/>
                </a:solidFill>
                <a:latin typeface="Arial Nova Bold"/>
                <a:ea typeface="Arial Nova Bold"/>
                <a:cs typeface="Arial Nova Bold"/>
                <a:sym typeface="Arial Nova Bold"/>
              </a:rPr>
              <a:t>Stay D</a:t>
            </a:r>
            <a:r>
              <a:rPr lang="en-US" b="true" sz="2799">
                <a:solidFill>
                  <a:srgbClr val="FF914D"/>
                </a:solidFill>
                <a:latin typeface="Arial Nova Bold"/>
                <a:ea typeface="Arial Nova Bold"/>
                <a:cs typeface="Arial Nova Bold"/>
                <a:sym typeface="Arial Nova Bold"/>
              </a:rPr>
              <a:t>uration Insights Across Branches, Room Categories, And Stay Types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573241" y="1464626"/>
            <a:ext cx="17141518" cy="8027670"/>
            <a:chOff x="0" y="0"/>
            <a:chExt cx="4514638" cy="2114283"/>
          </a:xfrm>
        </p:grpSpPr>
        <p:sp>
          <p:nvSpPr>
            <p:cNvPr name="Freeform 9" id="9"/>
            <p:cNvSpPr/>
            <p:nvPr/>
          </p:nvSpPr>
          <p:spPr>
            <a:xfrm flipH="false" flipV="false" rot="0">
              <a:off x="0" y="0"/>
              <a:ext cx="4514638" cy="2114284"/>
            </a:xfrm>
            <a:custGeom>
              <a:avLst/>
              <a:gdLst/>
              <a:ahLst/>
              <a:cxnLst/>
              <a:rect r="r" b="b" t="t" l="l"/>
              <a:pathLst>
                <a:path h="2114284" w="4514638">
                  <a:moveTo>
                    <a:pt x="0" y="0"/>
                  </a:moveTo>
                  <a:lnTo>
                    <a:pt x="4514638" y="0"/>
                  </a:lnTo>
                  <a:lnTo>
                    <a:pt x="4514638" y="2114284"/>
                  </a:lnTo>
                  <a:lnTo>
                    <a:pt x="0" y="2114284"/>
                  </a:lnTo>
                  <a:close/>
                </a:path>
              </a:pathLst>
            </a:custGeom>
            <a:solidFill>
              <a:srgbClr val="036493"/>
            </a:solidFill>
          </p:spPr>
        </p:sp>
        <p:sp>
          <p:nvSpPr>
            <p:cNvPr name="TextBox 10" id="10"/>
            <p:cNvSpPr txBox="true"/>
            <p:nvPr/>
          </p:nvSpPr>
          <p:spPr>
            <a:xfrm>
              <a:off x="0" y="-66675"/>
              <a:ext cx="4514638" cy="2180958"/>
            </a:xfrm>
            <a:prstGeom prst="rect">
              <a:avLst/>
            </a:prstGeom>
          </p:spPr>
          <p:txBody>
            <a:bodyPr anchor="ctr" rtlCol="false" tIns="50800" lIns="50800" bIns="50800" rIns="50800"/>
            <a:lstStyle/>
            <a:p>
              <a:pPr algn="ctr">
                <a:lnSpc>
                  <a:spcPts val="3494"/>
                </a:lnSpc>
              </a:pPr>
            </a:p>
          </p:txBody>
        </p:sp>
      </p:grpSp>
      <p:sp>
        <p:nvSpPr>
          <p:cNvPr name="TextBox 11" id="11"/>
          <p:cNvSpPr txBox="true"/>
          <p:nvPr/>
        </p:nvSpPr>
        <p:spPr>
          <a:xfrm rot="0">
            <a:off x="817912" y="1568131"/>
            <a:ext cx="16652176" cy="7763510"/>
          </a:xfrm>
          <a:prstGeom prst="rect">
            <a:avLst/>
          </a:prstGeom>
        </p:spPr>
        <p:txBody>
          <a:bodyPr anchor="t" rtlCol="false" tIns="0" lIns="0" bIns="0" rIns="0">
            <a:spAutoFit/>
          </a:bodyPr>
          <a:lstStyle/>
          <a:p>
            <a:pPr algn="l" marL="0" indent="0" lvl="0">
              <a:lnSpc>
                <a:spcPts val="3640"/>
              </a:lnSpc>
            </a:pPr>
            <a:r>
              <a:rPr lang="en-US" b="true" sz="2600">
                <a:solidFill>
                  <a:srgbClr val="FF914D"/>
                </a:solidFill>
                <a:latin typeface="Arial Nova Bold"/>
                <a:ea typeface="Arial Nova Bold"/>
                <a:cs typeface="Arial Nova Bold"/>
                <a:sym typeface="Arial Nova Bold"/>
              </a:rPr>
              <a:t>Purpose </a:t>
            </a:r>
            <a:r>
              <a:rPr lang="en-US" b="true" sz="2600" strike="noStrike" u="none">
                <a:solidFill>
                  <a:srgbClr val="FF914D"/>
                </a:solidFill>
                <a:latin typeface="Arial Nova Bold"/>
                <a:ea typeface="Arial Nova Bold"/>
                <a:cs typeface="Arial Nova Bold"/>
                <a:sym typeface="Arial Nova Bold"/>
              </a:rPr>
              <a:t>o</a:t>
            </a:r>
            <a:r>
              <a:rPr lang="en-US" b="true" sz="2600" strike="noStrike" u="none">
                <a:solidFill>
                  <a:srgbClr val="FF914D"/>
                </a:solidFill>
                <a:latin typeface="Arial Nova Bold"/>
                <a:ea typeface="Arial Nova Bold"/>
                <a:cs typeface="Arial Nova Bold"/>
                <a:sym typeface="Arial Nova Bold"/>
              </a:rPr>
              <a:t>f th</a:t>
            </a:r>
            <a:r>
              <a:rPr lang="en-US" b="true" sz="2600" strike="noStrike" u="none">
                <a:solidFill>
                  <a:srgbClr val="FF914D"/>
                </a:solidFill>
                <a:latin typeface="Arial Nova Bold"/>
                <a:ea typeface="Arial Nova Bold"/>
                <a:cs typeface="Arial Nova Bold"/>
                <a:sym typeface="Arial Nova Bold"/>
              </a:rPr>
              <a:t>e </a:t>
            </a:r>
            <a:r>
              <a:rPr lang="en-US" b="true" sz="2600" strike="noStrike" u="none">
                <a:solidFill>
                  <a:srgbClr val="FF914D"/>
                </a:solidFill>
                <a:latin typeface="Arial Nova Bold"/>
                <a:ea typeface="Arial Nova Bold"/>
                <a:cs typeface="Arial Nova Bold"/>
                <a:sym typeface="Arial Nova Bold"/>
              </a:rPr>
              <a:t>Module</a:t>
            </a: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Th</a:t>
            </a:r>
            <a:r>
              <a:rPr lang="en-US" sz="2600" strike="noStrike" u="none">
                <a:solidFill>
                  <a:srgbClr val="FFFFFF"/>
                </a:solidFill>
                <a:latin typeface="Arial Nova"/>
                <a:ea typeface="Arial Nova"/>
                <a:cs typeface="Arial Nova"/>
                <a:sym typeface="Arial Nova"/>
              </a:rPr>
              <a:t>is</a:t>
            </a:r>
            <a:r>
              <a:rPr lang="en-US" sz="2600" strike="noStrike" u="none">
                <a:solidFill>
                  <a:srgbClr val="FFFFFF"/>
                </a:solidFill>
                <a:latin typeface="Arial Nova"/>
                <a:ea typeface="Arial Nova"/>
                <a:cs typeface="Arial Nova"/>
                <a:sym typeface="Arial Nova"/>
              </a:rPr>
              <a:t> mod</a:t>
            </a:r>
            <a:r>
              <a:rPr lang="en-US" sz="2600" strike="noStrike" u="none">
                <a:solidFill>
                  <a:srgbClr val="FFFFFF"/>
                </a:solidFill>
                <a:latin typeface="Arial Nova"/>
                <a:ea typeface="Arial Nova"/>
                <a:cs typeface="Arial Nova"/>
                <a:sym typeface="Arial Nova"/>
              </a:rPr>
              <a:t>u</a:t>
            </a:r>
            <a:r>
              <a:rPr lang="en-US" sz="2600" strike="noStrike" u="none">
                <a:solidFill>
                  <a:srgbClr val="FFFFFF"/>
                </a:solidFill>
                <a:latin typeface="Arial Nova"/>
                <a:ea typeface="Arial Nova"/>
                <a:cs typeface="Arial Nova"/>
                <a:sym typeface="Arial Nova"/>
              </a:rPr>
              <a:t>le</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evaluates h</a:t>
            </a:r>
            <a:r>
              <a:rPr lang="en-US" sz="2600" strike="noStrike" u="none">
                <a:solidFill>
                  <a:srgbClr val="FFFFFF"/>
                </a:solidFill>
                <a:latin typeface="Arial Nova"/>
                <a:ea typeface="Arial Nova"/>
                <a:cs typeface="Arial Nova"/>
                <a:sym typeface="Arial Nova"/>
              </a:rPr>
              <a:t>o</a:t>
            </a:r>
            <a:r>
              <a:rPr lang="en-US" sz="2600" strike="noStrike" u="none">
                <a:solidFill>
                  <a:srgbClr val="FFFFFF"/>
                </a:solidFill>
                <a:latin typeface="Arial Nova"/>
                <a:ea typeface="Arial Nova"/>
                <a:cs typeface="Arial Nova"/>
                <a:sym typeface="Arial Nova"/>
              </a:rPr>
              <a:t>te</a:t>
            </a:r>
            <a:r>
              <a:rPr lang="en-US" sz="2600" strike="noStrike" u="none">
                <a:solidFill>
                  <a:srgbClr val="FFFFFF"/>
                </a:solidFill>
                <a:latin typeface="Arial Nova"/>
                <a:ea typeface="Arial Nova"/>
                <a:cs typeface="Arial Nova"/>
                <a:sym typeface="Arial Nova"/>
              </a:rPr>
              <a:t>l</a:t>
            </a:r>
            <a:r>
              <a:rPr lang="en-US" sz="2600" strike="noStrike" u="none">
                <a:solidFill>
                  <a:srgbClr val="FFFFFF"/>
                </a:solidFill>
                <a:latin typeface="Arial Nova"/>
                <a:ea typeface="Arial Nova"/>
                <a:cs typeface="Arial Nova"/>
                <a:sym typeface="Arial Nova"/>
              </a:rPr>
              <a:t> perf</a:t>
            </a:r>
            <a:r>
              <a:rPr lang="en-US" sz="2600" strike="noStrike" u="none">
                <a:solidFill>
                  <a:srgbClr val="FFFFFF"/>
                </a:solidFill>
                <a:latin typeface="Arial Nova"/>
                <a:ea typeface="Arial Nova"/>
                <a:cs typeface="Arial Nova"/>
                <a:sym typeface="Arial Nova"/>
              </a:rPr>
              <a:t>or</a:t>
            </a:r>
            <a:r>
              <a:rPr lang="en-US" sz="2600" strike="noStrike" u="none">
                <a:solidFill>
                  <a:srgbClr val="FFFFFF"/>
                </a:solidFill>
                <a:latin typeface="Arial Nova"/>
                <a:ea typeface="Arial Nova"/>
                <a:cs typeface="Arial Nova"/>
                <a:sym typeface="Arial Nova"/>
              </a:rPr>
              <a:t>mance</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u</a:t>
            </a:r>
            <a:r>
              <a:rPr lang="en-US" sz="2600" strike="noStrike" u="none">
                <a:solidFill>
                  <a:srgbClr val="FFFFFF"/>
                </a:solidFill>
                <a:latin typeface="Arial Nova"/>
                <a:ea typeface="Arial Nova"/>
                <a:cs typeface="Arial Nova"/>
                <a:sym typeface="Arial Nova"/>
              </a:rPr>
              <a:t>si</a:t>
            </a:r>
            <a:r>
              <a:rPr lang="en-US" sz="2600" strike="noStrike" u="none">
                <a:solidFill>
                  <a:srgbClr val="FFFFFF"/>
                </a:solidFill>
                <a:latin typeface="Arial Nova"/>
                <a:ea typeface="Arial Nova"/>
                <a:cs typeface="Arial Nova"/>
                <a:sym typeface="Arial Nova"/>
              </a:rPr>
              <a:t>ng </a:t>
            </a:r>
            <a:r>
              <a:rPr lang="en-US" sz="2600" strike="noStrike" u="none">
                <a:solidFill>
                  <a:srgbClr val="FFFFFF"/>
                </a:solidFill>
                <a:latin typeface="Arial Nova"/>
                <a:ea typeface="Arial Nova"/>
                <a:cs typeface="Arial Nova"/>
                <a:sym typeface="Arial Nova"/>
              </a:rPr>
              <a:t>t</a:t>
            </a:r>
            <a:r>
              <a:rPr lang="en-US" sz="2600" strike="noStrike" u="none">
                <a:solidFill>
                  <a:srgbClr val="FFFFFF"/>
                </a:solidFill>
                <a:latin typeface="Arial Nova"/>
                <a:ea typeface="Arial Nova"/>
                <a:cs typeface="Arial Nova"/>
                <a:sym typeface="Arial Nova"/>
              </a:rPr>
              <a:t>hr</a:t>
            </a:r>
            <a:r>
              <a:rPr lang="en-US" sz="2600" strike="noStrike" u="none">
                <a:solidFill>
                  <a:srgbClr val="FFFFFF"/>
                </a:solidFill>
                <a:latin typeface="Arial Nova"/>
                <a:ea typeface="Arial Nova"/>
                <a:cs typeface="Arial Nova"/>
                <a:sym typeface="Arial Nova"/>
              </a:rPr>
              <a:t>e</a:t>
            </a:r>
            <a:r>
              <a:rPr lang="en-US" sz="2600" strike="noStrike" u="none">
                <a:solidFill>
                  <a:srgbClr val="FFFFFF"/>
                </a:solidFill>
                <a:latin typeface="Arial Nova"/>
                <a:ea typeface="Arial Nova"/>
                <a:cs typeface="Arial Nova"/>
                <a:sym typeface="Arial Nova"/>
              </a:rPr>
              <a:t>e indus</a:t>
            </a:r>
            <a:r>
              <a:rPr lang="en-US" sz="2600" strike="noStrike" u="none">
                <a:solidFill>
                  <a:srgbClr val="FFFFFF"/>
                </a:solidFill>
                <a:latin typeface="Arial Nova"/>
                <a:ea typeface="Arial Nova"/>
                <a:cs typeface="Arial Nova"/>
                <a:sym typeface="Arial Nova"/>
              </a:rPr>
              <a:t>t</a:t>
            </a:r>
            <a:r>
              <a:rPr lang="en-US" sz="2600" strike="noStrike" u="none">
                <a:solidFill>
                  <a:srgbClr val="FFFFFF"/>
                </a:solidFill>
                <a:latin typeface="Arial Nova"/>
                <a:ea typeface="Arial Nova"/>
                <a:cs typeface="Arial Nova"/>
                <a:sym typeface="Arial Nova"/>
              </a:rPr>
              <a:t>ry-standard</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KPIs:</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O</a:t>
            </a:r>
            <a:r>
              <a:rPr lang="en-US" sz="2600" strike="noStrike" u="none">
                <a:solidFill>
                  <a:srgbClr val="FFFFFF"/>
                </a:solidFill>
                <a:latin typeface="Arial Nova"/>
                <a:ea typeface="Arial Nova"/>
                <a:cs typeface="Arial Nova"/>
                <a:sym typeface="Arial Nova"/>
              </a:rPr>
              <a:t>c</a:t>
            </a:r>
            <a:r>
              <a:rPr lang="en-US" sz="2600" strike="noStrike" u="none">
                <a:solidFill>
                  <a:srgbClr val="FFFFFF"/>
                </a:solidFill>
                <a:latin typeface="Arial Nova"/>
                <a:ea typeface="Arial Nova"/>
                <a:cs typeface="Arial Nova"/>
                <a:sym typeface="Arial Nova"/>
              </a:rPr>
              <a:t>cupa</a:t>
            </a:r>
            <a:r>
              <a:rPr lang="en-US" sz="2600" strike="noStrike" u="none">
                <a:solidFill>
                  <a:srgbClr val="FFFFFF"/>
                </a:solidFill>
                <a:latin typeface="Arial Nova"/>
                <a:ea typeface="Arial Nova"/>
                <a:cs typeface="Arial Nova"/>
                <a:sym typeface="Arial Nova"/>
              </a:rPr>
              <a:t>n</a:t>
            </a:r>
            <a:r>
              <a:rPr lang="en-US" sz="2600" strike="noStrike" u="none">
                <a:solidFill>
                  <a:srgbClr val="FFFFFF"/>
                </a:solidFill>
                <a:latin typeface="Arial Nova"/>
                <a:ea typeface="Arial Nova"/>
                <a:cs typeface="Arial Nova"/>
                <a:sym typeface="Arial Nova"/>
              </a:rPr>
              <a:t>cy %</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Average Daily Rate (ADR)</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Reven</a:t>
            </a:r>
            <a:r>
              <a:rPr lang="en-US" sz="2600" strike="noStrike" u="none">
                <a:solidFill>
                  <a:srgbClr val="FFFFFF"/>
                </a:solidFill>
                <a:latin typeface="Arial Nova"/>
                <a:ea typeface="Arial Nova"/>
                <a:cs typeface="Arial Nova"/>
                <a:sym typeface="Arial Nova"/>
              </a:rPr>
              <a:t>u</a:t>
            </a:r>
            <a:r>
              <a:rPr lang="en-US" sz="2600" strike="noStrike" u="none">
                <a:solidFill>
                  <a:srgbClr val="FFFFFF"/>
                </a:solidFill>
                <a:latin typeface="Arial Nova"/>
                <a:ea typeface="Arial Nova"/>
                <a:cs typeface="Arial Nova"/>
                <a:sym typeface="Arial Nova"/>
              </a:rPr>
              <a:t>e pe</a:t>
            </a:r>
            <a:r>
              <a:rPr lang="en-US" sz="2600" strike="noStrike" u="none">
                <a:solidFill>
                  <a:srgbClr val="FFFFFF"/>
                </a:solidFill>
                <a:latin typeface="Arial Nova"/>
                <a:ea typeface="Arial Nova"/>
                <a:cs typeface="Arial Nova"/>
                <a:sym typeface="Arial Nova"/>
              </a:rPr>
              <a:t>r </a:t>
            </a:r>
            <a:r>
              <a:rPr lang="en-US" sz="2600" strike="noStrike" u="none">
                <a:solidFill>
                  <a:srgbClr val="FFFFFF"/>
                </a:solidFill>
                <a:latin typeface="Arial Nova"/>
                <a:ea typeface="Arial Nova"/>
                <a:cs typeface="Arial Nova"/>
                <a:sym typeface="Arial Nova"/>
              </a:rPr>
              <a:t>Av</a:t>
            </a:r>
            <a:r>
              <a:rPr lang="en-US" sz="2600" strike="noStrike" u="none">
                <a:solidFill>
                  <a:srgbClr val="FFFFFF"/>
                </a:solidFill>
                <a:latin typeface="Arial Nova"/>
                <a:ea typeface="Arial Nova"/>
                <a:cs typeface="Arial Nova"/>
                <a:sym typeface="Arial Nova"/>
              </a:rPr>
              <a:t>ai</a:t>
            </a:r>
            <a:r>
              <a:rPr lang="en-US" sz="2600" strike="noStrike" u="none">
                <a:solidFill>
                  <a:srgbClr val="FFFFFF"/>
                </a:solidFill>
                <a:latin typeface="Arial Nova"/>
                <a:ea typeface="Arial Nova"/>
                <a:cs typeface="Arial Nova"/>
                <a:sym typeface="Arial Nova"/>
              </a:rPr>
              <a:t>lable Room (RevPAR)</a:t>
            </a:r>
          </a:p>
          <a:p>
            <a:pPr algn="l">
              <a:lnSpc>
                <a:spcPts val="3640"/>
              </a:lnSpc>
            </a:pPr>
          </a:p>
          <a:p>
            <a:pPr algn="l" marL="0" indent="0" lvl="0">
              <a:lnSpc>
                <a:spcPts val="3640"/>
              </a:lnSpc>
            </a:pPr>
            <a:r>
              <a:rPr lang="en-US" b="true" sz="2600" strike="noStrike" u="none">
                <a:solidFill>
                  <a:srgbClr val="FF914D"/>
                </a:solidFill>
                <a:latin typeface="Arial Nova Bold"/>
                <a:ea typeface="Arial Nova Bold"/>
                <a:cs typeface="Arial Nova Bold"/>
                <a:sym typeface="Arial Nova Bold"/>
              </a:rPr>
              <a:t>Key In</a:t>
            </a:r>
            <a:r>
              <a:rPr lang="en-US" b="true" sz="2600" strike="noStrike" u="none">
                <a:solidFill>
                  <a:srgbClr val="FF914D"/>
                </a:solidFill>
                <a:latin typeface="Arial Nova Bold"/>
                <a:ea typeface="Arial Nova Bold"/>
                <a:cs typeface="Arial Nova Bold"/>
                <a:sym typeface="Arial Nova Bold"/>
              </a:rPr>
              <a:t>sig</a:t>
            </a:r>
            <a:r>
              <a:rPr lang="en-US" b="true" sz="2600" strike="noStrike" u="none">
                <a:solidFill>
                  <a:srgbClr val="FF914D"/>
                </a:solidFill>
                <a:latin typeface="Arial Nova Bold"/>
                <a:ea typeface="Arial Nova Bold"/>
                <a:cs typeface="Arial Nova Bold"/>
                <a:sym typeface="Arial Nova Bold"/>
              </a:rPr>
              <a:t>hts</a:t>
            </a:r>
            <a:r>
              <a:rPr lang="en-US" b="true" sz="2600" strike="noStrike" u="none">
                <a:solidFill>
                  <a:srgbClr val="FF914D"/>
                </a:solidFill>
                <a:latin typeface="Arial Nova Bold"/>
                <a:ea typeface="Arial Nova Bold"/>
                <a:cs typeface="Arial Nova Bold"/>
                <a:sym typeface="Arial Nova Bold"/>
              </a:rPr>
              <a:t> </a:t>
            </a:r>
            <a:r>
              <a:rPr lang="en-US" b="true" sz="2600" strike="noStrike" u="none">
                <a:solidFill>
                  <a:srgbClr val="FF914D"/>
                </a:solidFill>
                <a:latin typeface="Arial Nova Bold"/>
                <a:ea typeface="Arial Nova Bold"/>
                <a:cs typeface="Arial Nova Bold"/>
                <a:sym typeface="Arial Nova Bold"/>
              </a:rPr>
              <a:t>D</a:t>
            </a:r>
            <a:r>
              <a:rPr lang="en-US" b="true" sz="2600" strike="noStrike" u="none">
                <a:solidFill>
                  <a:srgbClr val="FF914D"/>
                </a:solidFill>
                <a:latin typeface="Arial Nova Bold"/>
                <a:ea typeface="Arial Nova Bold"/>
                <a:cs typeface="Arial Nova Bold"/>
                <a:sym typeface="Arial Nova Bold"/>
              </a:rPr>
              <a:t>eli</a:t>
            </a:r>
            <a:r>
              <a:rPr lang="en-US" b="true" sz="2600" strike="noStrike" u="none">
                <a:solidFill>
                  <a:srgbClr val="FF914D"/>
                </a:solidFill>
                <a:latin typeface="Arial Nova Bold"/>
                <a:ea typeface="Arial Nova Bold"/>
                <a:cs typeface="Arial Nova Bold"/>
                <a:sym typeface="Arial Nova Bold"/>
              </a:rPr>
              <a:t>ver</a:t>
            </a:r>
            <a:r>
              <a:rPr lang="en-US" b="true" sz="2600" strike="noStrike" u="none">
                <a:solidFill>
                  <a:srgbClr val="FF914D"/>
                </a:solidFill>
                <a:latin typeface="Arial Nova Bold"/>
                <a:ea typeface="Arial Nova Bold"/>
                <a:cs typeface="Arial Nova Bold"/>
                <a:sym typeface="Arial Nova Bold"/>
              </a:rPr>
              <a:t>ed</a:t>
            </a:r>
          </a:p>
          <a:p>
            <a:pPr algn="just"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Tracks</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oper</a:t>
            </a:r>
            <a:r>
              <a:rPr lang="en-US" sz="2600" strike="noStrike" u="none">
                <a:solidFill>
                  <a:srgbClr val="FFFFFF"/>
                </a:solidFill>
                <a:latin typeface="Arial Nova"/>
                <a:ea typeface="Arial Nova"/>
                <a:cs typeface="Arial Nova"/>
                <a:sym typeface="Arial Nova"/>
              </a:rPr>
              <a:t>at</a:t>
            </a:r>
            <a:r>
              <a:rPr lang="en-US" sz="2600" strike="noStrike" u="none">
                <a:solidFill>
                  <a:srgbClr val="FFFFFF"/>
                </a:solidFill>
                <a:latin typeface="Arial Nova"/>
                <a:ea typeface="Arial Nova"/>
                <a:cs typeface="Arial Nova"/>
                <a:sym typeface="Arial Nova"/>
              </a:rPr>
              <a:t>ional</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eff</a:t>
            </a:r>
            <a:r>
              <a:rPr lang="en-US" sz="2600" strike="noStrike" u="none">
                <a:solidFill>
                  <a:srgbClr val="FFFFFF"/>
                </a:solidFill>
                <a:latin typeface="Arial Nova"/>
                <a:ea typeface="Arial Nova"/>
                <a:cs typeface="Arial Nova"/>
                <a:sym typeface="Arial Nova"/>
              </a:rPr>
              <a:t>i</a:t>
            </a:r>
            <a:r>
              <a:rPr lang="en-US" sz="2600" strike="noStrike" u="none">
                <a:solidFill>
                  <a:srgbClr val="FFFFFF"/>
                </a:solidFill>
                <a:latin typeface="Arial Nova"/>
                <a:ea typeface="Arial Nova"/>
                <a:cs typeface="Arial Nova"/>
                <a:sym typeface="Arial Nova"/>
              </a:rPr>
              <a:t>ciency (Occu</a:t>
            </a:r>
            <a:r>
              <a:rPr lang="en-US" sz="2600" strike="noStrike" u="none">
                <a:solidFill>
                  <a:srgbClr val="FFFFFF"/>
                </a:solidFill>
                <a:latin typeface="Arial Nova"/>
                <a:ea typeface="Arial Nova"/>
                <a:cs typeface="Arial Nova"/>
                <a:sym typeface="Arial Nova"/>
              </a:rPr>
              <a:t>p</a:t>
            </a:r>
            <a:r>
              <a:rPr lang="en-US" sz="2600" strike="noStrike" u="none">
                <a:solidFill>
                  <a:srgbClr val="FFFFFF"/>
                </a:solidFill>
                <a:latin typeface="Arial Nova"/>
                <a:ea typeface="Arial Nova"/>
                <a:cs typeface="Arial Nova"/>
                <a:sym typeface="Arial Nova"/>
              </a:rPr>
              <a:t>ancy)</a:t>
            </a: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Mea</a:t>
            </a:r>
            <a:r>
              <a:rPr lang="en-US" sz="2600" strike="noStrike" u="none">
                <a:solidFill>
                  <a:srgbClr val="FFFFFF"/>
                </a:solidFill>
                <a:latin typeface="Arial Nova"/>
                <a:ea typeface="Arial Nova"/>
                <a:cs typeface="Arial Nova"/>
                <a:sym typeface="Arial Nova"/>
              </a:rPr>
              <a:t>su</a:t>
            </a:r>
            <a:r>
              <a:rPr lang="en-US" sz="2600" strike="noStrike" u="none">
                <a:solidFill>
                  <a:srgbClr val="FFFFFF"/>
                </a:solidFill>
                <a:latin typeface="Arial Nova"/>
                <a:ea typeface="Arial Nova"/>
                <a:cs typeface="Arial Nova"/>
                <a:sym typeface="Arial Nova"/>
              </a:rPr>
              <a:t>res</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pr</a:t>
            </a:r>
            <a:r>
              <a:rPr lang="en-US" sz="2600" strike="noStrike" u="none">
                <a:solidFill>
                  <a:srgbClr val="FFFFFF"/>
                </a:solidFill>
                <a:latin typeface="Arial Nova"/>
                <a:ea typeface="Arial Nova"/>
                <a:cs typeface="Arial Nova"/>
                <a:sym typeface="Arial Nova"/>
              </a:rPr>
              <a:t>i</a:t>
            </a:r>
            <a:r>
              <a:rPr lang="en-US" sz="2600" strike="noStrike" u="none">
                <a:solidFill>
                  <a:srgbClr val="FFFFFF"/>
                </a:solidFill>
                <a:latin typeface="Arial Nova"/>
                <a:ea typeface="Arial Nova"/>
                <a:cs typeface="Arial Nova"/>
                <a:sym typeface="Arial Nova"/>
              </a:rPr>
              <a:t>cing s</a:t>
            </a:r>
            <a:r>
              <a:rPr lang="en-US" sz="2600" strike="noStrike" u="none">
                <a:solidFill>
                  <a:srgbClr val="FFFFFF"/>
                </a:solidFill>
                <a:latin typeface="Arial Nova"/>
                <a:ea typeface="Arial Nova"/>
                <a:cs typeface="Arial Nova"/>
                <a:sym typeface="Arial Nova"/>
              </a:rPr>
              <a:t>t</a:t>
            </a:r>
            <a:r>
              <a:rPr lang="en-US" sz="2600" strike="noStrike" u="none">
                <a:solidFill>
                  <a:srgbClr val="FFFFFF"/>
                </a:solidFill>
                <a:latin typeface="Arial Nova"/>
                <a:ea typeface="Arial Nova"/>
                <a:cs typeface="Arial Nova"/>
                <a:sym typeface="Arial Nova"/>
              </a:rPr>
              <a:t>r</a:t>
            </a:r>
            <a:r>
              <a:rPr lang="en-US" sz="2600" strike="noStrike" u="none">
                <a:solidFill>
                  <a:srgbClr val="FFFFFF"/>
                </a:solidFill>
                <a:latin typeface="Arial Nova"/>
                <a:ea typeface="Arial Nova"/>
                <a:cs typeface="Arial Nova"/>
                <a:sym typeface="Arial Nova"/>
              </a:rPr>
              <a:t>e</a:t>
            </a:r>
            <a:r>
              <a:rPr lang="en-US" sz="2600" strike="noStrike" u="none">
                <a:solidFill>
                  <a:srgbClr val="FFFFFF"/>
                </a:solidFill>
                <a:latin typeface="Arial Nova"/>
                <a:ea typeface="Arial Nova"/>
                <a:cs typeface="Arial Nova"/>
                <a:sym typeface="Arial Nova"/>
              </a:rPr>
              <a:t>ngth (ADR)</a:t>
            </a: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Assesses</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overa</a:t>
            </a:r>
            <a:r>
              <a:rPr lang="en-US" sz="2600" strike="noStrike" u="none">
                <a:solidFill>
                  <a:srgbClr val="FFFFFF"/>
                </a:solidFill>
                <a:latin typeface="Arial Nova"/>
                <a:ea typeface="Arial Nova"/>
                <a:cs typeface="Arial Nova"/>
                <a:sym typeface="Arial Nova"/>
              </a:rPr>
              <a:t>l</a:t>
            </a:r>
            <a:r>
              <a:rPr lang="en-US" sz="2600" strike="noStrike" u="none">
                <a:solidFill>
                  <a:srgbClr val="FFFFFF"/>
                </a:solidFill>
                <a:latin typeface="Arial Nova"/>
                <a:ea typeface="Arial Nova"/>
                <a:cs typeface="Arial Nova"/>
                <a:sym typeface="Arial Nova"/>
              </a:rPr>
              <a:t>l revenue perform</a:t>
            </a:r>
            <a:r>
              <a:rPr lang="en-US" sz="2600" strike="noStrike" u="none">
                <a:solidFill>
                  <a:srgbClr val="FFFFFF"/>
                </a:solidFill>
                <a:latin typeface="Arial Nova"/>
                <a:ea typeface="Arial Nova"/>
                <a:cs typeface="Arial Nova"/>
                <a:sym typeface="Arial Nova"/>
              </a:rPr>
              <a:t>a</a:t>
            </a:r>
            <a:r>
              <a:rPr lang="en-US" sz="2600" strike="noStrike" u="none">
                <a:solidFill>
                  <a:srgbClr val="FFFFFF"/>
                </a:solidFill>
                <a:latin typeface="Arial Nova"/>
                <a:ea typeface="Arial Nova"/>
                <a:cs typeface="Arial Nova"/>
                <a:sym typeface="Arial Nova"/>
              </a:rPr>
              <a:t>n</a:t>
            </a:r>
            <a:r>
              <a:rPr lang="en-US" sz="2600" strike="noStrike" u="none">
                <a:solidFill>
                  <a:srgbClr val="FFFFFF"/>
                </a:solidFill>
                <a:latin typeface="Arial Nova"/>
                <a:ea typeface="Arial Nova"/>
                <a:cs typeface="Arial Nova"/>
                <a:sym typeface="Arial Nova"/>
              </a:rPr>
              <a:t>c</a:t>
            </a:r>
            <a:r>
              <a:rPr lang="en-US" sz="2600" strike="noStrike" u="none">
                <a:solidFill>
                  <a:srgbClr val="FFFFFF"/>
                </a:solidFill>
                <a:latin typeface="Arial Nova"/>
                <a:ea typeface="Arial Nova"/>
                <a:cs typeface="Arial Nova"/>
                <a:sym typeface="Arial Nova"/>
              </a:rPr>
              <a:t>e (RevPAR)</a:t>
            </a:r>
          </a:p>
          <a:p>
            <a:pPr algn="l">
              <a:lnSpc>
                <a:spcPts val="3640"/>
              </a:lnSpc>
            </a:pPr>
          </a:p>
          <a:p>
            <a:pPr algn="l" marL="0" indent="0" lvl="0">
              <a:lnSpc>
                <a:spcPts val="3640"/>
              </a:lnSpc>
            </a:pPr>
            <a:r>
              <a:rPr lang="en-US" b="true" sz="2600" strike="noStrike" u="none">
                <a:solidFill>
                  <a:srgbClr val="FF914D"/>
                </a:solidFill>
                <a:latin typeface="Arial Nova Bold"/>
                <a:ea typeface="Arial Nova Bold"/>
                <a:cs typeface="Arial Nova Bold"/>
                <a:sym typeface="Arial Nova Bold"/>
              </a:rPr>
              <a:t>B</a:t>
            </a:r>
            <a:r>
              <a:rPr lang="en-US" b="true" sz="2600" strike="noStrike" u="none">
                <a:solidFill>
                  <a:srgbClr val="FF914D"/>
                </a:solidFill>
                <a:latin typeface="Arial Nova Bold"/>
                <a:ea typeface="Arial Nova Bold"/>
                <a:cs typeface="Arial Nova Bold"/>
                <a:sym typeface="Arial Nova Bold"/>
              </a:rPr>
              <a:t>us</a:t>
            </a:r>
            <a:r>
              <a:rPr lang="en-US" b="true" sz="2600" strike="noStrike" u="none">
                <a:solidFill>
                  <a:srgbClr val="FF914D"/>
                </a:solidFill>
                <a:latin typeface="Arial Nova Bold"/>
                <a:ea typeface="Arial Nova Bold"/>
                <a:cs typeface="Arial Nova Bold"/>
                <a:sym typeface="Arial Nova Bold"/>
              </a:rPr>
              <a:t>iness</a:t>
            </a:r>
            <a:r>
              <a:rPr lang="en-US" b="true" sz="2600" strike="noStrike" u="none">
                <a:solidFill>
                  <a:srgbClr val="FF914D"/>
                </a:solidFill>
                <a:latin typeface="Arial Nova Bold"/>
                <a:ea typeface="Arial Nova Bold"/>
                <a:cs typeface="Arial Nova Bold"/>
                <a:sym typeface="Arial Nova Bold"/>
              </a:rPr>
              <a:t> </a:t>
            </a:r>
            <a:r>
              <a:rPr lang="en-US" b="true" sz="2600" strike="noStrike" u="none">
                <a:solidFill>
                  <a:srgbClr val="FF914D"/>
                </a:solidFill>
                <a:latin typeface="Arial Nova Bold"/>
                <a:ea typeface="Arial Nova Bold"/>
                <a:cs typeface="Arial Nova Bold"/>
                <a:sym typeface="Arial Nova Bold"/>
              </a:rPr>
              <a:t>Va</a:t>
            </a:r>
            <a:r>
              <a:rPr lang="en-US" b="true" sz="2600" strike="noStrike" u="none">
                <a:solidFill>
                  <a:srgbClr val="FF914D"/>
                </a:solidFill>
                <a:latin typeface="Arial Nova Bold"/>
                <a:ea typeface="Arial Nova Bold"/>
                <a:cs typeface="Arial Nova Bold"/>
                <a:sym typeface="Arial Nova Bold"/>
              </a:rPr>
              <a:t>l</a:t>
            </a:r>
            <a:r>
              <a:rPr lang="en-US" b="true" sz="2600" strike="noStrike" u="none">
                <a:solidFill>
                  <a:srgbClr val="FF914D"/>
                </a:solidFill>
                <a:latin typeface="Arial Nova Bold"/>
                <a:ea typeface="Arial Nova Bold"/>
                <a:cs typeface="Arial Nova Bold"/>
                <a:sym typeface="Arial Nova Bold"/>
              </a:rPr>
              <a:t>ue</a:t>
            </a: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Ena</a:t>
            </a:r>
            <a:r>
              <a:rPr lang="en-US" sz="2600" strike="noStrike" u="none">
                <a:solidFill>
                  <a:srgbClr val="FFFFFF"/>
                </a:solidFill>
                <a:latin typeface="Arial Nova"/>
                <a:ea typeface="Arial Nova"/>
                <a:cs typeface="Arial Nova"/>
                <a:sym typeface="Arial Nova"/>
              </a:rPr>
              <a:t>b</a:t>
            </a:r>
            <a:r>
              <a:rPr lang="en-US" sz="2600" strike="noStrike" u="none">
                <a:solidFill>
                  <a:srgbClr val="FFFFFF"/>
                </a:solidFill>
                <a:latin typeface="Arial Nova"/>
                <a:ea typeface="Arial Nova"/>
                <a:cs typeface="Arial Nova"/>
                <a:sym typeface="Arial Nova"/>
              </a:rPr>
              <a:t>les h</a:t>
            </a:r>
            <a:r>
              <a:rPr lang="en-US" sz="2600" strike="noStrike" u="none">
                <a:solidFill>
                  <a:srgbClr val="FFFFFF"/>
                </a:solidFill>
                <a:latin typeface="Arial Nova"/>
                <a:ea typeface="Arial Nova"/>
                <a:cs typeface="Arial Nova"/>
                <a:sym typeface="Arial Nova"/>
              </a:rPr>
              <a:t>o</a:t>
            </a:r>
            <a:r>
              <a:rPr lang="en-US" sz="2600" strike="noStrike" u="none">
                <a:solidFill>
                  <a:srgbClr val="FFFFFF"/>
                </a:solidFill>
                <a:latin typeface="Arial Nova"/>
                <a:ea typeface="Arial Nova"/>
                <a:cs typeface="Arial Nova"/>
                <a:sym typeface="Arial Nova"/>
              </a:rPr>
              <a:t>tel manage</a:t>
            </a:r>
            <a:r>
              <a:rPr lang="en-US" sz="2600" strike="noStrike" u="none">
                <a:solidFill>
                  <a:srgbClr val="FFFFFF"/>
                </a:solidFill>
                <a:latin typeface="Arial Nova"/>
                <a:ea typeface="Arial Nova"/>
                <a:cs typeface="Arial Nova"/>
                <a:sym typeface="Arial Nova"/>
              </a:rPr>
              <a:t>r</a:t>
            </a:r>
            <a:r>
              <a:rPr lang="en-US" sz="2600" strike="noStrike" u="none">
                <a:solidFill>
                  <a:srgbClr val="FFFFFF"/>
                </a:solidFill>
                <a:latin typeface="Arial Nova"/>
                <a:ea typeface="Arial Nova"/>
                <a:cs typeface="Arial Nova"/>
                <a:sym typeface="Arial Nova"/>
              </a:rPr>
              <a:t>s to:</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Iden</a:t>
            </a:r>
            <a:r>
              <a:rPr lang="en-US" sz="2600" strike="noStrike" u="none">
                <a:solidFill>
                  <a:srgbClr val="FFFFFF"/>
                </a:solidFill>
                <a:latin typeface="Arial Nova"/>
                <a:ea typeface="Arial Nova"/>
                <a:cs typeface="Arial Nova"/>
                <a:sym typeface="Arial Nova"/>
              </a:rPr>
              <a:t>ti</a:t>
            </a:r>
            <a:r>
              <a:rPr lang="en-US" sz="2600" strike="noStrike" u="none">
                <a:solidFill>
                  <a:srgbClr val="FFFFFF"/>
                </a:solidFill>
                <a:latin typeface="Arial Nova"/>
                <a:ea typeface="Arial Nova"/>
                <a:cs typeface="Arial Nova"/>
                <a:sym typeface="Arial Nova"/>
              </a:rPr>
              <a:t>fy demand pattern</a:t>
            </a:r>
            <a:r>
              <a:rPr lang="en-US" sz="2600" strike="noStrike" u="none">
                <a:solidFill>
                  <a:srgbClr val="FFFFFF"/>
                </a:solidFill>
                <a:latin typeface="Arial Nova"/>
                <a:ea typeface="Arial Nova"/>
                <a:cs typeface="Arial Nova"/>
                <a:sym typeface="Arial Nova"/>
              </a:rPr>
              <a:t>s</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Optimize</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room pricing</a:t>
            </a:r>
          </a:p>
          <a:p>
            <a:pPr algn="l" marL="1122681" indent="-374227" lvl="2">
              <a:lnSpc>
                <a:spcPts val="3640"/>
              </a:lnSpc>
              <a:buFont typeface="Arial"/>
              <a:buChar char="⚬"/>
            </a:pPr>
            <a:r>
              <a:rPr lang="en-US" sz="2600" strike="noStrike" u="none">
                <a:solidFill>
                  <a:srgbClr val="FFFFFF"/>
                </a:solidFill>
                <a:latin typeface="Arial Nova"/>
                <a:ea typeface="Arial Nova"/>
                <a:cs typeface="Arial Nova"/>
                <a:sym typeface="Arial Nova"/>
              </a:rPr>
              <a:t>Ba</a:t>
            </a:r>
            <a:r>
              <a:rPr lang="en-US" sz="2600" strike="noStrike" u="none">
                <a:solidFill>
                  <a:srgbClr val="FFFFFF"/>
                </a:solidFill>
                <a:latin typeface="Arial Nova"/>
                <a:ea typeface="Arial Nova"/>
                <a:cs typeface="Arial Nova"/>
                <a:sym typeface="Arial Nova"/>
              </a:rPr>
              <a:t>la</a:t>
            </a:r>
            <a:r>
              <a:rPr lang="en-US" sz="2600" strike="noStrike" u="none">
                <a:solidFill>
                  <a:srgbClr val="FFFFFF"/>
                </a:solidFill>
                <a:latin typeface="Arial Nova"/>
                <a:ea typeface="Arial Nova"/>
                <a:cs typeface="Arial Nova"/>
                <a:sym typeface="Arial Nova"/>
              </a:rPr>
              <a:t>n</a:t>
            </a:r>
            <a:r>
              <a:rPr lang="en-US" sz="2600" strike="noStrike" u="none">
                <a:solidFill>
                  <a:srgbClr val="FFFFFF"/>
                </a:solidFill>
                <a:latin typeface="Arial Nova"/>
                <a:ea typeface="Arial Nova"/>
                <a:cs typeface="Arial Nova"/>
                <a:sym typeface="Arial Nova"/>
              </a:rPr>
              <a:t>c</a:t>
            </a:r>
            <a:r>
              <a:rPr lang="en-US" sz="2600" strike="noStrike" u="none">
                <a:solidFill>
                  <a:srgbClr val="FFFFFF"/>
                </a:solidFill>
                <a:latin typeface="Arial Nova"/>
                <a:ea typeface="Arial Nova"/>
                <a:cs typeface="Arial Nova"/>
                <a:sym typeface="Arial Nova"/>
              </a:rPr>
              <a:t>e occupa</a:t>
            </a:r>
            <a:r>
              <a:rPr lang="en-US" sz="2600" strike="noStrike" u="none">
                <a:solidFill>
                  <a:srgbClr val="FFFFFF"/>
                </a:solidFill>
                <a:latin typeface="Arial Nova"/>
                <a:ea typeface="Arial Nova"/>
                <a:cs typeface="Arial Nova"/>
                <a:sym typeface="Arial Nova"/>
              </a:rPr>
              <a:t>n</a:t>
            </a:r>
            <a:r>
              <a:rPr lang="en-US" sz="2600" strike="noStrike" u="none">
                <a:solidFill>
                  <a:srgbClr val="FFFFFF"/>
                </a:solidFill>
                <a:latin typeface="Arial Nova"/>
                <a:ea typeface="Arial Nova"/>
                <a:cs typeface="Arial Nova"/>
                <a:sym typeface="Arial Nova"/>
              </a:rPr>
              <a:t>cy and revenue growth</a:t>
            </a:r>
          </a:p>
          <a:p>
            <a:pPr algn="l" marL="561341" indent="-280670" lvl="1">
              <a:lnSpc>
                <a:spcPts val="3640"/>
              </a:lnSpc>
              <a:spcBef>
                <a:spcPct val="0"/>
              </a:spcBef>
              <a:buFont typeface="Arial"/>
              <a:buChar char="•"/>
            </a:pPr>
            <a:r>
              <a:rPr lang="en-US" sz="2600" strike="noStrike" u="none">
                <a:solidFill>
                  <a:srgbClr val="FFFFFF"/>
                </a:solidFill>
                <a:latin typeface="Arial Nova"/>
                <a:ea typeface="Arial Nova"/>
                <a:cs typeface="Arial Nova"/>
                <a:sym typeface="Arial Nova"/>
              </a:rPr>
              <a:t>Supports data-dr</a:t>
            </a:r>
            <a:r>
              <a:rPr lang="en-US" sz="2600" strike="noStrike" u="none">
                <a:solidFill>
                  <a:srgbClr val="FFFFFF"/>
                </a:solidFill>
                <a:latin typeface="Arial Nova"/>
                <a:ea typeface="Arial Nova"/>
                <a:cs typeface="Arial Nova"/>
                <a:sym typeface="Arial Nova"/>
              </a:rPr>
              <a:t>i</a:t>
            </a:r>
            <a:r>
              <a:rPr lang="en-US" sz="2600" strike="noStrike" u="none">
                <a:solidFill>
                  <a:srgbClr val="FFFFFF"/>
                </a:solidFill>
                <a:latin typeface="Arial Nova"/>
                <a:ea typeface="Arial Nova"/>
                <a:cs typeface="Arial Nova"/>
                <a:sym typeface="Arial Nova"/>
              </a:rPr>
              <a:t>ven revenue m</a:t>
            </a:r>
            <a:r>
              <a:rPr lang="en-US" sz="2600" strike="noStrike" u="none">
                <a:solidFill>
                  <a:srgbClr val="FFFFFF"/>
                </a:solidFill>
                <a:latin typeface="Arial Nova"/>
                <a:ea typeface="Arial Nova"/>
                <a:cs typeface="Arial Nova"/>
                <a:sym typeface="Arial Nova"/>
              </a:rPr>
              <a:t>a</a:t>
            </a:r>
            <a:r>
              <a:rPr lang="en-US" sz="2600" strike="noStrike" u="none">
                <a:solidFill>
                  <a:srgbClr val="FFFFFF"/>
                </a:solidFill>
                <a:latin typeface="Arial Nova"/>
                <a:ea typeface="Arial Nova"/>
                <a:cs typeface="Arial Nova"/>
                <a:sym typeface="Arial Nova"/>
              </a:rPr>
              <a:t>nagement decisions</a:t>
            </a:r>
          </a:p>
        </p:txBody>
      </p:sp>
      <p:sp>
        <p:nvSpPr>
          <p:cNvPr name="TextBox 12" id="12"/>
          <p:cNvSpPr txBox="true"/>
          <p:nvPr/>
        </p:nvSpPr>
        <p:spPr>
          <a:xfrm rot="0">
            <a:off x="573241" y="298661"/>
            <a:ext cx="17141518" cy="904875"/>
          </a:xfrm>
          <a:prstGeom prst="rect">
            <a:avLst/>
          </a:prstGeom>
        </p:spPr>
        <p:txBody>
          <a:bodyPr anchor="t" rtlCol="false" tIns="0" lIns="0" bIns="0" rIns="0">
            <a:spAutoFit/>
          </a:bodyPr>
          <a:lstStyle/>
          <a:p>
            <a:pPr algn="ctr">
              <a:lnSpc>
                <a:spcPts val="7500"/>
              </a:lnSpc>
            </a:pPr>
            <a:r>
              <a:rPr lang="en-US" b="true" sz="5000">
                <a:solidFill>
                  <a:srgbClr val="FFFFFF"/>
                </a:solidFill>
                <a:latin typeface="Arial Nova Bold"/>
                <a:ea typeface="Arial Nova Bold"/>
                <a:cs typeface="Arial Nova Bold"/>
                <a:sym typeface="Arial Nova Bold"/>
              </a:rPr>
              <a:t>MODULE 2 - OCCUPANCY AND REVENUE METRICS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567780" y="1295176"/>
            <a:ext cx="13786189" cy="7771964"/>
          </a:xfrm>
          <a:custGeom>
            <a:avLst/>
            <a:gdLst/>
            <a:ahLst/>
            <a:cxnLst/>
            <a:rect r="r" b="b" t="t" l="l"/>
            <a:pathLst>
              <a:path h="7771964" w="13786189">
                <a:moveTo>
                  <a:pt x="0" y="0"/>
                </a:moveTo>
                <a:lnTo>
                  <a:pt x="13786189" y="0"/>
                </a:lnTo>
                <a:lnTo>
                  <a:pt x="13786189" y="7771963"/>
                </a:lnTo>
                <a:lnTo>
                  <a:pt x="0" y="7771963"/>
                </a:lnTo>
                <a:lnTo>
                  <a:pt x="0" y="0"/>
                </a:lnTo>
                <a:close/>
              </a:path>
            </a:pathLst>
          </a:custGeom>
          <a:blipFill>
            <a:blip r:embed="rId2"/>
            <a:stretch>
              <a:fillRect l="0" t="0" r="0" b="0"/>
            </a:stretch>
          </a:blipFill>
        </p:spPr>
      </p:sp>
      <p:sp>
        <p:nvSpPr>
          <p:cNvPr name="TextBox 9" id="9"/>
          <p:cNvSpPr txBox="true"/>
          <p:nvPr/>
        </p:nvSpPr>
        <p:spPr>
          <a:xfrm rot="0">
            <a:off x="567780" y="498984"/>
            <a:ext cx="17152439" cy="647700"/>
          </a:xfrm>
          <a:prstGeom prst="rect">
            <a:avLst/>
          </a:prstGeom>
        </p:spPr>
        <p:txBody>
          <a:bodyPr anchor="t" rtlCol="false" tIns="0" lIns="0" bIns="0" rIns="0">
            <a:spAutoFit/>
          </a:bodyPr>
          <a:lstStyle/>
          <a:p>
            <a:pPr algn="ctr">
              <a:lnSpc>
                <a:spcPts val="4800"/>
              </a:lnSpc>
            </a:pPr>
            <a:r>
              <a:rPr lang="en-US" b="true" sz="5000" spc="-255">
                <a:solidFill>
                  <a:srgbClr val="FFFFFF"/>
                </a:solidFill>
                <a:latin typeface="Arial Nova Bold"/>
                <a:ea typeface="Arial Nova Bold"/>
                <a:cs typeface="Arial Nova Bold"/>
                <a:sym typeface="Arial Nova Bold"/>
              </a:rPr>
              <a:t>PERFORMANCE TRENDS &amp; BOOKING CHANNEL ANALYSIS</a:t>
            </a:r>
          </a:p>
        </p:txBody>
      </p:sp>
      <p:grpSp>
        <p:nvGrpSpPr>
          <p:cNvPr name="Group 10" id="10"/>
          <p:cNvGrpSpPr/>
          <p:nvPr/>
        </p:nvGrpSpPr>
        <p:grpSpPr>
          <a:xfrm rot="0">
            <a:off x="14534811" y="1295176"/>
            <a:ext cx="3185409" cy="7771964"/>
            <a:chOff x="0" y="0"/>
            <a:chExt cx="838955" cy="2046937"/>
          </a:xfrm>
        </p:grpSpPr>
        <p:sp>
          <p:nvSpPr>
            <p:cNvPr name="Freeform 11" id="11"/>
            <p:cNvSpPr/>
            <p:nvPr/>
          </p:nvSpPr>
          <p:spPr>
            <a:xfrm flipH="false" flipV="false" rot="0">
              <a:off x="0" y="0"/>
              <a:ext cx="838955" cy="2046937"/>
            </a:xfrm>
            <a:custGeom>
              <a:avLst/>
              <a:gdLst/>
              <a:ahLst/>
              <a:cxnLst/>
              <a:rect r="r" b="b" t="t" l="l"/>
              <a:pathLst>
                <a:path h="2046937" w="838955">
                  <a:moveTo>
                    <a:pt x="0" y="0"/>
                  </a:moveTo>
                  <a:lnTo>
                    <a:pt x="838955" y="0"/>
                  </a:lnTo>
                  <a:lnTo>
                    <a:pt x="838955" y="2046937"/>
                  </a:lnTo>
                  <a:lnTo>
                    <a:pt x="0" y="2046937"/>
                  </a:lnTo>
                  <a:close/>
                </a:path>
              </a:pathLst>
            </a:custGeom>
            <a:solidFill>
              <a:srgbClr val="036493"/>
            </a:solidFill>
          </p:spPr>
        </p:sp>
        <p:sp>
          <p:nvSpPr>
            <p:cNvPr name="TextBox 12" id="12"/>
            <p:cNvSpPr txBox="true"/>
            <p:nvPr/>
          </p:nvSpPr>
          <p:spPr>
            <a:xfrm>
              <a:off x="0" y="-66675"/>
              <a:ext cx="838955" cy="2113612"/>
            </a:xfrm>
            <a:prstGeom prst="rect">
              <a:avLst/>
            </a:prstGeom>
          </p:spPr>
          <p:txBody>
            <a:bodyPr anchor="ctr" rtlCol="false" tIns="50800" lIns="50800" bIns="50800" rIns="50800"/>
            <a:lstStyle/>
            <a:p>
              <a:pPr algn="ctr">
                <a:lnSpc>
                  <a:spcPts val="3494"/>
                </a:lnSpc>
              </a:pPr>
            </a:p>
          </p:txBody>
        </p:sp>
      </p:grpSp>
      <p:sp>
        <p:nvSpPr>
          <p:cNvPr name="TextBox 13" id="13"/>
          <p:cNvSpPr txBox="true"/>
          <p:nvPr/>
        </p:nvSpPr>
        <p:spPr>
          <a:xfrm rot="0">
            <a:off x="14656731" y="1238026"/>
            <a:ext cx="2895849" cy="7839837"/>
          </a:xfrm>
          <a:prstGeom prst="rect">
            <a:avLst/>
          </a:prstGeom>
        </p:spPr>
        <p:txBody>
          <a:bodyPr anchor="t" rtlCol="false" tIns="0" lIns="0" bIns="0" rIns="0">
            <a:spAutoFit/>
          </a:bodyPr>
          <a:lstStyle/>
          <a:p>
            <a:pPr algn="just">
              <a:lnSpc>
                <a:spcPts val="3247"/>
              </a:lnSpc>
            </a:pPr>
            <a:r>
              <a:rPr lang="en-US" sz="2319" b="true">
                <a:solidFill>
                  <a:srgbClr val="FF914D"/>
                </a:solidFill>
                <a:latin typeface="Poppins Bold"/>
                <a:ea typeface="Poppins Bold"/>
                <a:cs typeface="Poppins Bold"/>
                <a:sym typeface="Poppins Bold"/>
              </a:rPr>
              <a:t>    </a:t>
            </a:r>
            <a:r>
              <a:rPr lang="en-US" b="true" sz="2319">
                <a:solidFill>
                  <a:srgbClr val="FF914D"/>
                </a:solidFill>
                <a:latin typeface="Poppins Bold"/>
                <a:ea typeface="Poppins Bold"/>
                <a:cs typeface="Poppins Bold"/>
                <a:sym typeface="Poppins Bold"/>
              </a:rPr>
              <a:t>Key Insights</a:t>
            </a:r>
          </a:p>
          <a:p>
            <a:pPr algn="just" marL="457709" indent="-228854" lvl="1">
              <a:lnSpc>
                <a:spcPts val="2968"/>
              </a:lnSpc>
              <a:buFont typeface="Arial"/>
              <a:buChar char="•"/>
            </a:pPr>
            <a:r>
              <a:rPr lang="en-US" sz="2120">
                <a:solidFill>
                  <a:srgbClr val="FFFFFF"/>
                </a:solidFill>
                <a:latin typeface="Poppins"/>
                <a:ea typeface="Poppins"/>
                <a:cs typeface="Poppins"/>
                <a:sym typeface="Poppins"/>
              </a:rPr>
              <a:t>Stable occupancy (~65%) with visible daily volatility</a:t>
            </a:r>
          </a:p>
          <a:p>
            <a:pPr algn="just">
              <a:lnSpc>
                <a:spcPts val="2968"/>
              </a:lnSpc>
            </a:pPr>
          </a:p>
          <a:p>
            <a:pPr algn="just" marL="457709" indent="-228854" lvl="1">
              <a:lnSpc>
                <a:spcPts val="2968"/>
              </a:lnSpc>
              <a:buFont typeface="Arial"/>
              <a:buChar char="•"/>
            </a:pPr>
            <a:r>
              <a:rPr lang="en-US" sz="2120">
                <a:solidFill>
                  <a:srgbClr val="FFFFFF"/>
                </a:solidFill>
                <a:latin typeface="Poppins"/>
                <a:ea typeface="Poppins"/>
                <a:cs typeface="Poppins"/>
                <a:sym typeface="Poppins"/>
              </a:rPr>
              <a:t>Weekly trends highlight predictable high-demand periods</a:t>
            </a:r>
          </a:p>
          <a:p>
            <a:pPr algn="just">
              <a:lnSpc>
                <a:spcPts val="2968"/>
              </a:lnSpc>
            </a:pPr>
          </a:p>
          <a:p>
            <a:pPr algn="just" marL="457709" indent="-228854" lvl="1">
              <a:lnSpc>
                <a:spcPts val="2968"/>
              </a:lnSpc>
              <a:buFont typeface="Arial"/>
              <a:buChar char="•"/>
            </a:pPr>
            <a:r>
              <a:rPr lang="en-US" sz="2120">
                <a:solidFill>
                  <a:srgbClr val="FFFFFF"/>
                </a:solidFill>
                <a:latin typeface="Poppins"/>
                <a:ea typeface="Poppins"/>
                <a:cs typeface="Poppins"/>
                <a:sym typeface="Poppins"/>
              </a:rPr>
              <a:t>Seasonal peaks support dynamic pricing strategies</a:t>
            </a:r>
          </a:p>
          <a:p>
            <a:pPr algn="just">
              <a:lnSpc>
                <a:spcPts val="2968"/>
              </a:lnSpc>
            </a:pPr>
          </a:p>
          <a:p>
            <a:pPr algn="just" marL="457709" indent="-228854" lvl="1">
              <a:lnSpc>
                <a:spcPts val="2968"/>
              </a:lnSpc>
              <a:buFont typeface="Arial"/>
              <a:buChar char="•"/>
            </a:pPr>
            <a:r>
              <a:rPr lang="en-US" sz="2120">
                <a:solidFill>
                  <a:srgbClr val="FFFFFF"/>
                </a:solidFill>
                <a:latin typeface="Poppins"/>
                <a:ea typeface="Poppins"/>
                <a:cs typeface="Poppins"/>
                <a:sym typeface="Poppins"/>
              </a:rPr>
              <a:t>Direct bookings outperform OTA, reducing commission impact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8" id="8"/>
          <p:cNvSpPr txBox="true"/>
          <p:nvPr/>
        </p:nvSpPr>
        <p:spPr>
          <a:xfrm rot="0">
            <a:off x="815340" y="156015"/>
            <a:ext cx="16657320" cy="1095375"/>
          </a:xfrm>
          <a:prstGeom prst="rect">
            <a:avLst/>
          </a:prstGeom>
        </p:spPr>
        <p:txBody>
          <a:bodyPr anchor="t" rtlCol="false" tIns="0" lIns="0" bIns="0" rIns="0">
            <a:spAutoFit/>
          </a:bodyPr>
          <a:lstStyle/>
          <a:p>
            <a:pPr algn="ctr">
              <a:lnSpc>
                <a:spcPts val="9000"/>
              </a:lnSpc>
            </a:pPr>
            <a:r>
              <a:rPr lang="en-US" b="true" sz="6000">
                <a:solidFill>
                  <a:srgbClr val="FFFFFF"/>
                </a:solidFill>
                <a:latin typeface="Arial Nova Bold"/>
                <a:ea typeface="Arial Nova Bold"/>
                <a:cs typeface="Arial Nova Bold"/>
                <a:sym typeface="Arial Nova Bold"/>
              </a:rPr>
              <a:t>KPI CALCULATIONS IN POWER BI</a:t>
            </a:r>
          </a:p>
        </p:txBody>
      </p:sp>
      <p:grpSp>
        <p:nvGrpSpPr>
          <p:cNvPr name="Group 9" id="9"/>
          <p:cNvGrpSpPr/>
          <p:nvPr/>
        </p:nvGrpSpPr>
        <p:grpSpPr>
          <a:xfrm rot="0">
            <a:off x="815340" y="1396419"/>
            <a:ext cx="16657320" cy="8027670"/>
            <a:chOff x="0" y="0"/>
            <a:chExt cx="4387113" cy="2114283"/>
          </a:xfrm>
        </p:grpSpPr>
        <p:sp>
          <p:nvSpPr>
            <p:cNvPr name="Freeform 10" id="10"/>
            <p:cNvSpPr/>
            <p:nvPr/>
          </p:nvSpPr>
          <p:spPr>
            <a:xfrm flipH="false" flipV="false" rot="0">
              <a:off x="0" y="0"/>
              <a:ext cx="4387113" cy="2114284"/>
            </a:xfrm>
            <a:custGeom>
              <a:avLst/>
              <a:gdLst/>
              <a:ahLst/>
              <a:cxnLst/>
              <a:rect r="r" b="b" t="t" l="l"/>
              <a:pathLst>
                <a:path h="2114284" w="4387113">
                  <a:moveTo>
                    <a:pt x="0" y="0"/>
                  </a:moveTo>
                  <a:lnTo>
                    <a:pt x="4387113" y="0"/>
                  </a:lnTo>
                  <a:lnTo>
                    <a:pt x="4387113" y="2114284"/>
                  </a:lnTo>
                  <a:lnTo>
                    <a:pt x="0" y="2114284"/>
                  </a:lnTo>
                  <a:close/>
                </a:path>
              </a:pathLst>
            </a:custGeom>
            <a:solidFill>
              <a:srgbClr val="036493"/>
            </a:solidFill>
          </p:spPr>
        </p:sp>
        <p:sp>
          <p:nvSpPr>
            <p:cNvPr name="TextBox 11" id="11"/>
            <p:cNvSpPr txBox="true"/>
            <p:nvPr/>
          </p:nvSpPr>
          <p:spPr>
            <a:xfrm>
              <a:off x="0" y="-66675"/>
              <a:ext cx="4387113" cy="2180958"/>
            </a:xfrm>
            <a:prstGeom prst="rect">
              <a:avLst/>
            </a:prstGeom>
          </p:spPr>
          <p:txBody>
            <a:bodyPr anchor="ctr" rtlCol="false" tIns="50800" lIns="50800" bIns="50800" rIns="50800"/>
            <a:lstStyle/>
            <a:p>
              <a:pPr algn="ctr">
                <a:lnSpc>
                  <a:spcPts val="3494"/>
                </a:lnSpc>
              </a:pPr>
            </a:p>
          </p:txBody>
        </p:sp>
      </p:grpSp>
      <p:sp>
        <p:nvSpPr>
          <p:cNvPr name="TextBox 12" id="12"/>
          <p:cNvSpPr txBox="true"/>
          <p:nvPr/>
        </p:nvSpPr>
        <p:spPr>
          <a:xfrm rot="0">
            <a:off x="1028700" y="1494790"/>
            <a:ext cx="16230600" cy="7763510"/>
          </a:xfrm>
          <a:prstGeom prst="rect">
            <a:avLst/>
          </a:prstGeom>
        </p:spPr>
        <p:txBody>
          <a:bodyPr anchor="t" rtlCol="false" tIns="0" lIns="0" bIns="0" rIns="0">
            <a:spAutoFit/>
          </a:bodyPr>
          <a:lstStyle/>
          <a:p>
            <a:pPr algn="l">
              <a:lnSpc>
                <a:spcPts val="3640"/>
              </a:lnSpc>
            </a:pPr>
            <a:r>
              <a:rPr lang="en-US" b="true" sz="2600">
                <a:solidFill>
                  <a:srgbClr val="FF914D"/>
                </a:solidFill>
                <a:latin typeface="Arial Nova Bold"/>
                <a:ea typeface="Arial Nova Bold"/>
                <a:cs typeface="Arial Nova Bold"/>
                <a:sym typeface="Arial Nova Bold"/>
              </a:rPr>
              <a:t>Occupancy</a:t>
            </a:r>
            <a:r>
              <a:rPr lang="en-US" b="true" sz="2600" strike="noStrike" u="none">
                <a:solidFill>
                  <a:srgbClr val="FF914D"/>
                </a:solidFill>
                <a:latin typeface="Arial Nova Bold"/>
                <a:ea typeface="Arial Nova Bold"/>
                <a:cs typeface="Arial Nova Bold"/>
                <a:sym typeface="Arial Nova Bold"/>
              </a:rPr>
              <a:t> %</a:t>
            </a:r>
          </a:p>
          <a:p>
            <a:pPr algn="l">
              <a:lnSpc>
                <a:spcPts val="3640"/>
              </a:lnSpc>
            </a:pPr>
          </a:p>
          <a:p>
            <a:pPr algn="l">
              <a:lnSpc>
                <a:spcPts val="3640"/>
              </a:lnSpc>
            </a:pPr>
            <a:r>
              <a:rPr lang="en-US" sz="2600" strike="noStrike" u="none">
                <a:solidFill>
                  <a:srgbClr val="FFFFFF"/>
                </a:solidFill>
                <a:latin typeface="Arial Nova"/>
                <a:ea typeface="Arial Nova"/>
                <a:cs typeface="Arial Nova"/>
                <a:sym typeface="Arial Nova"/>
              </a:rPr>
              <a:t> </a:t>
            </a:r>
            <a:r>
              <a:rPr lang="en-US" sz="2600" strike="noStrike" u="none">
                <a:solidFill>
                  <a:srgbClr val="D5EFEF"/>
                </a:solidFill>
                <a:latin typeface="Arial Nova"/>
                <a:ea typeface="Arial Nova"/>
                <a:cs typeface="Arial Nova"/>
                <a:sym typeface="Arial Nova"/>
              </a:rPr>
              <a:t>     </a:t>
            </a:r>
            <a:r>
              <a:rPr lang="en-US" b="true" sz="2600" i="true" strike="noStrike" u="none">
                <a:solidFill>
                  <a:srgbClr val="2EC4B6"/>
                </a:solidFill>
                <a:latin typeface="Arial Nova Bold Italics"/>
                <a:ea typeface="Arial Nova Bold Italics"/>
                <a:cs typeface="Arial Nova Bold Italics"/>
                <a:sym typeface="Arial Nova Bold Italics"/>
              </a:rPr>
              <a:t>Occupancy % = DIVIDE('CalculationTable'[RoomsBooked], 'CalculationTable'[TotalRooms], 0) * 100</a:t>
            </a:r>
          </a:p>
          <a:p>
            <a:pPr algn="l">
              <a:lnSpc>
                <a:spcPts val="3640"/>
              </a:lnSpc>
            </a:pP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Measures room utilization efficiency</a:t>
            </a:r>
          </a:p>
          <a:p>
            <a:pPr algn="l">
              <a:lnSpc>
                <a:spcPts val="3640"/>
              </a:lnSpc>
            </a:pPr>
          </a:p>
          <a:p>
            <a:pPr algn="l" marL="0" indent="0" lvl="0">
              <a:lnSpc>
                <a:spcPts val="3640"/>
              </a:lnSpc>
            </a:pPr>
            <a:r>
              <a:rPr lang="en-US" b="true" sz="2600" strike="noStrike" u="none">
                <a:solidFill>
                  <a:srgbClr val="FF914D"/>
                </a:solidFill>
                <a:latin typeface="Arial Nova Bold"/>
                <a:ea typeface="Arial Nova Bold"/>
                <a:cs typeface="Arial Nova Bold"/>
                <a:sym typeface="Arial Nova Bold"/>
              </a:rPr>
              <a:t>Av</a:t>
            </a:r>
            <a:r>
              <a:rPr lang="en-US" b="true" sz="2600" strike="noStrike" u="none">
                <a:solidFill>
                  <a:srgbClr val="FF914D"/>
                </a:solidFill>
                <a:latin typeface="Arial Nova Bold"/>
                <a:ea typeface="Arial Nova Bold"/>
                <a:cs typeface="Arial Nova Bold"/>
                <a:sym typeface="Arial Nova Bold"/>
              </a:rPr>
              <a:t>erage Daily Rate (ADR)</a:t>
            </a:r>
          </a:p>
          <a:p>
            <a:pPr algn="l">
              <a:lnSpc>
                <a:spcPts val="3640"/>
              </a:lnSpc>
            </a:pPr>
          </a:p>
          <a:p>
            <a:pPr algn="l">
              <a:lnSpc>
                <a:spcPts val="3640"/>
              </a:lnSpc>
            </a:pPr>
            <a:r>
              <a:rPr lang="en-US" sz="2600" strike="noStrike" u="none">
                <a:solidFill>
                  <a:srgbClr val="D5EFEF"/>
                </a:solidFill>
                <a:latin typeface="Arial Nova"/>
                <a:ea typeface="Arial Nova"/>
                <a:cs typeface="Arial Nova"/>
                <a:sym typeface="Arial Nova"/>
              </a:rPr>
              <a:t>       </a:t>
            </a:r>
            <a:r>
              <a:rPr lang="en-US" b="true" sz="2600" i="true" strike="noStrike" u="none">
                <a:solidFill>
                  <a:srgbClr val="2EC4B6"/>
                </a:solidFill>
                <a:latin typeface="Arial Nova Bold Italics"/>
                <a:ea typeface="Arial Nova Bold Italics"/>
                <a:cs typeface="Arial Nova Bold Italics"/>
                <a:sym typeface="Arial Nova Bold Italics"/>
              </a:rPr>
              <a:t>ADR = DIVIDE('CalculationTable'[</a:t>
            </a:r>
            <a:r>
              <a:rPr lang="en-US" b="true" sz="2600" i="true" strike="noStrike" u="none">
                <a:solidFill>
                  <a:srgbClr val="2EC4B6"/>
                </a:solidFill>
                <a:latin typeface="Arial Nova Bold Italics"/>
                <a:ea typeface="Arial Nova Bold Italics"/>
                <a:cs typeface="Arial Nova Bold Italics"/>
                <a:sym typeface="Arial Nova Bold Italics"/>
              </a:rPr>
              <a:t>Total</a:t>
            </a:r>
            <a:r>
              <a:rPr lang="en-US" b="true" sz="2600" i="true" strike="noStrike" u="none">
                <a:solidFill>
                  <a:srgbClr val="2EC4B6"/>
                </a:solidFill>
                <a:latin typeface="Arial Nova Bold Italics"/>
                <a:ea typeface="Arial Nova Bold Italics"/>
                <a:cs typeface="Arial Nova Bold Italics"/>
                <a:sym typeface="Arial Nova Bold Italics"/>
              </a:rPr>
              <a:t>R</a:t>
            </a:r>
            <a:r>
              <a:rPr lang="en-US" b="true" sz="2600" i="true" strike="noStrike" u="none">
                <a:solidFill>
                  <a:srgbClr val="2EC4B6"/>
                </a:solidFill>
                <a:latin typeface="Arial Nova Bold Italics"/>
                <a:ea typeface="Arial Nova Bold Italics"/>
                <a:cs typeface="Arial Nova Bold Italics"/>
                <a:sym typeface="Arial Nova Bold Italics"/>
              </a:rPr>
              <a:t>evenu</a:t>
            </a:r>
            <a:r>
              <a:rPr lang="en-US" b="true" sz="2600" i="true" strike="noStrike" u="none">
                <a:solidFill>
                  <a:srgbClr val="2EC4B6"/>
                </a:solidFill>
                <a:latin typeface="Arial Nova Bold Italics"/>
                <a:ea typeface="Arial Nova Bold Italics"/>
                <a:cs typeface="Arial Nova Bold Italics"/>
                <a:sym typeface="Arial Nova Bold Italics"/>
              </a:rPr>
              <a:t>e], 'CalculationTable'[Rooms</a:t>
            </a:r>
            <a:r>
              <a:rPr lang="en-US" b="true" sz="2600" i="true" strike="noStrike" u="none">
                <a:solidFill>
                  <a:srgbClr val="2EC4B6"/>
                </a:solidFill>
                <a:latin typeface="Arial Nova Bold Italics"/>
                <a:ea typeface="Arial Nova Bold Italics"/>
                <a:cs typeface="Arial Nova Bold Italics"/>
                <a:sym typeface="Arial Nova Bold Italics"/>
              </a:rPr>
              <a:t>Booked</a:t>
            </a:r>
            <a:r>
              <a:rPr lang="en-US" b="true" sz="2600" i="true" strike="noStrike" u="none">
                <a:solidFill>
                  <a:srgbClr val="2EC4B6"/>
                </a:solidFill>
                <a:latin typeface="Arial Nova Bold Italics"/>
                <a:ea typeface="Arial Nova Bold Italics"/>
                <a:cs typeface="Arial Nova Bold Italics"/>
                <a:sym typeface="Arial Nova Bold Italics"/>
              </a:rPr>
              <a:t>], 0</a:t>
            </a:r>
            <a:r>
              <a:rPr lang="en-US" b="true" sz="2600" i="true" strike="noStrike" u="none">
                <a:solidFill>
                  <a:srgbClr val="2EC4B6"/>
                </a:solidFill>
                <a:latin typeface="Arial Nova Bold Italics"/>
                <a:ea typeface="Arial Nova Bold Italics"/>
                <a:cs typeface="Arial Nova Bold Italics"/>
                <a:sym typeface="Arial Nova Bold Italics"/>
              </a:rPr>
              <a:t>)</a:t>
            </a:r>
          </a:p>
          <a:p>
            <a:pPr algn="l">
              <a:lnSpc>
                <a:spcPts val="3640"/>
              </a:lnSpc>
            </a:pPr>
          </a:p>
          <a:p>
            <a:pPr algn="l" marL="561341" indent="-280670" lvl="1">
              <a:lnSpc>
                <a:spcPts val="3640"/>
              </a:lnSpc>
              <a:buFont typeface="Arial"/>
              <a:buChar char="•"/>
            </a:pPr>
            <a:r>
              <a:rPr lang="en-US" sz="2600" strike="noStrike" u="none">
                <a:solidFill>
                  <a:srgbClr val="FFFFFF"/>
                </a:solidFill>
                <a:latin typeface="Arial Nova"/>
                <a:ea typeface="Arial Nova"/>
                <a:cs typeface="Arial Nova"/>
                <a:sym typeface="Arial Nova"/>
              </a:rPr>
              <a:t>Indicates average revenue earned per occupied room</a:t>
            </a:r>
          </a:p>
          <a:p>
            <a:pPr algn="l">
              <a:lnSpc>
                <a:spcPts val="3640"/>
              </a:lnSpc>
            </a:pPr>
          </a:p>
          <a:p>
            <a:pPr algn="l" marL="0" indent="0" lvl="0">
              <a:lnSpc>
                <a:spcPts val="3640"/>
              </a:lnSpc>
            </a:pPr>
            <a:r>
              <a:rPr lang="en-US" b="true" sz="2600" strike="noStrike" u="none">
                <a:solidFill>
                  <a:srgbClr val="FF914D"/>
                </a:solidFill>
                <a:latin typeface="Arial Nova Bold"/>
                <a:ea typeface="Arial Nova Bold"/>
                <a:cs typeface="Arial Nova Bold"/>
                <a:sym typeface="Arial Nova Bold"/>
              </a:rPr>
              <a:t>Reven</a:t>
            </a:r>
            <a:r>
              <a:rPr lang="en-US" b="true" sz="2600" strike="noStrike" u="none">
                <a:solidFill>
                  <a:srgbClr val="FF914D"/>
                </a:solidFill>
                <a:latin typeface="Arial Nova Bold"/>
                <a:ea typeface="Arial Nova Bold"/>
                <a:cs typeface="Arial Nova Bold"/>
                <a:sym typeface="Arial Nova Bold"/>
              </a:rPr>
              <a:t>ue Pe</a:t>
            </a:r>
            <a:r>
              <a:rPr lang="en-US" b="true" sz="2600" strike="noStrike" u="none">
                <a:solidFill>
                  <a:srgbClr val="FF914D"/>
                </a:solidFill>
                <a:latin typeface="Arial Nova Bold"/>
                <a:ea typeface="Arial Nova Bold"/>
                <a:cs typeface="Arial Nova Bold"/>
                <a:sym typeface="Arial Nova Bold"/>
              </a:rPr>
              <a:t>r</a:t>
            </a:r>
            <a:r>
              <a:rPr lang="en-US" b="true" sz="2600" strike="noStrike" u="none">
                <a:solidFill>
                  <a:srgbClr val="FF914D"/>
                </a:solidFill>
                <a:latin typeface="Arial Nova Bold"/>
                <a:ea typeface="Arial Nova Bold"/>
                <a:cs typeface="Arial Nova Bold"/>
                <a:sym typeface="Arial Nova Bold"/>
              </a:rPr>
              <a:t> Availa</a:t>
            </a:r>
            <a:r>
              <a:rPr lang="en-US" b="true" sz="2600" strike="noStrike" u="none">
                <a:solidFill>
                  <a:srgbClr val="FF914D"/>
                </a:solidFill>
                <a:latin typeface="Arial Nova Bold"/>
                <a:ea typeface="Arial Nova Bold"/>
                <a:cs typeface="Arial Nova Bold"/>
                <a:sym typeface="Arial Nova Bold"/>
              </a:rPr>
              <a:t>b</a:t>
            </a:r>
            <a:r>
              <a:rPr lang="en-US" b="true" sz="2600" strike="noStrike" u="none">
                <a:solidFill>
                  <a:srgbClr val="FF914D"/>
                </a:solidFill>
                <a:latin typeface="Arial Nova Bold"/>
                <a:ea typeface="Arial Nova Bold"/>
                <a:cs typeface="Arial Nova Bold"/>
                <a:sym typeface="Arial Nova Bold"/>
              </a:rPr>
              <a:t>le</a:t>
            </a:r>
            <a:r>
              <a:rPr lang="en-US" b="true" sz="2600" strike="noStrike" u="none">
                <a:solidFill>
                  <a:srgbClr val="FF914D"/>
                </a:solidFill>
                <a:latin typeface="Arial Nova Bold"/>
                <a:ea typeface="Arial Nova Bold"/>
                <a:cs typeface="Arial Nova Bold"/>
                <a:sym typeface="Arial Nova Bold"/>
              </a:rPr>
              <a:t> Room (RevPAR)</a:t>
            </a:r>
          </a:p>
          <a:p>
            <a:pPr algn="l" marL="0" indent="0" lvl="0">
              <a:lnSpc>
                <a:spcPts val="3640"/>
              </a:lnSpc>
            </a:pPr>
          </a:p>
          <a:p>
            <a:pPr algn="l" marL="0" indent="0" lvl="0">
              <a:lnSpc>
                <a:spcPts val="3640"/>
              </a:lnSpc>
            </a:pPr>
            <a:r>
              <a:rPr lang="en-US" b="true" sz="2600" strike="noStrike" u="none">
                <a:solidFill>
                  <a:srgbClr val="FF914D"/>
                </a:solidFill>
                <a:latin typeface="Arial Nova Bold"/>
                <a:ea typeface="Arial Nova Bold"/>
                <a:cs typeface="Arial Nova Bold"/>
                <a:sym typeface="Arial Nova Bold"/>
              </a:rPr>
              <a:t>       </a:t>
            </a:r>
            <a:r>
              <a:rPr lang="en-US" b="true" sz="2600" i="true" strike="noStrike" u="none">
                <a:solidFill>
                  <a:srgbClr val="2EC4B6"/>
                </a:solidFill>
                <a:latin typeface="Arial Nova Bold Italics"/>
                <a:ea typeface="Arial Nova Bold Italics"/>
                <a:cs typeface="Arial Nova Bold Italics"/>
                <a:sym typeface="Arial Nova Bold Italics"/>
              </a:rPr>
              <a:t>RevPAR = DIVIDE('CalculationTable'[Occupancy %], 100, 0) * 'CalculationTable'[ADR]</a:t>
            </a:r>
          </a:p>
          <a:p>
            <a:pPr algn="l" marL="0" indent="0" lvl="0">
              <a:lnSpc>
                <a:spcPts val="3640"/>
              </a:lnSpc>
            </a:pPr>
          </a:p>
          <a:p>
            <a:pPr algn="l" marL="561341" indent="-280670" lvl="1">
              <a:lnSpc>
                <a:spcPts val="3640"/>
              </a:lnSpc>
              <a:spcBef>
                <a:spcPct val="0"/>
              </a:spcBef>
              <a:buFont typeface="Arial"/>
              <a:buChar char="•"/>
            </a:pPr>
            <a:r>
              <a:rPr lang="en-US" sz="2600" strike="noStrike" u="none">
                <a:solidFill>
                  <a:srgbClr val="FFFFFF"/>
                </a:solidFill>
                <a:latin typeface="Arial Nova"/>
                <a:ea typeface="Arial Nova"/>
                <a:cs typeface="Arial Nova"/>
                <a:sym typeface="Arial Nova"/>
              </a:rPr>
              <a:t>Combi</a:t>
            </a:r>
            <a:r>
              <a:rPr lang="en-US" sz="2600" strike="noStrike" u="none">
                <a:solidFill>
                  <a:srgbClr val="FFFFFF"/>
                </a:solidFill>
                <a:latin typeface="Arial Nova"/>
                <a:ea typeface="Arial Nova"/>
                <a:cs typeface="Arial Nova"/>
                <a:sym typeface="Arial Nova"/>
              </a:rPr>
              <a:t>nes occupancy and pricing t</a:t>
            </a:r>
            <a:r>
              <a:rPr lang="en-US" sz="2600" strike="noStrike" u="none">
                <a:solidFill>
                  <a:srgbClr val="FFFFFF"/>
                </a:solidFill>
                <a:latin typeface="Arial Nova"/>
                <a:ea typeface="Arial Nova"/>
                <a:cs typeface="Arial Nova"/>
                <a:sym typeface="Arial Nova"/>
              </a:rPr>
              <a:t>o r</a:t>
            </a:r>
            <a:r>
              <a:rPr lang="en-US" sz="2600" strike="noStrike" u="none">
                <a:solidFill>
                  <a:srgbClr val="FFFFFF"/>
                </a:solidFill>
                <a:latin typeface="Arial Nova"/>
                <a:ea typeface="Arial Nova"/>
                <a:cs typeface="Arial Nova"/>
                <a:sym typeface="Arial Nova"/>
              </a:rPr>
              <a:t>e</a:t>
            </a:r>
            <a:r>
              <a:rPr lang="en-US" sz="2600" strike="noStrike" u="none">
                <a:solidFill>
                  <a:srgbClr val="FFFFFF"/>
                </a:solidFill>
                <a:latin typeface="Arial Nova"/>
                <a:ea typeface="Arial Nova"/>
                <a:cs typeface="Arial Nova"/>
                <a:sym typeface="Arial Nova"/>
              </a:rPr>
              <a:t>f</a:t>
            </a:r>
            <a:r>
              <a:rPr lang="en-US" sz="2600" strike="noStrike" u="none">
                <a:solidFill>
                  <a:srgbClr val="FFFFFF"/>
                </a:solidFill>
                <a:latin typeface="Arial Nova"/>
                <a:ea typeface="Arial Nova"/>
                <a:cs typeface="Arial Nova"/>
                <a:sym typeface="Arial Nova"/>
              </a:rPr>
              <a:t>l</a:t>
            </a:r>
            <a:r>
              <a:rPr lang="en-US" sz="2600" strike="noStrike" u="none">
                <a:solidFill>
                  <a:srgbClr val="FFFFFF"/>
                </a:solidFill>
                <a:latin typeface="Arial Nova"/>
                <a:ea typeface="Arial Nova"/>
                <a:cs typeface="Arial Nova"/>
                <a:sym typeface="Arial Nova"/>
              </a:rPr>
              <a:t>ect</a:t>
            </a:r>
            <a:r>
              <a:rPr lang="en-US" sz="2600" strike="noStrike" u="none">
                <a:solidFill>
                  <a:srgbClr val="FFFFFF"/>
                </a:solidFill>
                <a:latin typeface="Arial Nova"/>
                <a:ea typeface="Arial Nova"/>
                <a:cs typeface="Arial Nova"/>
                <a:sym typeface="Arial Nova"/>
              </a:rPr>
              <a:t> </a:t>
            </a:r>
            <a:r>
              <a:rPr lang="en-US" sz="2600" strike="noStrike" u="none">
                <a:solidFill>
                  <a:srgbClr val="FFFFFF"/>
                </a:solidFill>
                <a:latin typeface="Arial Nova"/>
                <a:ea typeface="Arial Nova"/>
                <a:cs typeface="Arial Nova"/>
                <a:sym typeface="Arial Nova"/>
              </a:rPr>
              <a:t>over</a:t>
            </a:r>
            <a:r>
              <a:rPr lang="en-US" sz="2600" strike="noStrike" u="none">
                <a:solidFill>
                  <a:srgbClr val="FFFFFF"/>
                </a:solidFill>
                <a:latin typeface="Arial Nova"/>
                <a:ea typeface="Arial Nova"/>
                <a:cs typeface="Arial Nova"/>
                <a:sym typeface="Arial Nova"/>
              </a:rPr>
              <a:t>a</a:t>
            </a:r>
            <a:r>
              <a:rPr lang="en-US" sz="2600" strike="noStrike" u="none">
                <a:solidFill>
                  <a:srgbClr val="FFFFFF"/>
                </a:solidFill>
                <a:latin typeface="Arial Nova"/>
                <a:ea typeface="Arial Nova"/>
                <a:cs typeface="Arial Nova"/>
                <a:sym typeface="Arial Nova"/>
              </a:rPr>
              <a:t>ll reve</a:t>
            </a:r>
            <a:r>
              <a:rPr lang="en-US" sz="2600" strike="noStrike" u="none">
                <a:solidFill>
                  <a:srgbClr val="FFFFFF"/>
                </a:solidFill>
                <a:latin typeface="Arial Nova"/>
                <a:ea typeface="Arial Nova"/>
                <a:cs typeface="Arial Nova"/>
                <a:sym typeface="Arial Nova"/>
              </a:rPr>
              <a:t>n</a:t>
            </a:r>
            <a:r>
              <a:rPr lang="en-US" sz="2600" strike="noStrike" u="none">
                <a:solidFill>
                  <a:srgbClr val="FFFFFF"/>
                </a:solidFill>
                <a:latin typeface="Arial Nova"/>
                <a:ea typeface="Arial Nova"/>
                <a:cs typeface="Arial Nova"/>
                <a:sym typeface="Arial Nova"/>
              </a:rPr>
              <a:t>u</a:t>
            </a:r>
            <a:r>
              <a:rPr lang="en-US" sz="2600" strike="noStrike" u="none">
                <a:solidFill>
                  <a:srgbClr val="FFFFFF"/>
                </a:solidFill>
                <a:latin typeface="Arial Nova"/>
                <a:ea typeface="Arial Nova"/>
                <a:cs typeface="Arial Nova"/>
                <a:sym typeface="Arial Nova"/>
              </a:rPr>
              <a:t>e </a:t>
            </a:r>
            <a:r>
              <a:rPr lang="en-US" sz="2600" strike="noStrike" u="none">
                <a:solidFill>
                  <a:srgbClr val="FFFFFF"/>
                </a:solidFill>
                <a:latin typeface="Arial Nova"/>
                <a:ea typeface="Arial Nova"/>
                <a:cs typeface="Arial Nova"/>
                <a:sym typeface="Arial Nova"/>
              </a:rPr>
              <a:t>perf</a:t>
            </a:r>
            <a:r>
              <a:rPr lang="en-US" sz="2600" strike="noStrike" u="none">
                <a:solidFill>
                  <a:srgbClr val="FFFFFF"/>
                </a:solidFill>
                <a:latin typeface="Arial Nova"/>
                <a:ea typeface="Arial Nova"/>
                <a:cs typeface="Arial Nova"/>
                <a:sym typeface="Arial Nova"/>
              </a:rPr>
              <a:t>o</a:t>
            </a:r>
            <a:r>
              <a:rPr lang="en-US" sz="2600" strike="noStrike" u="none">
                <a:solidFill>
                  <a:srgbClr val="FFFFFF"/>
                </a:solidFill>
                <a:latin typeface="Arial Nova"/>
                <a:ea typeface="Arial Nova"/>
                <a:cs typeface="Arial Nova"/>
                <a:sym typeface="Arial Nova"/>
              </a:rPr>
              <a:t>rmance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8" id="8"/>
          <p:cNvSpPr txBox="true"/>
          <p:nvPr/>
        </p:nvSpPr>
        <p:spPr>
          <a:xfrm rot="0">
            <a:off x="593730" y="8890703"/>
            <a:ext cx="6193943" cy="405765"/>
          </a:xfrm>
          <a:prstGeom prst="rect">
            <a:avLst/>
          </a:prstGeom>
        </p:spPr>
        <p:txBody>
          <a:bodyPr anchor="t" rtlCol="false" tIns="0" lIns="0" bIns="0" rIns="0">
            <a:spAutoFit/>
          </a:bodyPr>
          <a:lstStyle/>
          <a:p>
            <a:pPr algn="ctr" marL="0" indent="0" lvl="0">
              <a:lnSpc>
                <a:spcPts val="3359"/>
              </a:lnSpc>
            </a:pPr>
            <a:r>
              <a:rPr lang="en-US" b="true" sz="2400" i="true" strike="noStrike" u="none">
                <a:solidFill>
                  <a:srgbClr val="2EC4B6">
                    <a:alpha val="71765"/>
                  </a:srgbClr>
                </a:solidFill>
                <a:latin typeface="Arial Nova Bold Italics"/>
                <a:ea typeface="Arial Nova Bold Italics"/>
                <a:cs typeface="Arial Nova Bold Italics"/>
                <a:sym typeface="Arial Nova Bold Italics"/>
              </a:rPr>
              <a:t>Customer Cluster in Fact Table (Bookings)</a:t>
            </a:r>
          </a:p>
        </p:txBody>
      </p:sp>
      <p:sp>
        <p:nvSpPr>
          <p:cNvPr name="TextBox 9" id="9"/>
          <p:cNvSpPr txBox="true"/>
          <p:nvPr/>
        </p:nvSpPr>
        <p:spPr>
          <a:xfrm rot="0">
            <a:off x="6941297" y="8888631"/>
            <a:ext cx="10752973" cy="405765"/>
          </a:xfrm>
          <a:prstGeom prst="rect">
            <a:avLst/>
          </a:prstGeom>
        </p:spPr>
        <p:txBody>
          <a:bodyPr anchor="t" rtlCol="false" tIns="0" lIns="0" bIns="0" rIns="0">
            <a:spAutoFit/>
          </a:bodyPr>
          <a:lstStyle/>
          <a:p>
            <a:pPr algn="ctr" marL="0" indent="0" lvl="0">
              <a:lnSpc>
                <a:spcPts val="3359"/>
              </a:lnSpc>
            </a:pPr>
            <a:r>
              <a:rPr lang="en-US" b="true" sz="2400" i="true" strike="noStrike" u="none">
                <a:solidFill>
                  <a:srgbClr val="2EC4B6">
                    <a:alpha val="71765"/>
                  </a:srgbClr>
                </a:solidFill>
                <a:latin typeface="Arial Nova Bold Italics"/>
                <a:ea typeface="Arial Nova Bold Italics"/>
                <a:cs typeface="Arial Nova Bold Italics"/>
                <a:sym typeface="Arial Nova Bold Italics"/>
              </a:rPr>
              <a:t>Guest</a:t>
            </a:r>
            <a:r>
              <a:rPr lang="en-US" b="true" sz="2400" i="true" strike="noStrike" u="none">
                <a:solidFill>
                  <a:srgbClr val="2EC4B6">
                    <a:alpha val="71765"/>
                  </a:srgbClr>
                </a:solidFill>
                <a:latin typeface="Arial Nova Bold Italics"/>
                <a:ea typeface="Arial Nova Bold Italics"/>
                <a:cs typeface="Arial Nova Bold Italics"/>
                <a:sym typeface="Arial Nova Bold Italics"/>
              </a:rPr>
              <a:t> Type in Fact Table (Bookings)</a:t>
            </a:r>
          </a:p>
        </p:txBody>
      </p:sp>
      <p:sp>
        <p:nvSpPr>
          <p:cNvPr name="Freeform 10" id="10"/>
          <p:cNvSpPr/>
          <p:nvPr/>
        </p:nvSpPr>
        <p:spPr>
          <a:xfrm flipH="false" flipV="false" rot="0">
            <a:off x="593730" y="5815454"/>
            <a:ext cx="6193943" cy="2884749"/>
          </a:xfrm>
          <a:custGeom>
            <a:avLst/>
            <a:gdLst/>
            <a:ahLst/>
            <a:cxnLst/>
            <a:rect r="r" b="b" t="t" l="l"/>
            <a:pathLst>
              <a:path h="2884749" w="6193943">
                <a:moveTo>
                  <a:pt x="0" y="0"/>
                </a:moveTo>
                <a:lnTo>
                  <a:pt x="6193943" y="0"/>
                </a:lnTo>
                <a:lnTo>
                  <a:pt x="6193943" y="2884749"/>
                </a:lnTo>
                <a:lnTo>
                  <a:pt x="0" y="2884749"/>
                </a:lnTo>
                <a:lnTo>
                  <a:pt x="0" y="0"/>
                </a:lnTo>
                <a:close/>
              </a:path>
            </a:pathLst>
          </a:custGeom>
          <a:blipFill>
            <a:blip r:embed="rId2"/>
            <a:stretch>
              <a:fillRect l="0" t="0" r="-44277" b="0"/>
            </a:stretch>
          </a:blipFill>
        </p:spPr>
      </p:sp>
      <p:sp>
        <p:nvSpPr>
          <p:cNvPr name="Freeform 11" id="11"/>
          <p:cNvSpPr/>
          <p:nvPr/>
        </p:nvSpPr>
        <p:spPr>
          <a:xfrm flipH="false" flipV="false" rot="0">
            <a:off x="6941297" y="5874676"/>
            <a:ext cx="10752973" cy="2766305"/>
          </a:xfrm>
          <a:custGeom>
            <a:avLst/>
            <a:gdLst/>
            <a:ahLst/>
            <a:cxnLst/>
            <a:rect r="r" b="b" t="t" l="l"/>
            <a:pathLst>
              <a:path h="2766305" w="10752973">
                <a:moveTo>
                  <a:pt x="0" y="0"/>
                </a:moveTo>
                <a:lnTo>
                  <a:pt x="10752973" y="0"/>
                </a:lnTo>
                <a:lnTo>
                  <a:pt x="10752973" y="2766305"/>
                </a:lnTo>
                <a:lnTo>
                  <a:pt x="0" y="2766305"/>
                </a:lnTo>
                <a:lnTo>
                  <a:pt x="0" y="0"/>
                </a:lnTo>
                <a:close/>
              </a:path>
            </a:pathLst>
          </a:custGeom>
          <a:blipFill>
            <a:blip r:embed="rId3"/>
            <a:stretch>
              <a:fillRect l="0" t="0" r="-10119" b="0"/>
            </a:stretch>
          </a:blipFill>
        </p:spPr>
      </p:sp>
      <p:sp>
        <p:nvSpPr>
          <p:cNvPr name="TextBox 12" id="12"/>
          <p:cNvSpPr txBox="true"/>
          <p:nvPr/>
        </p:nvSpPr>
        <p:spPr>
          <a:xfrm rot="0">
            <a:off x="593730" y="248818"/>
            <a:ext cx="17100540" cy="1038225"/>
          </a:xfrm>
          <a:prstGeom prst="rect">
            <a:avLst/>
          </a:prstGeom>
        </p:spPr>
        <p:txBody>
          <a:bodyPr anchor="t" rtlCol="false" tIns="0" lIns="0" bIns="0" rIns="0">
            <a:spAutoFit/>
          </a:bodyPr>
          <a:lstStyle/>
          <a:p>
            <a:pPr algn="ctr">
              <a:lnSpc>
                <a:spcPts val="8400"/>
              </a:lnSpc>
            </a:pPr>
            <a:r>
              <a:rPr lang="en-US" b="true" sz="6000">
                <a:solidFill>
                  <a:srgbClr val="FFFFFF"/>
                </a:solidFill>
                <a:latin typeface="Arial Nova Bold"/>
                <a:ea typeface="Arial Nova Bold"/>
                <a:cs typeface="Arial Nova Bold"/>
                <a:sym typeface="Arial Nova Bold"/>
              </a:rPr>
              <a:t>MODULE 3 -  GUEST ANALYSIS</a:t>
            </a:r>
          </a:p>
        </p:txBody>
      </p:sp>
      <p:sp>
        <p:nvSpPr>
          <p:cNvPr name="TextBox 13" id="13"/>
          <p:cNvSpPr txBox="true"/>
          <p:nvPr/>
        </p:nvSpPr>
        <p:spPr>
          <a:xfrm rot="0">
            <a:off x="593730" y="1394788"/>
            <a:ext cx="17100540" cy="4265295"/>
          </a:xfrm>
          <a:prstGeom prst="rect">
            <a:avLst/>
          </a:prstGeom>
        </p:spPr>
        <p:txBody>
          <a:bodyPr anchor="t" rtlCol="false" tIns="0" lIns="0" bIns="0" rIns="0">
            <a:spAutoFit/>
          </a:bodyPr>
          <a:lstStyle/>
          <a:p>
            <a:pPr algn="l" marL="582930" indent="-291465" lvl="1">
              <a:lnSpc>
                <a:spcPts val="3779"/>
              </a:lnSpc>
              <a:buFont typeface="Arial"/>
              <a:buChar char="•"/>
            </a:pPr>
            <a:r>
              <a:rPr lang="en-US" b="true" sz="2700">
                <a:solidFill>
                  <a:srgbClr val="FF914D"/>
                </a:solidFill>
                <a:latin typeface="Arial Nova Bold"/>
                <a:ea typeface="Arial Nova Bold"/>
                <a:cs typeface="Arial Nova Bold"/>
                <a:sym typeface="Arial Nova Bold"/>
              </a:rPr>
              <a:t>Objective:</a:t>
            </a:r>
            <a:r>
              <a:rPr lang="en-US" sz="2700">
                <a:solidFill>
                  <a:srgbClr val="FFFFFF"/>
                </a:solidFill>
                <a:latin typeface="Arial Nova"/>
                <a:ea typeface="Arial Nova"/>
                <a:cs typeface="Arial Nova"/>
                <a:sym typeface="Arial Nova"/>
              </a:rPr>
              <a:t> To classify hotel guests into distinct segments and behavioral clusters to enable targeted</a:t>
            </a:r>
          </a:p>
          <a:p>
            <a:pPr algn="l">
              <a:lnSpc>
                <a:spcPts val="3779"/>
              </a:lnSpc>
            </a:pPr>
            <a:r>
              <a:rPr lang="en-US" sz="2700">
                <a:solidFill>
                  <a:srgbClr val="FFFFFF"/>
                </a:solidFill>
                <a:latin typeface="Arial Nova"/>
                <a:ea typeface="Arial Nova"/>
                <a:cs typeface="Arial Nova"/>
                <a:sym typeface="Arial Nova"/>
              </a:rPr>
              <a:t>                         marketing and personalized services.</a:t>
            </a:r>
          </a:p>
          <a:p>
            <a:pPr algn="l">
              <a:lnSpc>
                <a:spcPts val="3779"/>
              </a:lnSpc>
            </a:pPr>
            <a:r>
              <a:rPr lang="en-US" sz="2700">
                <a:solidFill>
                  <a:srgbClr val="FFFFFF"/>
                </a:solidFill>
                <a:latin typeface="Arial Nova"/>
                <a:ea typeface="Arial Nova"/>
                <a:cs typeface="Arial Nova"/>
                <a:sym typeface="Arial Nova"/>
              </a:rPr>
              <a:t>   </a:t>
            </a:r>
            <a:r>
              <a:rPr lang="en-US" sz="2700">
                <a:solidFill>
                  <a:srgbClr val="FF914D"/>
                </a:solidFill>
                <a:latin typeface="Arial Nova"/>
                <a:ea typeface="Arial Nova"/>
                <a:cs typeface="Arial Nova"/>
                <a:sym typeface="Arial Nova"/>
              </a:rPr>
              <a:t>                       </a:t>
            </a:r>
          </a:p>
          <a:p>
            <a:pPr algn="l" marL="582930" indent="-291465" lvl="1">
              <a:lnSpc>
                <a:spcPts val="3779"/>
              </a:lnSpc>
              <a:buFont typeface="Arial"/>
              <a:buChar char="•"/>
            </a:pPr>
            <a:r>
              <a:rPr lang="en-US" b="true" sz="2700">
                <a:solidFill>
                  <a:srgbClr val="FF914D"/>
                </a:solidFill>
                <a:latin typeface="Arial Nova Bold"/>
                <a:ea typeface="Arial Nova Bold"/>
                <a:cs typeface="Arial Nova Bold"/>
                <a:sym typeface="Arial Nova Bold"/>
              </a:rPr>
              <a:t>The 3 Core Parts:</a:t>
            </a:r>
          </a:p>
          <a:p>
            <a:pPr algn="l" marL="1165860" indent="-388620" lvl="2">
              <a:lnSpc>
                <a:spcPts val="3779"/>
              </a:lnSpc>
              <a:buFont typeface="Arial"/>
              <a:buChar char="⚬"/>
            </a:pPr>
            <a:r>
              <a:rPr lang="en-US" sz="2700">
                <a:solidFill>
                  <a:srgbClr val="FFFFFF"/>
                </a:solidFill>
                <a:latin typeface="Arial Nova"/>
                <a:ea typeface="Arial Nova"/>
                <a:cs typeface="Arial Nova"/>
                <a:sym typeface="Arial Nova"/>
              </a:rPr>
              <a:t>Guest Type Analysis: Segmenting by purpose (Business, Family, Solo, Corporate).</a:t>
            </a:r>
          </a:p>
          <a:p>
            <a:pPr algn="l" marL="1165860" indent="-388620" lvl="2">
              <a:lnSpc>
                <a:spcPts val="3779"/>
              </a:lnSpc>
              <a:buFont typeface="Arial"/>
              <a:buChar char="⚬"/>
            </a:pPr>
            <a:r>
              <a:rPr lang="en-US" sz="2700">
                <a:solidFill>
                  <a:srgbClr val="FFFFFF"/>
                </a:solidFill>
                <a:latin typeface="Arial Nova"/>
                <a:ea typeface="Arial Nova"/>
                <a:cs typeface="Arial Nova"/>
                <a:sym typeface="Arial Nova"/>
              </a:rPr>
              <a:t>Customer Clustering: Grouping by value &amp; frequency (First-Timers, Loyal Guests, High Spenders).</a:t>
            </a:r>
          </a:p>
          <a:p>
            <a:pPr algn="l" marL="1165860" indent="-388620" lvl="2">
              <a:lnSpc>
                <a:spcPts val="3779"/>
              </a:lnSpc>
              <a:buFont typeface="Arial"/>
              <a:buChar char="⚬"/>
            </a:pPr>
            <a:r>
              <a:rPr lang="en-US" sz="2700">
                <a:solidFill>
                  <a:srgbClr val="FFFFFF"/>
                </a:solidFill>
                <a:latin typeface="Arial Nova"/>
                <a:ea typeface="Arial Nova"/>
                <a:cs typeface="Arial Nova"/>
                <a:sym typeface="Arial Nova"/>
              </a:rPr>
              <a:t>Visual Dashboards: Bar Charts, Pie Charts and Geographic Maps to visualize patterns.</a:t>
            </a:r>
          </a:p>
          <a:p>
            <a:pPr algn="l">
              <a:lnSpc>
                <a:spcPts val="3779"/>
              </a:lnSpc>
            </a:pPr>
          </a:p>
          <a:p>
            <a:pPr algn="l" marL="582930" indent="-291465" lvl="1">
              <a:lnSpc>
                <a:spcPts val="3779"/>
              </a:lnSpc>
              <a:buFont typeface="Arial"/>
              <a:buChar char="•"/>
            </a:pPr>
            <a:r>
              <a:rPr lang="en-US" b="true" sz="2700">
                <a:solidFill>
                  <a:srgbClr val="FF914D"/>
                </a:solidFill>
                <a:latin typeface="Arial Nova Bold"/>
                <a:ea typeface="Arial Nova Bold"/>
                <a:cs typeface="Arial Nova Bold"/>
                <a:sym typeface="Arial Nova Bold"/>
              </a:rPr>
              <a:t>PowerBI Formulas: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10929705" y="2148718"/>
            <a:ext cx="6500199" cy="3842078"/>
          </a:xfrm>
          <a:custGeom>
            <a:avLst/>
            <a:gdLst/>
            <a:ahLst/>
            <a:cxnLst/>
            <a:rect r="r" b="b" t="t" l="l"/>
            <a:pathLst>
              <a:path h="3842078" w="6500199">
                <a:moveTo>
                  <a:pt x="0" y="0"/>
                </a:moveTo>
                <a:lnTo>
                  <a:pt x="6500199" y="0"/>
                </a:lnTo>
                <a:lnTo>
                  <a:pt x="6500199" y="3842078"/>
                </a:lnTo>
                <a:lnTo>
                  <a:pt x="0" y="3842078"/>
                </a:lnTo>
                <a:lnTo>
                  <a:pt x="0" y="0"/>
                </a:lnTo>
                <a:close/>
              </a:path>
            </a:pathLst>
          </a:custGeom>
          <a:blipFill>
            <a:blip r:embed="rId2"/>
            <a:stretch>
              <a:fillRect l="-78606" t="-11768" r="-55245" b="0"/>
            </a:stretch>
          </a:blipFill>
        </p:spPr>
      </p:sp>
      <p:sp>
        <p:nvSpPr>
          <p:cNvPr name="Freeform 9" id="9"/>
          <p:cNvSpPr/>
          <p:nvPr/>
        </p:nvSpPr>
        <p:spPr>
          <a:xfrm flipH="false" flipV="false" rot="0">
            <a:off x="10929705" y="1695079"/>
            <a:ext cx="6500199" cy="503334"/>
          </a:xfrm>
          <a:custGeom>
            <a:avLst/>
            <a:gdLst/>
            <a:ahLst/>
            <a:cxnLst/>
            <a:rect r="r" b="b" t="t" l="l"/>
            <a:pathLst>
              <a:path h="503334" w="6500199">
                <a:moveTo>
                  <a:pt x="0" y="0"/>
                </a:moveTo>
                <a:lnTo>
                  <a:pt x="6500199" y="0"/>
                </a:lnTo>
                <a:lnTo>
                  <a:pt x="6500199" y="503335"/>
                </a:lnTo>
                <a:lnTo>
                  <a:pt x="0" y="503335"/>
                </a:lnTo>
                <a:lnTo>
                  <a:pt x="0" y="0"/>
                </a:lnTo>
                <a:close/>
              </a:path>
            </a:pathLst>
          </a:custGeom>
          <a:blipFill>
            <a:blip r:embed="rId3"/>
            <a:stretch>
              <a:fillRect l="0" t="0" r="0" b="0"/>
            </a:stretch>
          </a:blipFill>
        </p:spPr>
      </p:sp>
      <p:sp>
        <p:nvSpPr>
          <p:cNvPr name="Freeform 10" id="10"/>
          <p:cNvSpPr/>
          <p:nvPr/>
        </p:nvSpPr>
        <p:spPr>
          <a:xfrm flipH="false" flipV="false" rot="0">
            <a:off x="650352" y="1695079"/>
            <a:ext cx="5333655" cy="4225624"/>
          </a:xfrm>
          <a:custGeom>
            <a:avLst/>
            <a:gdLst/>
            <a:ahLst/>
            <a:cxnLst/>
            <a:rect r="r" b="b" t="t" l="l"/>
            <a:pathLst>
              <a:path h="4225624" w="5333655">
                <a:moveTo>
                  <a:pt x="0" y="0"/>
                </a:moveTo>
                <a:lnTo>
                  <a:pt x="5333655" y="0"/>
                </a:lnTo>
                <a:lnTo>
                  <a:pt x="5333655" y="4225624"/>
                </a:lnTo>
                <a:lnTo>
                  <a:pt x="0" y="4225624"/>
                </a:lnTo>
                <a:lnTo>
                  <a:pt x="0" y="0"/>
                </a:lnTo>
                <a:close/>
              </a:path>
            </a:pathLst>
          </a:custGeom>
          <a:blipFill>
            <a:blip r:embed="rId4"/>
            <a:stretch>
              <a:fillRect l="0" t="-1630" r="-3261" b="-29969"/>
            </a:stretch>
          </a:blipFill>
        </p:spPr>
      </p:sp>
      <p:sp>
        <p:nvSpPr>
          <p:cNvPr name="Freeform 11" id="11"/>
          <p:cNvSpPr/>
          <p:nvPr/>
        </p:nvSpPr>
        <p:spPr>
          <a:xfrm flipH="false" flipV="false" rot="0">
            <a:off x="650352" y="6193661"/>
            <a:ext cx="5333655" cy="3489417"/>
          </a:xfrm>
          <a:custGeom>
            <a:avLst/>
            <a:gdLst/>
            <a:ahLst/>
            <a:cxnLst/>
            <a:rect r="r" b="b" t="t" l="l"/>
            <a:pathLst>
              <a:path h="3489417" w="5333655">
                <a:moveTo>
                  <a:pt x="0" y="0"/>
                </a:moveTo>
                <a:lnTo>
                  <a:pt x="5333655" y="0"/>
                </a:lnTo>
                <a:lnTo>
                  <a:pt x="5333655" y="3489416"/>
                </a:lnTo>
                <a:lnTo>
                  <a:pt x="0" y="3489416"/>
                </a:lnTo>
                <a:lnTo>
                  <a:pt x="0" y="0"/>
                </a:lnTo>
                <a:close/>
              </a:path>
            </a:pathLst>
          </a:custGeom>
          <a:blipFill>
            <a:blip r:embed="rId5"/>
            <a:stretch>
              <a:fillRect l="0" t="0" r="-2327" b="0"/>
            </a:stretch>
          </a:blipFill>
        </p:spPr>
      </p:sp>
      <p:sp>
        <p:nvSpPr>
          <p:cNvPr name="Freeform 12" id="12"/>
          <p:cNvSpPr/>
          <p:nvPr/>
        </p:nvSpPr>
        <p:spPr>
          <a:xfrm flipH="false" flipV="false" rot="0">
            <a:off x="6180847" y="6209871"/>
            <a:ext cx="4581080" cy="3473206"/>
          </a:xfrm>
          <a:custGeom>
            <a:avLst/>
            <a:gdLst/>
            <a:ahLst/>
            <a:cxnLst/>
            <a:rect r="r" b="b" t="t" l="l"/>
            <a:pathLst>
              <a:path h="3473206" w="4581080">
                <a:moveTo>
                  <a:pt x="0" y="0"/>
                </a:moveTo>
                <a:lnTo>
                  <a:pt x="4581080" y="0"/>
                </a:lnTo>
                <a:lnTo>
                  <a:pt x="4581080" y="3473206"/>
                </a:lnTo>
                <a:lnTo>
                  <a:pt x="0" y="3473206"/>
                </a:lnTo>
                <a:lnTo>
                  <a:pt x="0" y="0"/>
                </a:lnTo>
                <a:close/>
              </a:path>
            </a:pathLst>
          </a:custGeom>
          <a:blipFill>
            <a:blip r:embed="rId6"/>
            <a:stretch>
              <a:fillRect l="-1660" t="0" r="-4482" b="0"/>
            </a:stretch>
          </a:blipFill>
        </p:spPr>
      </p:sp>
      <p:sp>
        <p:nvSpPr>
          <p:cNvPr name="Freeform 13" id="13"/>
          <p:cNvSpPr/>
          <p:nvPr/>
        </p:nvSpPr>
        <p:spPr>
          <a:xfrm flipH="false" flipV="false" rot="0">
            <a:off x="10958768" y="6193661"/>
            <a:ext cx="6442074" cy="3489417"/>
          </a:xfrm>
          <a:custGeom>
            <a:avLst/>
            <a:gdLst/>
            <a:ahLst/>
            <a:cxnLst/>
            <a:rect r="r" b="b" t="t" l="l"/>
            <a:pathLst>
              <a:path h="3489417" w="6442074">
                <a:moveTo>
                  <a:pt x="0" y="0"/>
                </a:moveTo>
                <a:lnTo>
                  <a:pt x="6442074" y="0"/>
                </a:lnTo>
                <a:lnTo>
                  <a:pt x="6442074" y="3489416"/>
                </a:lnTo>
                <a:lnTo>
                  <a:pt x="0" y="3489416"/>
                </a:lnTo>
                <a:lnTo>
                  <a:pt x="0" y="0"/>
                </a:lnTo>
                <a:close/>
              </a:path>
            </a:pathLst>
          </a:custGeom>
          <a:blipFill>
            <a:blip r:embed="rId7"/>
            <a:stretch>
              <a:fillRect l="0" t="-3208" r="0" b="0"/>
            </a:stretch>
          </a:blipFill>
        </p:spPr>
      </p:sp>
      <p:sp>
        <p:nvSpPr>
          <p:cNvPr name="Freeform 14" id="14"/>
          <p:cNvSpPr/>
          <p:nvPr/>
        </p:nvSpPr>
        <p:spPr>
          <a:xfrm flipH="false" flipV="false" rot="0">
            <a:off x="6251575" y="1695079"/>
            <a:ext cx="4474692" cy="4295717"/>
          </a:xfrm>
          <a:custGeom>
            <a:avLst/>
            <a:gdLst/>
            <a:ahLst/>
            <a:cxnLst/>
            <a:rect r="r" b="b" t="t" l="l"/>
            <a:pathLst>
              <a:path h="4295717" w="4474692">
                <a:moveTo>
                  <a:pt x="0" y="0"/>
                </a:moveTo>
                <a:lnTo>
                  <a:pt x="4474692" y="0"/>
                </a:lnTo>
                <a:lnTo>
                  <a:pt x="4474692" y="4295717"/>
                </a:lnTo>
                <a:lnTo>
                  <a:pt x="0" y="4295717"/>
                </a:lnTo>
                <a:lnTo>
                  <a:pt x="0" y="0"/>
                </a:lnTo>
                <a:close/>
              </a:path>
            </a:pathLst>
          </a:custGeom>
          <a:blipFill>
            <a:blip r:embed="rId8"/>
            <a:stretch>
              <a:fillRect l="0" t="-1512" r="0" b="-2413"/>
            </a:stretch>
          </a:blipFill>
        </p:spPr>
      </p:sp>
      <p:sp>
        <p:nvSpPr>
          <p:cNvPr name="TextBox 15" id="15"/>
          <p:cNvSpPr txBox="true"/>
          <p:nvPr/>
        </p:nvSpPr>
        <p:spPr>
          <a:xfrm rot="0">
            <a:off x="499436" y="316251"/>
            <a:ext cx="17289128" cy="854075"/>
          </a:xfrm>
          <a:prstGeom prst="rect">
            <a:avLst/>
          </a:prstGeom>
        </p:spPr>
        <p:txBody>
          <a:bodyPr anchor="t" rtlCol="false" tIns="0" lIns="0" bIns="0" rIns="0">
            <a:spAutoFit/>
          </a:bodyPr>
          <a:lstStyle/>
          <a:p>
            <a:pPr algn="ctr" marL="0" indent="0" lvl="0">
              <a:lnSpc>
                <a:spcPts val="7000"/>
              </a:lnSpc>
            </a:pPr>
            <a:r>
              <a:rPr lang="en-US" b="true" sz="5000">
                <a:solidFill>
                  <a:srgbClr val="FFFFFF"/>
                </a:solidFill>
                <a:latin typeface="Arial Nova Bold"/>
                <a:ea typeface="Arial Nova Bold"/>
                <a:cs typeface="Arial Nova Bold"/>
                <a:sym typeface="Arial Nova Bold"/>
              </a:rPr>
              <a:t>GUEST SEGMENTATION  AND DEMOGRAPHIC</a:t>
            </a:r>
            <a:r>
              <a:rPr lang="en-US" b="true" sz="5000">
                <a:solidFill>
                  <a:srgbClr val="FFFFFF"/>
                </a:solidFill>
                <a:latin typeface="Arial Nova Bold"/>
                <a:ea typeface="Arial Nova Bold"/>
                <a:cs typeface="Arial Nova Bold"/>
                <a:sym typeface="Arial Nova Bold"/>
              </a:rPr>
              <a:t> </a:t>
            </a:r>
            <a:r>
              <a:rPr lang="en-US" b="true" sz="5000">
                <a:solidFill>
                  <a:srgbClr val="FFFFFF"/>
                </a:solidFill>
                <a:latin typeface="Arial Nova Bold"/>
                <a:ea typeface="Arial Nova Bold"/>
                <a:cs typeface="Arial Nova Bold"/>
                <a:sym typeface="Arial Nova Bold"/>
              </a:rPr>
              <a:t>ANALYSIS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1028700" y="1443202"/>
            <a:ext cx="16230600" cy="7815098"/>
            <a:chOff x="0" y="0"/>
            <a:chExt cx="4274726" cy="2058297"/>
          </a:xfrm>
        </p:grpSpPr>
        <p:sp>
          <p:nvSpPr>
            <p:cNvPr name="Freeform 9" id="9"/>
            <p:cNvSpPr/>
            <p:nvPr/>
          </p:nvSpPr>
          <p:spPr>
            <a:xfrm flipH="false" flipV="false" rot="0">
              <a:off x="0" y="0"/>
              <a:ext cx="4274726" cy="2058297"/>
            </a:xfrm>
            <a:custGeom>
              <a:avLst/>
              <a:gdLst/>
              <a:ahLst/>
              <a:cxnLst/>
              <a:rect r="r" b="b" t="t" l="l"/>
              <a:pathLst>
                <a:path h="2058297" w="4274726">
                  <a:moveTo>
                    <a:pt x="0" y="0"/>
                  </a:moveTo>
                  <a:lnTo>
                    <a:pt x="4274726" y="0"/>
                  </a:lnTo>
                  <a:lnTo>
                    <a:pt x="4274726" y="2058297"/>
                  </a:lnTo>
                  <a:lnTo>
                    <a:pt x="0" y="2058297"/>
                  </a:lnTo>
                  <a:close/>
                </a:path>
              </a:pathLst>
            </a:custGeom>
            <a:solidFill>
              <a:srgbClr val="036493"/>
            </a:solidFill>
          </p:spPr>
        </p:sp>
        <p:sp>
          <p:nvSpPr>
            <p:cNvPr name="TextBox 10" id="10"/>
            <p:cNvSpPr txBox="true"/>
            <p:nvPr/>
          </p:nvSpPr>
          <p:spPr>
            <a:xfrm>
              <a:off x="0" y="-66675"/>
              <a:ext cx="4274726" cy="2124972"/>
            </a:xfrm>
            <a:prstGeom prst="rect">
              <a:avLst/>
            </a:prstGeom>
          </p:spPr>
          <p:txBody>
            <a:bodyPr anchor="ctr" rtlCol="false" tIns="50800" lIns="50800" bIns="50800" rIns="50800"/>
            <a:lstStyle/>
            <a:p>
              <a:pPr algn="ctr">
                <a:lnSpc>
                  <a:spcPts val="3494"/>
                </a:lnSpc>
              </a:pPr>
            </a:p>
          </p:txBody>
        </p:sp>
      </p:grpSp>
      <p:grpSp>
        <p:nvGrpSpPr>
          <p:cNvPr name="Group 11" id="11"/>
          <p:cNvGrpSpPr/>
          <p:nvPr/>
        </p:nvGrpSpPr>
        <p:grpSpPr>
          <a:xfrm rot="0">
            <a:off x="11484756" y="4577888"/>
            <a:ext cx="5326215" cy="2842990"/>
            <a:chOff x="0" y="0"/>
            <a:chExt cx="1402789" cy="748771"/>
          </a:xfrm>
        </p:grpSpPr>
        <p:sp>
          <p:nvSpPr>
            <p:cNvPr name="Freeform 12" id="12"/>
            <p:cNvSpPr/>
            <p:nvPr/>
          </p:nvSpPr>
          <p:spPr>
            <a:xfrm flipH="false" flipV="false" rot="0">
              <a:off x="0" y="0"/>
              <a:ext cx="1402789" cy="748771"/>
            </a:xfrm>
            <a:custGeom>
              <a:avLst/>
              <a:gdLst/>
              <a:ahLst/>
              <a:cxnLst/>
              <a:rect r="r" b="b" t="t" l="l"/>
              <a:pathLst>
                <a:path h="748771" w="1402789">
                  <a:moveTo>
                    <a:pt x="0" y="0"/>
                  </a:moveTo>
                  <a:lnTo>
                    <a:pt x="1402789" y="0"/>
                  </a:lnTo>
                  <a:lnTo>
                    <a:pt x="1402789" y="748771"/>
                  </a:lnTo>
                  <a:lnTo>
                    <a:pt x="0" y="748771"/>
                  </a:lnTo>
                  <a:close/>
                </a:path>
              </a:pathLst>
            </a:custGeom>
            <a:solidFill>
              <a:srgbClr val="036493"/>
            </a:solidFill>
          </p:spPr>
        </p:sp>
        <p:sp>
          <p:nvSpPr>
            <p:cNvPr name="TextBox 13" id="13"/>
            <p:cNvSpPr txBox="true"/>
            <p:nvPr/>
          </p:nvSpPr>
          <p:spPr>
            <a:xfrm>
              <a:off x="0" y="-66675"/>
              <a:ext cx="1402789" cy="815446"/>
            </a:xfrm>
            <a:prstGeom prst="rect">
              <a:avLst/>
            </a:prstGeom>
          </p:spPr>
          <p:txBody>
            <a:bodyPr anchor="ctr" rtlCol="false" tIns="50800" lIns="50800" bIns="50800" rIns="50800"/>
            <a:lstStyle/>
            <a:p>
              <a:pPr algn="ctr">
                <a:lnSpc>
                  <a:spcPts val="3494"/>
                </a:lnSpc>
              </a:pPr>
            </a:p>
          </p:txBody>
        </p:sp>
      </p:grpSp>
      <p:sp>
        <p:nvSpPr>
          <p:cNvPr name="TextBox 14" id="14"/>
          <p:cNvSpPr txBox="true"/>
          <p:nvPr/>
        </p:nvSpPr>
        <p:spPr>
          <a:xfrm rot="0">
            <a:off x="1028700" y="162085"/>
            <a:ext cx="16230600" cy="1038225"/>
          </a:xfrm>
          <a:prstGeom prst="rect">
            <a:avLst/>
          </a:prstGeom>
        </p:spPr>
        <p:txBody>
          <a:bodyPr anchor="t" rtlCol="false" tIns="0" lIns="0" bIns="0" rIns="0">
            <a:spAutoFit/>
          </a:bodyPr>
          <a:lstStyle/>
          <a:p>
            <a:pPr algn="ctr">
              <a:lnSpc>
                <a:spcPts val="8400"/>
              </a:lnSpc>
            </a:pPr>
            <a:r>
              <a:rPr lang="en-US" b="true" sz="6000">
                <a:solidFill>
                  <a:srgbClr val="FFFFFF"/>
                </a:solidFill>
                <a:latin typeface="Arial Nova Bold"/>
                <a:ea typeface="Arial Nova Bold"/>
                <a:cs typeface="Arial Nova Bold"/>
                <a:sym typeface="Arial Nova Bold"/>
              </a:rPr>
              <a:t>INSIGHTS</a:t>
            </a:r>
          </a:p>
        </p:txBody>
      </p:sp>
      <p:sp>
        <p:nvSpPr>
          <p:cNvPr name="TextBox 15" id="15"/>
          <p:cNvSpPr txBox="true"/>
          <p:nvPr/>
        </p:nvSpPr>
        <p:spPr>
          <a:xfrm rot="0">
            <a:off x="1439926" y="1765541"/>
            <a:ext cx="15361711" cy="7122795"/>
          </a:xfrm>
          <a:prstGeom prst="rect">
            <a:avLst/>
          </a:prstGeom>
        </p:spPr>
        <p:txBody>
          <a:bodyPr anchor="t" rtlCol="false" tIns="0" lIns="0" bIns="0" rIns="0">
            <a:spAutoFit/>
          </a:bodyPr>
          <a:lstStyle/>
          <a:p>
            <a:pPr algn="l" marL="582930" indent="-291465" lvl="1">
              <a:lnSpc>
                <a:spcPts val="3779"/>
              </a:lnSpc>
              <a:buFont typeface="Arial"/>
              <a:buChar char="•"/>
            </a:pPr>
            <a:r>
              <a:rPr lang="en-US" b="true" sz="2700" strike="noStrike" u="none">
                <a:solidFill>
                  <a:srgbClr val="FF914D"/>
                </a:solidFill>
                <a:latin typeface="Arial Nova Bold"/>
                <a:ea typeface="Arial Nova Bold"/>
                <a:cs typeface="Arial Nova Bold"/>
                <a:sym typeface="Arial Nova Bold"/>
              </a:rPr>
              <a:t>Guest Dynamics:</a:t>
            </a:r>
          </a:p>
          <a:p>
            <a:pPr algn="l" marL="1165860" indent="-388620" lvl="2">
              <a:lnSpc>
                <a:spcPts val="3779"/>
              </a:lnSpc>
              <a:buFont typeface="Arial"/>
              <a:buChar char="⚬"/>
            </a:pPr>
            <a:r>
              <a:rPr lang="en-US" b="true" sz="2700" strike="noStrike" u="none">
                <a:solidFill>
                  <a:srgbClr val="FFFFFF"/>
                </a:solidFill>
                <a:latin typeface="Arial Nova Bold"/>
                <a:ea typeface="Arial Nova Bold"/>
                <a:cs typeface="Arial Nova Bold"/>
                <a:sym typeface="Arial Nova Bold"/>
              </a:rPr>
              <a:t>Volume Driver:</a:t>
            </a:r>
            <a:r>
              <a:rPr lang="en-US" sz="2700" strike="noStrike" u="none">
                <a:solidFill>
                  <a:srgbClr val="FFFFFF"/>
                </a:solidFill>
                <a:latin typeface="Arial Nova"/>
                <a:ea typeface="Arial Nova"/>
                <a:cs typeface="Arial Nova"/>
                <a:sym typeface="Arial Nova"/>
              </a:rPr>
              <a:t> Solo travelers are the dominant segment across all nationalities.</a:t>
            </a:r>
          </a:p>
          <a:p>
            <a:pPr algn="l" marL="1165860" indent="-388620" lvl="2">
              <a:lnSpc>
                <a:spcPts val="3779"/>
              </a:lnSpc>
              <a:buFont typeface="Arial"/>
              <a:buChar char="⚬"/>
            </a:pPr>
            <a:r>
              <a:rPr lang="en-US" sz="2700" strike="noStrike" u="none">
                <a:solidFill>
                  <a:srgbClr val="FFFFFF"/>
                </a:solidFill>
                <a:latin typeface="Arial Nova"/>
                <a:ea typeface="Arial Nova"/>
                <a:cs typeface="Arial Nova"/>
                <a:sym typeface="Arial Nova"/>
              </a:rPr>
              <a:t>Family &amp; Corporate guests stay significantly longer (Avg. 5.5 nights) compared to Solo travelers (3.4 nights).</a:t>
            </a:r>
          </a:p>
          <a:p>
            <a:pPr algn="l" marL="0" indent="0" lvl="0">
              <a:lnSpc>
                <a:spcPts val="3779"/>
              </a:lnSpc>
            </a:pPr>
          </a:p>
          <a:p>
            <a:pPr algn="l" marL="582930" indent="-291465" lvl="1">
              <a:lnSpc>
                <a:spcPts val="3779"/>
              </a:lnSpc>
              <a:buFont typeface="Arial"/>
              <a:buChar char="•"/>
            </a:pPr>
            <a:r>
              <a:rPr lang="en-US" b="true" sz="2700" strike="noStrike" u="none">
                <a:solidFill>
                  <a:srgbClr val="FF914D"/>
                </a:solidFill>
                <a:latin typeface="Arial Nova Bold"/>
                <a:ea typeface="Arial Nova Bold"/>
                <a:cs typeface="Arial Nova Bold"/>
                <a:sym typeface="Arial Nova Bold"/>
              </a:rPr>
              <a:t>Customer Composition:</a:t>
            </a:r>
          </a:p>
          <a:p>
            <a:pPr algn="l" marL="1165860" indent="-388620" lvl="2">
              <a:lnSpc>
                <a:spcPts val="3779"/>
              </a:lnSpc>
              <a:buFont typeface="Arial"/>
              <a:buChar char="⚬"/>
            </a:pPr>
            <a:r>
              <a:rPr lang="en-US" b="true" sz="2700" strike="noStrike" u="none">
                <a:solidFill>
                  <a:srgbClr val="FFFFFF"/>
                </a:solidFill>
                <a:latin typeface="Arial Nova Bold"/>
                <a:ea typeface="Arial Nova Bold"/>
                <a:cs typeface="Arial Nova Bold"/>
                <a:sym typeface="Arial Nova Bold"/>
              </a:rPr>
              <a:t>High Retention:</a:t>
            </a:r>
            <a:r>
              <a:rPr lang="en-US" sz="2700" strike="noStrike" u="none">
                <a:solidFill>
                  <a:srgbClr val="FFFFFF"/>
                </a:solidFill>
                <a:latin typeface="Arial Nova"/>
                <a:ea typeface="Arial Nova"/>
                <a:cs typeface="Arial Nova"/>
                <a:sym typeface="Arial Nova"/>
              </a:rPr>
              <a:t> 63% of bookings come from "High Spenders" and 35% from "Loyal Guests."</a:t>
            </a:r>
          </a:p>
          <a:p>
            <a:pPr algn="l" marL="1165860" indent="-388620" lvl="2">
              <a:lnSpc>
                <a:spcPts val="3779"/>
              </a:lnSpc>
              <a:buFont typeface="Arial"/>
              <a:buChar char="⚬"/>
            </a:pPr>
            <a:r>
              <a:rPr lang="en-US" b="true" sz="2700" strike="noStrike" u="none">
                <a:solidFill>
                  <a:srgbClr val="FFFFFF"/>
                </a:solidFill>
                <a:latin typeface="Arial Nova Bold"/>
                <a:ea typeface="Arial Nova Bold"/>
                <a:cs typeface="Arial Nova Bold"/>
                <a:sym typeface="Arial Nova Bold"/>
              </a:rPr>
              <a:t>Acquisition Gap:</a:t>
            </a:r>
            <a:r>
              <a:rPr lang="en-US" sz="2700" strike="noStrike" u="none">
                <a:solidFill>
                  <a:srgbClr val="FFFFFF"/>
                </a:solidFill>
                <a:latin typeface="Arial Nova"/>
                <a:ea typeface="Arial Nova"/>
                <a:cs typeface="Arial Nova"/>
                <a:sym typeface="Arial Nova"/>
              </a:rPr>
              <a:t> "First-Timer" bookings are negligible (&lt;2%), indicating a critical need for new customer acquisition strategies.</a:t>
            </a:r>
          </a:p>
          <a:p>
            <a:pPr algn="l">
              <a:lnSpc>
                <a:spcPts val="3779"/>
              </a:lnSpc>
            </a:pPr>
          </a:p>
          <a:p>
            <a:pPr algn="l" marL="582930" indent="-291465" lvl="1">
              <a:lnSpc>
                <a:spcPts val="3779"/>
              </a:lnSpc>
              <a:buFont typeface="Arial"/>
              <a:buChar char="•"/>
            </a:pPr>
            <a:r>
              <a:rPr lang="en-US" b="true" sz="2700" strike="noStrike" u="none">
                <a:solidFill>
                  <a:srgbClr val="FF914D"/>
                </a:solidFill>
                <a:latin typeface="Arial Nova Bold"/>
                <a:ea typeface="Arial Nova Bold"/>
                <a:cs typeface="Arial Nova Bold"/>
                <a:sym typeface="Arial Nova Bold"/>
              </a:rPr>
              <a:t>Payments</a:t>
            </a:r>
            <a:r>
              <a:rPr lang="en-US" b="true" sz="2700" strike="noStrike" u="none">
                <a:solidFill>
                  <a:srgbClr val="FF914D"/>
                </a:solidFill>
                <a:latin typeface="Arial Nova Bold"/>
                <a:ea typeface="Arial Nova Bold"/>
                <a:cs typeface="Arial Nova Bold"/>
                <a:sym typeface="Arial Nova Bold"/>
              </a:rPr>
              <a:t> and Top Locations</a:t>
            </a:r>
            <a:r>
              <a:rPr lang="en-US" b="true" sz="2700" strike="noStrike" u="none">
                <a:solidFill>
                  <a:srgbClr val="FF914D"/>
                </a:solidFill>
                <a:latin typeface="Arial Nova Bold"/>
                <a:ea typeface="Arial Nova Bold"/>
                <a:cs typeface="Arial Nova Bold"/>
                <a:sym typeface="Arial Nova Bold"/>
              </a:rPr>
              <a:t>:</a:t>
            </a:r>
          </a:p>
          <a:p>
            <a:pPr algn="l" marL="1165860" indent="-388620" lvl="2">
              <a:lnSpc>
                <a:spcPts val="3779"/>
              </a:lnSpc>
              <a:buFont typeface="Arial"/>
              <a:buChar char="⚬"/>
            </a:pPr>
            <a:r>
              <a:rPr lang="en-US" b="true" sz="2700" strike="noStrike" u="none">
                <a:solidFill>
                  <a:srgbClr val="FFFFFF"/>
                </a:solidFill>
                <a:latin typeface="Arial Nova Bold"/>
                <a:ea typeface="Arial Nova Bold"/>
                <a:cs typeface="Arial Nova Bold"/>
                <a:sym typeface="Arial Nova Bold"/>
              </a:rPr>
              <a:t>Payment Equality:</a:t>
            </a:r>
            <a:r>
              <a:rPr lang="en-US" sz="2700" strike="noStrike" u="none">
                <a:solidFill>
                  <a:srgbClr val="FFFFFF"/>
                </a:solidFill>
                <a:latin typeface="Arial Nova"/>
                <a:ea typeface="Arial Nova"/>
                <a:cs typeface="Arial Nova"/>
                <a:sym typeface="Arial Nova"/>
              </a:rPr>
              <a:t> Revenue is evenly distributed (~20% each) across all 5 payment methods (Cash, Card, UPI, Wallet), showing flexible payment adoption.</a:t>
            </a:r>
          </a:p>
          <a:p>
            <a:pPr algn="l" marL="1165860" indent="-388620" lvl="2">
              <a:lnSpc>
                <a:spcPts val="3779"/>
              </a:lnSpc>
              <a:buFont typeface="Arial"/>
              <a:buChar char="⚬"/>
            </a:pPr>
            <a:r>
              <a:rPr lang="en-US" b="true" sz="2700" strike="noStrike" u="none">
                <a:solidFill>
                  <a:srgbClr val="FFFFFF"/>
                </a:solidFill>
                <a:latin typeface="Arial Nova Bold"/>
                <a:ea typeface="Arial Nova Bold"/>
                <a:cs typeface="Arial Nova Bold"/>
                <a:sym typeface="Arial Nova Bold"/>
              </a:rPr>
              <a:t>Key Markets:</a:t>
            </a:r>
            <a:r>
              <a:rPr lang="en-US" sz="2700" strike="noStrike" u="none">
                <a:solidFill>
                  <a:srgbClr val="FFFFFF"/>
                </a:solidFill>
                <a:latin typeface="Arial Nova"/>
                <a:ea typeface="Arial Nova"/>
                <a:cs typeface="Arial Nova"/>
                <a:sym typeface="Arial Nova"/>
              </a:rPr>
              <a:t> USA, UK, and Turkey are the top geographic sources for Family (Adult + Child) bookings.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520162" y="1303351"/>
            <a:ext cx="10829797" cy="7445485"/>
          </a:xfrm>
          <a:custGeom>
            <a:avLst/>
            <a:gdLst/>
            <a:ahLst/>
            <a:cxnLst/>
            <a:rect r="r" b="b" t="t" l="l"/>
            <a:pathLst>
              <a:path h="7445485" w="10829797">
                <a:moveTo>
                  <a:pt x="0" y="0"/>
                </a:moveTo>
                <a:lnTo>
                  <a:pt x="10829796" y="0"/>
                </a:lnTo>
                <a:lnTo>
                  <a:pt x="10829796" y="7445486"/>
                </a:lnTo>
                <a:lnTo>
                  <a:pt x="0" y="7445486"/>
                </a:lnTo>
                <a:lnTo>
                  <a:pt x="0" y="0"/>
                </a:lnTo>
                <a:close/>
              </a:path>
            </a:pathLst>
          </a:custGeom>
          <a:blipFill>
            <a:blip r:embed="rId2"/>
            <a:stretch>
              <a:fillRect l="0" t="0" r="0" b="0"/>
            </a:stretch>
          </a:blipFill>
        </p:spPr>
      </p:sp>
      <p:grpSp>
        <p:nvGrpSpPr>
          <p:cNvPr name="Group 9" id="9"/>
          <p:cNvGrpSpPr/>
          <p:nvPr/>
        </p:nvGrpSpPr>
        <p:grpSpPr>
          <a:xfrm rot="0">
            <a:off x="11476825" y="1303351"/>
            <a:ext cx="6291014" cy="7552048"/>
            <a:chOff x="0" y="0"/>
            <a:chExt cx="1656893" cy="1989017"/>
          </a:xfrm>
        </p:grpSpPr>
        <p:sp>
          <p:nvSpPr>
            <p:cNvPr name="Freeform 10" id="10"/>
            <p:cNvSpPr/>
            <p:nvPr/>
          </p:nvSpPr>
          <p:spPr>
            <a:xfrm flipH="false" flipV="false" rot="0">
              <a:off x="0" y="0"/>
              <a:ext cx="1656892" cy="1989017"/>
            </a:xfrm>
            <a:custGeom>
              <a:avLst/>
              <a:gdLst/>
              <a:ahLst/>
              <a:cxnLst/>
              <a:rect r="r" b="b" t="t" l="l"/>
              <a:pathLst>
                <a:path h="1989017" w="1656892">
                  <a:moveTo>
                    <a:pt x="0" y="0"/>
                  </a:moveTo>
                  <a:lnTo>
                    <a:pt x="1656892" y="0"/>
                  </a:lnTo>
                  <a:lnTo>
                    <a:pt x="1656892" y="1989017"/>
                  </a:lnTo>
                  <a:lnTo>
                    <a:pt x="0" y="1989017"/>
                  </a:lnTo>
                  <a:close/>
                </a:path>
              </a:pathLst>
            </a:custGeom>
            <a:solidFill>
              <a:srgbClr val="036493"/>
            </a:solidFill>
          </p:spPr>
        </p:sp>
        <p:sp>
          <p:nvSpPr>
            <p:cNvPr name="TextBox 11" id="11"/>
            <p:cNvSpPr txBox="true"/>
            <p:nvPr/>
          </p:nvSpPr>
          <p:spPr>
            <a:xfrm>
              <a:off x="0" y="-66675"/>
              <a:ext cx="1656893" cy="2055692"/>
            </a:xfrm>
            <a:prstGeom prst="rect">
              <a:avLst/>
            </a:prstGeom>
          </p:spPr>
          <p:txBody>
            <a:bodyPr anchor="ctr" rtlCol="false" tIns="50800" lIns="50800" bIns="50800" rIns="50800"/>
            <a:lstStyle/>
            <a:p>
              <a:pPr algn="ctr">
                <a:lnSpc>
                  <a:spcPts val="3494"/>
                </a:lnSpc>
              </a:pPr>
            </a:p>
          </p:txBody>
        </p:sp>
      </p:grpSp>
      <p:sp>
        <p:nvSpPr>
          <p:cNvPr name="Freeform 12" id="12"/>
          <p:cNvSpPr/>
          <p:nvPr/>
        </p:nvSpPr>
        <p:spPr>
          <a:xfrm flipH="false" flipV="false" rot="0">
            <a:off x="7874279" y="5625045"/>
            <a:ext cx="2003614" cy="2278506"/>
          </a:xfrm>
          <a:custGeom>
            <a:avLst/>
            <a:gdLst/>
            <a:ahLst/>
            <a:cxnLst/>
            <a:rect r="r" b="b" t="t" l="l"/>
            <a:pathLst>
              <a:path h="2278506" w="2003614">
                <a:moveTo>
                  <a:pt x="0" y="0"/>
                </a:moveTo>
                <a:lnTo>
                  <a:pt x="2003614" y="0"/>
                </a:lnTo>
                <a:lnTo>
                  <a:pt x="2003614" y="2278506"/>
                </a:lnTo>
                <a:lnTo>
                  <a:pt x="0" y="2278506"/>
                </a:lnTo>
                <a:lnTo>
                  <a:pt x="0" y="0"/>
                </a:lnTo>
                <a:close/>
              </a:path>
            </a:pathLst>
          </a:custGeom>
          <a:blipFill>
            <a:blip r:embed="rId3"/>
            <a:stretch>
              <a:fillRect l="-4987" t="-3139" r="0" b="-3628"/>
            </a:stretch>
          </a:blipFill>
        </p:spPr>
      </p:sp>
      <p:sp>
        <p:nvSpPr>
          <p:cNvPr name="TextBox 13" id="13"/>
          <p:cNvSpPr txBox="true"/>
          <p:nvPr/>
        </p:nvSpPr>
        <p:spPr>
          <a:xfrm rot="0">
            <a:off x="520162" y="310369"/>
            <a:ext cx="17247677" cy="854075"/>
          </a:xfrm>
          <a:prstGeom prst="rect">
            <a:avLst/>
          </a:prstGeom>
        </p:spPr>
        <p:txBody>
          <a:bodyPr anchor="t" rtlCol="false" tIns="0" lIns="0" bIns="0" rIns="0">
            <a:spAutoFit/>
          </a:bodyPr>
          <a:lstStyle/>
          <a:p>
            <a:pPr algn="ctr" marL="0" indent="0" lvl="0">
              <a:lnSpc>
                <a:spcPts val="7000"/>
              </a:lnSpc>
            </a:pPr>
            <a:r>
              <a:rPr lang="en-US" b="true" sz="5000">
                <a:solidFill>
                  <a:srgbClr val="FFFFFF"/>
                </a:solidFill>
                <a:latin typeface="Arial Nova Bold"/>
                <a:ea typeface="Arial Nova Bold"/>
                <a:cs typeface="Arial Nova Bold"/>
                <a:sym typeface="Arial Nova Bold"/>
              </a:rPr>
              <a:t>GUEST</a:t>
            </a:r>
            <a:r>
              <a:rPr lang="en-US" b="true" sz="5000">
                <a:solidFill>
                  <a:srgbClr val="FFFFFF"/>
                </a:solidFill>
                <a:latin typeface="Arial Nova Bold"/>
                <a:ea typeface="Arial Nova Bold"/>
                <a:cs typeface="Arial Nova Bold"/>
                <a:sym typeface="Arial Nova Bold"/>
              </a:rPr>
              <a:t> </a:t>
            </a:r>
            <a:r>
              <a:rPr lang="en-US" b="true" sz="5000">
                <a:solidFill>
                  <a:srgbClr val="FFFFFF"/>
                </a:solidFill>
                <a:latin typeface="Arial Nova Bold"/>
                <a:ea typeface="Arial Nova Bold"/>
                <a:cs typeface="Arial Nova Bold"/>
                <a:sym typeface="Arial Nova Bold"/>
              </a:rPr>
              <a:t>SEGMENTATION  AND DEMOGRAPHIC</a:t>
            </a:r>
            <a:r>
              <a:rPr lang="en-US" b="true" sz="5000">
                <a:solidFill>
                  <a:srgbClr val="FFFFFF"/>
                </a:solidFill>
                <a:latin typeface="Arial Nova Bold"/>
                <a:ea typeface="Arial Nova Bold"/>
                <a:cs typeface="Arial Nova Bold"/>
                <a:sym typeface="Arial Nova Bold"/>
              </a:rPr>
              <a:t> </a:t>
            </a:r>
            <a:r>
              <a:rPr lang="en-US" b="true" sz="5000">
                <a:solidFill>
                  <a:srgbClr val="FFFFFF"/>
                </a:solidFill>
                <a:latin typeface="Arial Nova Bold"/>
                <a:ea typeface="Arial Nova Bold"/>
                <a:cs typeface="Arial Nova Bold"/>
                <a:sym typeface="Arial Nova Bold"/>
              </a:rPr>
              <a:t>ANALYSIS</a:t>
            </a:r>
          </a:p>
        </p:txBody>
      </p:sp>
      <p:sp>
        <p:nvSpPr>
          <p:cNvPr name="TextBox 14" id="14"/>
          <p:cNvSpPr txBox="true"/>
          <p:nvPr/>
        </p:nvSpPr>
        <p:spPr>
          <a:xfrm rot="0">
            <a:off x="11620109" y="1351926"/>
            <a:ext cx="6004446" cy="7407275"/>
          </a:xfrm>
          <a:prstGeom prst="rect">
            <a:avLst/>
          </a:prstGeom>
        </p:spPr>
        <p:txBody>
          <a:bodyPr anchor="t" rtlCol="false" tIns="0" lIns="0" bIns="0" rIns="0">
            <a:spAutoFit/>
          </a:bodyPr>
          <a:lstStyle/>
          <a:p>
            <a:pPr algn="just" marL="453388" indent="-226694" lvl="1">
              <a:lnSpc>
                <a:spcPts val="2939"/>
              </a:lnSpc>
              <a:buFont typeface="Arial"/>
              <a:buChar char="•"/>
            </a:pPr>
            <a:r>
              <a:rPr lang="en-US" b="true" sz="2099">
                <a:solidFill>
                  <a:srgbClr val="FF914D"/>
                </a:solidFill>
                <a:latin typeface="Arial Nova Bold"/>
                <a:ea typeface="Arial Nova Bold"/>
                <a:cs typeface="Arial Nova Bold"/>
                <a:sym typeface="Arial Nova Bold"/>
              </a:rPr>
              <a:t>Visual Overview</a:t>
            </a:r>
          </a:p>
          <a:p>
            <a:pPr algn="just">
              <a:lnSpc>
                <a:spcPts val="2659"/>
              </a:lnSpc>
            </a:pPr>
          </a:p>
          <a:p>
            <a:pPr algn="just" marL="820419" indent="-273473" lvl="2">
              <a:lnSpc>
                <a:spcPts val="2659"/>
              </a:lnSpc>
              <a:buFont typeface="Arial"/>
              <a:buChar char="⚬"/>
            </a:pPr>
            <a:r>
              <a:rPr lang="en-US" sz="1899">
                <a:solidFill>
                  <a:srgbClr val="FFFFFF"/>
                </a:solidFill>
                <a:latin typeface="Arial Nova"/>
                <a:ea typeface="Arial Nova"/>
                <a:cs typeface="Arial Nova"/>
                <a:sym typeface="Arial Nova"/>
              </a:rPr>
              <a:t>The chart maps Spend Score (X-Axis) against Frequency Score (Y-Axis).</a:t>
            </a:r>
          </a:p>
          <a:p>
            <a:pPr algn="just">
              <a:lnSpc>
                <a:spcPts val="2659"/>
              </a:lnSpc>
            </a:pPr>
          </a:p>
          <a:p>
            <a:pPr algn="just" marL="820419" indent="-273473" lvl="2">
              <a:lnSpc>
                <a:spcPts val="2659"/>
              </a:lnSpc>
              <a:buFont typeface="Arial"/>
              <a:buChar char="⚬"/>
            </a:pPr>
            <a:r>
              <a:rPr lang="en-US" sz="1899">
                <a:solidFill>
                  <a:srgbClr val="FFFFFF"/>
                </a:solidFill>
                <a:latin typeface="Arial Nova"/>
                <a:ea typeface="Arial Nova"/>
                <a:cs typeface="Arial Nova"/>
                <a:sym typeface="Arial Nova"/>
              </a:rPr>
              <a:t>It reveals a near-perfect linear relationship: </a:t>
            </a:r>
          </a:p>
          <a:p>
            <a:pPr algn="just">
              <a:lnSpc>
                <a:spcPts val="2659"/>
              </a:lnSpc>
            </a:pPr>
            <a:r>
              <a:rPr lang="en-US" sz="1899">
                <a:solidFill>
                  <a:srgbClr val="FFFFFF"/>
                </a:solidFill>
                <a:latin typeface="Arial Nova"/>
                <a:ea typeface="Arial Nova"/>
                <a:cs typeface="Arial Nova"/>
                <a:sym typeface="Arial Nova"/>
              </a:rPr>
              <a:t>             </a:t>
            </a:r>
            <a:r>
              <a:rPr lang="en-US" sz="1899" b="true">
                <a:solidFill>
                  <a:srgbClr val="FFFFFF"/>
                </a:solidFill>
                <a:latin typeface="Arial Nova Bold"/>
                <a:ea typeface="Arial Nova Bold"/>
                <a:cs typeface="Arial Nova Bold"/>
                <a:sym typeface="Arial Nova Bold"/>
              </a:rPr>
              <a:t>Higher Frequency = Higher Total Spend</a:t>
            </a:r>
          </a:p>
          <a:p>
            <a:pPr algn="just">
              <a:lnSpc>
                <a:spcPts val="2659"/>
              </a:lnSpc>
            </a:pPr>
          </a:p>
          <a:p>
            <a:pPr algn="just" marL="453388" indent="-226694" lvl="1">
              <a:lnSpc>
                <a:spcPts val="2939"/>
              </a:lnSpc>
              <a:buFont typeface="Arial"/>
              <a:buChar char="•"/>
            </a:pPr>
            <a:r>
              <a:rPr lang="en-US" b="true" sz="2099">
                <a:solidFill>
                  <a:srgbClr val="FF914D"/>
                </a:solidFill>
                <a:latin typeface="Arial Nova Bold"/>
                <a:ea typeface="Arial Nova Bold"/>
                <a:cs typeface="Arial Nova Bold"/>
                <a:sym typeface="Arial Nova Bold"/>
              </a:rPr>
              <a:t>Key Performance Insights</a:t>
            </a:r>
          </a:p>
          <a:p>
            <a:pPr algn="just">
              <a:lnSpc>
                <a:spcPts val="2659"/>
              </a:lnSpc>
            </a:pPr>
          </a:p>
          <a:p>
            <a:pPr algn="just" marL="820419" indent="-273473" lvl="2">
              <a:lnSpc>
                <a:spcPts val="2659"/>
              </a:lnSpc>
              <a:buFont typeface="Arial"/>
              <a:buChar char="⚬"/>
            </a:pPr>
            <a:r>
              <a:rPr lang="en-US" b="true" sz="1899">
                <a:solidFill>
                  <a:srgbClr val="FFFFFF"/>
                </a:solidFill>
                <a:latin typeface="Arial Nova Bold"/>
                <a:ea typeface="Arial Nova Bold"/>
                <a:cs typeface="Arial Nova Bold"/>
                <a:sym typeface="Arial Nova Bold"/>
              </a:rPr>
              <a:t>Volume-Driven Revenue:</a:t>
            </a:r>
            <a:r>
              <a:rPr lang="en-US" sz="1899">
                <a:solidFill>
                  <a:srgbClr val="FFFFFF"/>
                </a:solidFill>
                <a:latin typeface="Arial Nova"/>
                <a:ea typeface="Arial Nova"/>
                <a:cs typeface="Arial Nova"/>
                <a:sym typeface="Arial Nova"/>
              </a:rPr>
              <a:t> There are no "one-time big spenders"; the highest spenders are simply the most frequent visitors.</a:t>
            </a:r>
          </a:p>
          <a:p>
            <a:pPr algn="just">
              <a:lnSpc>
                <a:spcPts val="2659"/>
              </a:lnSpc>
            </a:pPr>
          </a:p>
          <a:p>
            <a:pPr algn="just" marL="820419" indent="-273473" lvl="2">
              <a:lnSpc>
                <a:spcPts val="2659"/>
              </a:lnSpc>
              <a:buFont typeface="Arial"/>
              <a:buChar char="⚬"/>
            </a:pPr>
            <a:r>
              <a:rPr lang="en-US" b="true" sz="1899">
                <a:solidFill>
                  <a:srgbClr val="FFFFFF"/>
                </a:solidFill>
                <a:latin typeface="Arial Nova Bold"/>
                <a:ea typeface="Arial Nova Bold"/>
                <a:cs typeface="Arial Nova Bold"/>
                <a:sym typeface="Arial Nova Bold"/>
              </a:rPr>
              <a:t>The "Elite" Tier:</a:t>
            </a:r>
            <a:r>
              <a:rPr lang="en-US" sz="1899">
                <a:solidFill>
                  <a:srgbClr val="FFFFFF"/>
                </a:solidFill>
                <a:latin typeface="Arial Nova"/>
                <a:ea typeface="Arial Nova"/>
                <a:cs typeface="Arial Nova"/>
                <a:sym typeface="Arial Nova"/>
              </a:rPr>
              <a:t> The High Spender cluster (Dark Blue) outperforms "Loyal Guests" in both visit count and total revenue.</a:t>
            </a:r>
          </a:p>
          <a:p>
            <a:pPr algn="just">
              <a:lnSpc>
                <a:spcPts val="2659"/>
              </a:lnSpc>
            </a:pPr>
          </a:p>
          <a:p>
            <a:pPr algn="just" marL="820419" indent="-273473" lvl="2">
              <a:lnSpc>
                <a:spcPts val="2659"/>
              </a:lnSpc>
              <a:spcBef>
                <a:spcPct val="0"/>
              </a:spcBef>
              <a:buFont typeface="Arial"/>
              <a:buChar char="⚬"/>
            </a:pPr>
            <a:r>
              <a:rPr lang="en-US" b="true" sz="1899">
                <a:solidFill>
                  <a:srgbClr val="FFFFFF"/>
                </a:solidFill>
                <a:latin typeface="Arial Nova Bold"/>
                <a:ea typeface="Arial Nova Bold"/>
                <a:cs typeface="Arial Nova Bold"/>
                <a:sym typeface="Arial Nova Bold"/>
              </a:rPr>
              <a:t>The "Other" Bottleneck:</a:t>
            </a:r>
            <a:r>
              <a:rPr lang="en-US" sz="1899">
                <a:solidFill>
                  <a:srgbClr val="FFFFFF"/>
                </a:solidFill>
                <a:latin typeface="Arial Nova"/>
                <a:ea typeface="Arial Nova"/>
                <a:cs typeface="Arial Nova"/>
                <a:sym typeface="Arial Nova"/>
              </a:rPr>
              <a:t> A massive density of low-value guests (Purple) sits at the bottom-left (&lt;0.5M Spend). These guests visit rarely and spend little.</a:t>
            </a:r>
          </a:p>
        </p:txBody>
      </p:sp>
      <p:sp>
        <p:nvSpPr>
          <p:cNvPr name="TextBox 15" id="15"/>
          <p:cNvSpPr txBox="true"/>
          <p:nvPr/>
        </p:nvSpPr>
        <p:spPr>
          <a:xfrm rot="0">
            <a:off x="1669941" y="8807775"/>
            <a:ext cx="7936168" cy="701675"/>
          </a:xfrm>
          <a:prstGeom prst="rect">
            <a:avLst/>
          </a:prstGeom>
        </p:spPr>
        <p:txBody>
          <a:bodyPr anchor="t" rtlCol="false" tIns="0" lIns="0" bIns="0" rIns="0">
            <a:spAutoFit/>
          </a:bodyPr>
          <a:lstStyle/>
          <a:p>
            <a:pPr algn="ctr">
              <a:lnSpc>
                <a:spcPts val="2800"/>
              </a:lnSpc>
              <a:spcBef>
                <a:spcPct val="0"/>
              </a:spcBef>
            </a:pPr>
            <a:r>
              <a:rPr lang="en-US" b="true" sz="2000" i="true">
                <a:solidFill>
                  <a:srgbClr val="2EC4B6"/>
                </a:solidFill>
                <a:latin typeface="Arial Nova Bold Italics"/>
                <a:ea typeface="Arial Nova Bold Italics"/>
                <a:cs typeface="Arial Nova Bold Italics"/>
                <a:sym typeface="Arial Nova Bold Italics"/>
              </a:rPr>
              <a:t>High Spenders significantly outperforms Loyal Guests in</a:t>
            </a:r>
          </a:p>
          <a:p>
            <a:pPr algn="ctr">
              <a:lnSpc>
                <a:spcPts val="2800"/>
              </a:lnSpc>
              <a:spcBef>
                <a:spcPct val="0"/>
              </a:spcBef>
            </a:pPr>
            <a:r>
              <a:rPr lang="en-US" b="true" sz="2000" i="true">
                <a:solidFill>
                  <a:srgbClr val="2EC4B6"/>
                </a:solidFill>
                <a:latin typeface="Arial Nova Bold Italics"/>
                <a:ea typeface="Arial Nova Bold Italics"/>
                <a:cs typeface="Arial Nova Bold Italics"/>
                <a:sym typeface="Arial Nova Bold Italics"/>
              </a:rPr>
              <a:t>both visit frequency and total spend.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8" id="8"/>
          <p:cNvSpPr txBox="true"/>
          <p:nvPr/>
        </p:nvSpPr>
        <p:spPr>
          <a:xfrm rot="0">
            <a:off x="556171" y="374966"/>
            <a:ext cx="17141518" cy="821055"/>
          </a:xfrm>
          <a:prstGeom prst="rect">
            <a:avLst/>
          </a:prstGeom>
        </p:spPr>
        <p:txBody>
          <a:bodyPr anchor="t" rtlCol="false" tIns="0" lIns="0" bIns="0" rIns="0">
            <a:spAutoFit/>
          </a:bodyPr>
          <a:lstStyle/>
          <a:p>
            <a:pPr algn="ctr">
              <a:lnSpc>
                <a:spcPts val="6719"/>
              </a:lnSpc>
            </a:pPr>
            <a:r>
              <a:rPr lang="en-US" b="true" sz="4800">
                <a:solidFill>
                  <a:srgbClr val="FFFFFF"/>
                </a:solidFill>
                <a:latin typeface="Arial Nova Bold"/>
                <a:ea typeface="Arial Nova Bold"/>
                <a:cs typeface="Arial Nova Bold"/>
                <a:sym typeface="Arial Nova Bold"/>
              </a:rPr>
              <a:t>MODULE 4: FORECASTING AND CANCELLATION TRENDS</a:t>
            </a:r>
          </a:p>
        </p:txBody>
      </p:sp>
      <p:grpSp>
        <p:nvGrpSpPr>
          <p:cNvPr name="Group 9" id="9"/>
          <p:cNvGrpSpPr/>
          <p:nvPr/>
        </p:nvGrpSpPr>
        <p:grpSpPr>
          <a:xfrm rot="0">
            <a:off x="556171" y="1516061"/>
            <a:ext cx="17141518" cy="7924800"/>
            <a:chOff x="0" y="0"/>
            <a:chExt cx="4514638" cy="2087190"/>
          </a:xfrm>
        </p:grpSpPr>
        <p:sp>
          <p:nvSpPr>
            <p:cNvPr name="Freeform 10" id="10"/>
            <p:cNvSpPr/>
            <p:nvPr/>
          </p:nvSpPr>
          <p:spPr>
            <a:xfrm flipH="false" flipV="false" rot="0">
              <a:off x="0" y="0"/>
              <a:ext cx="4514638" cy="2087190"/>
            </a:xfrm>
            <a:custGeom>
              <a:avLst/>
              <a:gdLst/>
              <a:ahLst/>
              <a:cxnLst/>
              <a:rect r="r" b="b" t="t" l="l"/>
              <a:pathLst>
                <a:path h="2087190" w="4514638">
                  <a:moveTo>
                    <a:pt x="0" y="0"/>
                  </a:moveTo>
                  <a:lnTo>
                    <a:pt x="4514638" y="0"/>
                  </a:lnTo>
                  <a:lnTo>
                    <a:pt x="4514638" y="2087190"/>
                  </a:lnTo>
                  <a:lnTo>
                    <a:pt x="0" y="2087190"/>
                  </a:lnTo>
                  <a:close/>
                </a:path>
              </a:pathLst>
            </a:custGeom>
            <a:solidFill>
              <a:srgbClr val="036493"/>
            </a:solidFill>
          </p:spPr>
        </p:sp>
        <p:sp>
          <p:nvSpPr>
            <p:cNvPr name="TextBox 11" id="11"/>
            <p:cNvSpPr txBox="true"/>
            <p:nvPr/>
          </p:nvSpPr>
          <p:spPr>
            <a:xfrm>
              <a:off x="0" y="-66675"/>
              <a:ext cx="4514638" cy="2153865"/>
            </a:xfrm>
            <a:prstGeom prst="rect">
              <a:avLst/>
            </a:prstGeom>
          </p:spPr>
          <p:txBody>
            <a:bodyPr anchor="ctr" rtlCol="false" tIns="50800" lIns="50800" bIns="50800" rIns="50800"/>
            <a:lstStyle/>
            <a:p>
              <a:pPr algn="ctr">
                <a:lnSpc>
                  <a:spcPts val="3494"/>
                </a:lnSpc>
              </a:pPr>
            </a:p>
          </p:txBody>
        </p:sp>
      </p:grpSp>
      <p:sp>
        <p:nvSpPr>
          <p:cNvPr name="TextBox 12" id="12"/>
          <p:cNvSpPr txBox="true"/>
          <p:nvPr/>
        </p:nvSpPr>
        <p:spPr>
          <a:xfrm rot="0">
            <a:off x="820948" y="1600516"/>
            <a:ext cx="16611964" cy="7698740"/>
          </a:xfrm>
          <a:prstGeom prst="rect">
            <a:avLst/>
          </a:prstGeom>
        </p:spPr>
        <p:txBody>
          <a:bodyPr anchor="t" rtlCol="false" tIns="0" lIns="0" bIns="0" rIns="0">
            <a:spAutoFit/>
          </a:bodyPr>
          <a:lstStyle/>
          <a:p>
            <a:pPr algn="l">
              <a:lnSpc>
                <a:spcPts val="4060"/>
              </a:lnSpc>
              <a:spcBef>
                <a:spcPct val="0"/>
              </a:spcBef>
            </a:pPr>
            <a:r>
              <a:rPr lang="en-US" sz="2900" b="true">
                <a:solidFill>
                  <a:srgbClr val="FF914D"/>
                </a:solidFill>
                <a:latin typeface="Arial Nova Bold"/>
                <a:ea typeface="Arial Nova Bold"/>
                <a:cs typeface="Arial Nova Bold"/>
                <a:sym typeface="Arial Nova Bold"/>
              </a:rPr>
              <a:t>Purpose of M</a:t>
            </a:r>
            <a:r>
              <a:rPr lang="en-US" b="true" sz="2900">
                <a:solidFill>
                  <a:srgbClr val="FF914D"/>
                </a:solidFill>
                <a:latin typeface="Arial Nova Bold"/>
                <a:ea typeface="Arial Nova Bold"/>
                <a:cs typeface="Arial Nova Bold"/>
                <a:sym typeface="Arial Nova Bold"/>
              </a:rPr>
              <a:t>odule:</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This module analyzes booking behavior and operational risks that directly affect hotel revenue realization.</a:t>
            </a:r>
          </a:p>
          <a:p>
            <a:pPr algn="l">
              <a:lnSpc>
                <a:spcPts val="4060"/>
              </a:lnSpc>
            </a:pPr>
          </a:p>
          <a:p>
            <a:pPr algn="l">
              <a:lnSpc>
                <a:spcPts val="4060"/>
              </a:lnSpc>
            </a:pPr>
            <a:r>
              <a:rPr lang="en-US" sz="2900" b="true">
                <a:solidFill>
                  <a:srgbClr val="FF914D"/>
                </a:solidFill>
                <a:latin typeface="Arial Nova Bold"/>
                <a:ea typeface="Arial Nova Bold"/>
                <a:cs typeface="Arial Nova Bold"/>
                <a:sym typeface="Arial Nova Bold"/>
              </a:rPr>
              <a:t>Key insights delivered:</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Occupancy forecasting (Future Scope)</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Cancellation trends</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Lead time distribution</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Refund and no-show behavior</a:t>
            </a:r>
          </a:p>
          <a:p>
            <a:pPr algn="l">
              <a:lnSpc>
                <a:spcPts val="4060"/>
              </a:lnSpc>
            </a:pPr>
          </a:p>
          <a:p>
            <a:pPr algn="l">
              <a:lnSpc>
                <a:spcPts val="4060"/>
              </a:lnSpc>
            </a:pPr>
            <a:r>
              <a:rPr lang="en-US" sz="2900" b="true">
                <a:solidFill>
                  <a:srgbClr val="FF914D"/>
                </a:solidFill>
                <a:latin typeface="Arial Nova Bold"/>
                <a:ea typeface="Arial Nova Bold"/>
                <a:cs typeface="Arial Nova Bold"/>
                <a:sym typeface="Arial Nova Bold"/>
              </a:rPr>
              <a:t>Business Value:</a:t>
            </a:r>
            <a:r>
              <a:rPr lang="en-US" sz="2900">
                <a:solidFill>
                  <a:srgbClr val="FFFFFF"/>
                </a:solidFill>
                <a:latin typeface="Arial Nova"/>
                <a:ea typeface="Arial Nova"/>
                <a:cs typeface="Arial Nova"/>
                <a:sym typeface="Arial Nova"/>
              </a:rPr>
              <a:t> </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Helps management anticipate demand uncertainty</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Identifies revenue leakage risks due to cancellations and no-shows</a:t>
            </a:r>
          </a:p>
          <a:p>
            <a:pPr algn="l" marL="626111" indent="-313055" lvl="1">
              <a:lnSpc>
                <a:spcPts val="4060"/>
              </a:lnSpc>
              <a:buFont typeface="Arial"/>
              <a:buChar char="•"/>
            </a:pPr>
            <a:r>
              <a:rPr lang="en-US" sz="2900">
                <a:solidFill>
                  <a:srgbClr val="FFFFFF"/>
                </a:solidFill>
                <a:latin typeface="Arial Nova"/>
                <a:ea typeface="Arial Nova"/>
                <a:cs typeface="Arial Nova"/>
                <a:sym typeface="Arial Nova"/>
              </a:rPr>
              <a:t>Improves forecast accuracy and capacity planning</a:t>
            </a:r>
          </a:p>
          <a:p>
            <a:pPr algn="l" marL="626111" indent="-313055" lvl="1">
              <a:lnSpc>
                <a:spcPts val="4060"/>
              </a:lnSpc>
              <a:spcBef>
                <a:spcPct val="0"/>
              </a:spcBef>
              <a:buFont typeface="Arial"/>
              <a:buChar char="•"/>
            </a:pPr>
            <a:r>
              <a:rPr lang="en-US" sz="2900">
                <a:solidFill>
                  <a:srgbClr val="FFFFFF"/>
                </a:solidFill>
                <a:latin typeface="Arial Nova"/>
                <a:ea typeface="Arial Nova"/>
                <a:cs typeface="Arial Nova"/>
                <a:sym typeface="Arial Nova"/>
              </a:rPr>
              <a:t>Supports proactive overbooking and cancellation policies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514350" y="1467176"/>
            <a:ext cx="14127085" cy="7855331"/>
          </a:xfrm>
          <a:custGeom>
            <a:avLst/>
            <a:gdLst/>
            <a:ahLst/>
            <a:cxnLst/>
            <a:rect r="r" b="b" t="t" l="l"/>
            <a:pathLst>
              <a:path h="7855331" w="14127085">
                <a:moveTo>
                  <a:pt x="0" y="0"/>
                </a:moveTo>
                <a:lnTo>
                  <a:pt x="14127085" y="0"/>
                </a:lnTo>
                <a:lnTo>
                  <a:pt x="14127085" y="7855331"/>
                </a:lnTo>
                <a:lnTo>
                  <a:pt x="0" y="7855331"/>
                </a:lnTo>
                <a:lnTo>
                  <a:pt x="0" y="0"/>
                </a:lnTo>
                <a:close/>
              </a:path>
            </a:pathLst>
          </a:custGeom>
          <a:blipFill>
            <a:blip r:embed="rId2"/>
            <a:stretch>
              <a:fillRect l="0" t="-243" r="0" b="-243"/>
            </a:stretch>
          </a:blipFill>
        </p:spPr>
      </p:sp>
      <p:sp>
        <p:nvSpPr>
          <p:cNvPr name="TextBox 9" id="9"/>
          <p:cNvSpPr txBox="true"/>
          <p:nvPr/>
        </p:nvSpPr>
        <p:spPr>
          <a:xfrm rot="0">
            <a:off x="514350" y="351605"/>
            <a:ext cx="17259300" cy="821055"/>
          </a:xfrm>
          <a:prstGeom prst="rect">
            <a:avLst/>
          </a:prstGeom>
        </p:spPr>
        <p:txBody>
          <a:bodyPr anchor="t" rtlCol="false" tIns="0" lIns="0" bIns="0" rIns="0">
            <a:spAutoFit/>
          </a:bodyPr>
          <a:lstStyle/>
          <a:p>
            <a:pPr algn="ctr">
              <a:lnSpc>
                <a:spcPts val="6719"/>
              </a:lnSpc>
              <a:spcBef>
                <a:spcPct val="0"/>
              </a:spcBef>
            </a:pPr>
            <a:r>
              <a:rPr lang="en-US" b="true" sz="4800">
                <a:solidFill>
                  <a:srgbClr val="FFFFFF"/>
                </a:solidFill>
                <a:latin typeface="Arial Nova Bold"/>
                <a:ea typeface="Arial Nova Bold"/>
                <a:cs typeface="Arial Nova Bold"/>
                <a:sym typeface="Arial Nova Bold"/>
              </a:rPr>
              <a:t>FORECASTING AND CANCELLATION INSIGHTS</a:t>
            </a:r>
          </a:p>
        </p:txBody>
      </p:sp>
      <p:grpSp>
        <p:nvGrpSpPr>
          <p:cNvPr name="Group 10" id="10"/>
          <p:cNvGrpSpPr/>
          <p:nvPr/>
        </p:nvGrpSpPr>
        <p:grpSpPr>
          <a:xfrm rot="0">
            <a:off x="14732600" y="1397707"/>
            <a:ext cx="3041050" cy="7924800"/>
            <a:chOff x="0" y="0"/>
            <a:chExt cx="800935" cy="2087190"/>
          </a:xfrm>
        </p:grpSpPr>
        <p:sp>
          <p:nvSpPr>
            <p:cNvPr name="Freeform 11" id="11"/>
            <p:cNvSpPr/>
            <p:nvPr/>
          </p:nvSpPr>
          <p:spPr>
            <a:xfrm flipH="false" flipV="false" rot="0">
              <a:off x="0" y="0"/>
              <a:ext cx="800935" cy="2087190"/>
            </a:xfrm>
            <a:custGeom>
              <a:avLst/>
              <a:gdLst/>
              <a:ahLst/>
              <a:cxnLst/>
              <a:rect r="r" b="b" t="t" l="l"/>
              <a:pathLst>
                <a:path h="2087190" w="800935">
                  <a:moveTo>
                    <a:pt x="0" y="0"/>
                  </a:moveTo>
                  <a:lnTo>
                    <a:pt x="800935" y="0"/>
                  </a:lnTo>
                  <a:lnTo>
                    <a:pt x="800935" y="2087190"/>
                  </a:lnTo>
                  <a:lnTo>
                    <a:pt x="0" y="2087190"/>
                  </a:lnTo>
                  <a:close/>
                </a:path>
              </a:pathLst>
            </a:custGeom>
            <a:solidFill>
              <a:srgbClr val="036493"/>
            </a:solidFill>
          </p:spPr>
        </p:sp>
        <p:sp>
          <p:nvSpPr>
            <p:cNvPr name="TextBox 12" id="12"/>
            <p:cNvSpPr txBox="true"/>
            <p:nvPr/>
          </p:nvSpPr>
          <p:spPr>
            <a:xfrm>
              <a:off x="0" y="-66675"/>
              <a:ext cx="800935" cy="2153865"/>
            </a:xfrm>
            <a:prstGeom prst="rect">
              <a:avLst/>
            </a:prstGeom>
          </p:spPr>
          <p:txBody>
            <a:bodyPr anchor="ctr" rtlCol="false" tIns="50800" lIns="50800" bIns="50800" rIns="50800"/>
            <a:lstStyle/>
            <a:p>
              <a:pPr algn="ctr">
                <a:lnSpc>
                  <a:spcPts val="3494"/>
                </a:lnSpc>
              </a:pPr>
            </a:p>
          </p:txBody>
        </p:sp>
      </p:grpSp>
      <p:sp>
        <p:nvSpPr>
          <p:cNvPr name="TextBox 13" id="13"/>
          <p:cNvSpPr txBox="true"/>
          <p:nvPr/>
        </p:nvSpPr>
        <p:spPr>
          <a:xfrm rot="0">
            <a:off x="14785940" y="1389515"/>
            <a:ext cx="2934370" cy="7893558"/>
          </a:xfrm>
          <a:prstGeom prst="rect">
            <a:avLst/>
          </a:prstGeom>
        </p:spPr>
        <p:txBody>
          <a:bodyPr anchor="t" rtlCol="false" tIns="0" lIns="0" bIns="0" rIns="0">
            <a:spAutoFit/>
          </a:bodyPr>
          <a:lstStyle/>
          <a:p>
            <a:pPr algn="l">
              <a:lnSpc>
                <a:spcPts val="2841"/>
              </a:lnSpc>
            </a:pPr>
            <a:r>
              <a:rPr lang="en-US" sz="2029" b="true">
                <a:solidFill>
                  <a:srgbClr val="FFFFFF"/>
                </a:solidFill>
                <a:latin typeface="Arial Nova Bold"/>
                <a:ea typeface="Arial Nova Bold"/>
                <a:cs typeface="Arial Nova Bold"/>
                <a:sym typeface="Arial Nova Bold"/>
              </a:rPr>
              <a:t>   </a:t>
            </a:r>
            <a:r>
              <a:rPr lang="en-US" sz="2029" b="true">
                <a:solidFill>
                  <a:srgbClr val="FF914D"/>
                </a:solidFill>
                <a:latin typeface="Arial Nova Bold"/>
                <a:ea typeface="Arial Nova Bold"/>
                <a:cs typeface="Arial Nova Bold"/>
                <a:sym typeface="Arial Nova Bold"/>
              </a:rPr>
              <a:t>Key Insights:</a:t>
            </a:r>
          </a:p>
          <a:p>
            <a:pPr algn="l">
              <a:lnSpc>
                <a:spcPts val="2701"/>
              </a:lnSpc>
            </a:pPr>
          </a:p>
          <a:p>
            <a:pPr algn="l" marL="416686" indent="-208343" lvl="1">
              <a:lnSpc>
                <a:spcPts val="2701"/>
              </a:lnSpc>
              <a:buFont typeface="Arial"/>
              <a:buChar char="•"/>
            </a:pPr>
            <a:r>
              <a:rPr lang="en-US" b="true" sz="1929">
                <a:solidFill>
                  <a:srgbClr val="FFFFFF"/>
                </a:solidFill>
                <a:latin typeface="Arial Nova Bold"/>
                <a:ea typeface="Arial Nova Bold"/>
                <a:cs typeface="Arial Nova Bold"/>
                <a:sym typeface="Arial Nova Bold"/>
              </a:rPr>
              <a:t>Occupancy:</a:t>
            </a:r>
            <a:r>
              <a:rPr lang="en-US" sz="1929">
                <a:solidFill>
                  <a:srgbClr val="FFFFFF"/>
                </a:solidFill>
                <a:latin typeface="Arial Nova"/>
                <a:ea typeface="Arial Nova"/>
                <a:cs typeface="Arial Nova"/>
                <a:sym typeface="Arial Nova"/>
              </a:rPr>
              <a:t> Increased to 55.69% (2024), dropped to 54.89% (2025) with uncertain outlook.</a:t>
            </a:r>
          </a:p>
          <a:p>
            <a:pPr algn="l">
              <a:lnSpc>
                <a:spcPts val="2701"/>
              </a:lnSpc>
            </a:pPr>
          </a:p>
          <a:p>
            <a:pPr algn="l" marL="416686" indent="-208343" lvl="1">
              <a:lnSpc>
                <a:spcPts val="2701"/>
              </a:lnSpc>
              <a:buFont typeface="Arial"/>
              <a:buChar char="•"/>
            </a:pPr>
            <a:r>
              <a:rPr lang="en-US" b="true" sz="1929">
                <a:solidFill>
                  <a:srgbClr val="FFFFFF"/>
                </a:solidFill>
                <a:latin typeface="Arial Nova Bold"/>
                <a:ea typeface="Arial Nova Bold"/>
                <a:cs typeface="Arial Nova Bold"/>
                <a:sym typeface="Arial Nova Bold"/>
              </a:rPr>
              <a:t>Cancellation Rate:</a:t>
            </a:r>
            <a:r>
              <a:rPr lang="en-US" sz="1929">
                <a:solidFill>
                  <a:srgbClr val="FFFFFF"/>
                </a:solidFill>
                <a:latin typeface="Arial Nova"/>
                <a:ea typeface="Arial Nova"/>
                <a:cs typeface="Arial Nova"/>
                <a:sym typeface="Arial Nova"/>
              </a:rPr>
              <a:t> Fluctuates between ~29% and ~38% across months.</a:t>
            </a:r>
          </a:p>
          <a:p>
            <a:pPr algn="l">
              <a:lnSpc>
                <a:spcPts val="2701"/>
              </a:lnSpc>
            </a:pPr>
          </a:p>
          <a:p>
            <a:pPr algn="l" marL="416686" indent="-208343" lvl="1">
              <a:lnSpc>
                <a:spcPts val="2701"/>
              </a:lnSpc>
              <a:buFont typeface="Arial"/>
              <a:buChar char="•"/>
            </a:pPr>
            <a:r>
              <a:rPr lang="en-US" b="true" sz="1929">
                <a:solidFill>
                  <a:srgbClr val="FFFFFF"/>
                </a:solidFill>
                <a:latin typeface="Arial Nova Bold"/>
                <a:ea typeface="Arial Nova Bold"/>
                <a:cs typeface="Arial Nova Bold"/>
                <a:sym typeface="Arial Nova Bold"/>
              </a:rPr>
              <a:t>Lead Time:</a:t>
            </a:r>
            <a:r>
              <a:rPr lang="en-US" sz="1929">
                <a:solidFill>
                  <a:srgbClr val="FFFFFF"/>
                </a:solidFill>
                <a:latin typeface="Arial Nova"/>
                <a:ea typeface="Arial Nova"/>
                <a:cs typeface="Arial Nova"/>
                <a:sym typeface="Arial Nova"/>
              </a:rPr>
              <a:t> Majority bookings fall within 0–60 days, showing mixed booking behavior.</a:t>
            </a:r>
          </a:p>
          <a:p>
            <a:pPr algn="l">
              <a:lnSpc>
                <a:spcPts val="2701"/>
              </a:lnSpc>
            </a:pPr>
          </a:p>
          <a:p>
            <a:pPr algn="l" marL="416686" indent="-208343" lvl="1">
              <a:lnSpc>
                <a:spcPts val="2701"/>
              </a:lnSpc>
              <a:spcBef>
                <a:spcPct val="0"/>
              </a:spcBef>
              <a:buFont typeface="Arial"/>
              <a:buChar char="•"/>
            </a:pPr>
            <a:r>
              <a:rPr lang="en-US" b="true" sz="1929">
                <a:solidFill>
                  <a:srgbClr val="FFFFFF"/>
                </a:solidFill>
                <a:latin typeface="Arial Nova Bold"/>
                <a:ea typeface="Arial Nova Bold"/>
                <a:cs typeface="Arial Nova Bold"/>
                <a:sym typeface="Arial Nova Bold"/>
              </a:rPr>
              <a:t>Refunds &amp; No-Shows:</a:t>
            </a:r>
            <a:r>
              <a:rPr lang="en-US" sz="1929">
                <a:solidFill>
                  <a:srgbClr val="FFFFFF"/>
                </a:solidFill>
                <a:latin typeface="Arial Nova"/>
                <a:ea typeface="Arial Nova"/>
                <a:cs typeface="Arial Nova"/>
                <a:sym typeface="Arial Nova"/>
              </a:rPr>
              <a:t> Around 2K–3.4K bookings per year, nearly equal in volume.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8" id="8"/>
          <p:cNvSpPr txBox="true"/>
          <p:nvPr/>
        </p:nvSpPr>
        <p:spPr>
          <a:xfrm rot="0">
            <a:off x="568308" y="421301"/>
            <a:ext cx="17174461"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Arial Nova Bold"/>
                <a:ea typeface="Arial Nova Bold"/>
                <a:cs typeface="Arial Nova Bold"/>
                <a:sym typeface="Arial Nova Bold"/>
              </a:rPr>
              <a:t>KEY MEASURES &amp; CALCULATIONS USED IN POWER BI</a:t>
            </a:r>
          </a:p>
        </p:txBody>
      </p:sp>
      <p:grpSp>
        <p:nvGrpSpPr>
          <p:cNvPr name="Group 9" id="9"/>
          <p:cNvGrpSpPr/>
          <p:nvPr/>
        </p:nvGrpSpPr>
        <p:grpSpPr>
          <a:xfrm rot="0">
            <a:off x="568308" y="1551981"/>
            <a:ext cx="17174461" cy="7924800"/>
            <a:chOff x="0" y="0"/>
            <a:chExt cx="4523315" cy="2087190"/>
          </a:xfrm>
        </p:grpSpPr>
        <p:sp>
          <p:nvSpPr>
            <p:cNvPr name="Freeform 10" id="10"/>
            <p:cNvSpPr/>
            <p:nvPr/>
          </p:nvSpPr>
          <p:spPr>
            <a:xfrm flipH="false" flipV="false" rot="0">
              <a:off x="0" y="0"/>
              <a:ext cx="4523315" cy="2087190"/>
            </a:xfrm>
            <a:custGeom>
              <a:avLst/>
              <a:gdLst/>
              <a:ahLst/>
              <a:cxnLst/>
              <a:rect r="r" b="b" t="t" l="l"/>
              <a:pathLst>
                <a:path h="2087190" w="4523315">
                  <a:moveTo>
                    <a:pt x="0" y="0"/>
                  </a:moveTo>
                  <a:lnTo>
                    <a:pt x="4523315" y="0"/>
                  </a:lnTo>
                  <a:lnTo>
                    <a:pt x="4523315" y="2087190"/>
                  </a:lnTo>
                  <a:lnTo>
                    <a:pt x="0" y="2087190"/>
                  </a:lnTo>
                  <a:close/>
                </a:path>
              </a:pathLst>
            </a:custGeom>
            <a:solidFill>
              <a:srgbClr val="036493"/>
            </a:solidFill>
          </p:spPr>
        </p:sp>
        <p:sp>
          <p:nvSpPr>
            <p:cNvPr name="TextBox 11" id="11"/>
            <p:cNvSpPr txBox="true"/>
            <p:nvPr/>
          </p:nvSpPr>
          <p:spPr>
            <a:xfrm>
              <a:off x="0" y="-66675"/>
              <a:ext cx="4523315" cy="2153865"/>
            </a:xfrm>
            <a:prstGeom prst="rect">
              <a:avLst/>
            </a:prstGeom>
          </p:spPr>
          <p:txBody>
            <a:bodyPr anchor="ctr" rtlCol="false" tIns="50800" lIns="50800" bIns="50800" rIns="50800"/>
            <a:lstStyle/>
            <a:p>
              <a:pPr algn="ctr">
                <a:lnSpc>
                  <a:spcPts val="3494"/>
                </a:lnSpc>
              </a:pPr>
            </a:p>
          </p:txBody>
        </p:sp>
      </p:grpSp>
      <p:sp>
        <p:nvSpPr>
          <p:cNvPr name="TextBox 12" id="12"/>
          <p:cNvSpPr txBox="true"/>
          <p:nvPr/>
        </p:nvSpPr>
        <p:spPr>
          <a:xfrm rot="0">
            <a:off x="690228" y="1785089"/>
            <a:ext cx="16930621" cy="7410958"/>
          </a:xfrm>
          <a:prstGeom prst="rect">
            <a:avLst/>
          </a:prstGeom>
        </p:spPr>
        <p:txBody>
          <a:bodyPr anchor="t" rtlCol="false" tIns="0" lIns="0" bIns="0" rIns="0">
            <a:spAutoFit/>
          </a:bodyPr>
          <a:lstStyle/>
          <a:p>
            <a:pPr algn="l" marL="481456" indent="-240728" lvl="1">
              <a:lnSpc>
                <a:spcPts val="3121"/>
              </a:lnSpc>
              <a:buFont typeface="Arial"/>
              <a:buChar char="•"/>
            </a:pPr>
            <a:r>
              <a:rPr lang="en-US" b="true" sz="2229">
                <a:solidFill>
                  <a:srgbClr val="FF914D"/>
                </a:solidFill>
                <a:latin typeface="Arial Nova Bold"/>
                <a:ea typeface="Arial Nova Bold"/>
                <a:cs typeface="Arial Nova Bold"/>
                <a:sym typeface="Arial Nova Bold"/>
              </a:rPr>
              <a:t>Occupancy % :</a:t>
            </a:r>
            <a:r>
              <a:rPr lang="en-US" sz="2229">
                <a:solidFill>
                  <a:srgbClr val="FFFFFF"/>
                </a:solidFill>
                <a:latin typeface="Arial Nova"/>
                <a:ea typeface="Arial Nova"/>
                <a:cs typeface="Arial Nova"/>
                <a:sym typeface="Arial Nova"/>
              </a:rPr>
              <a:t> Measures the percentage of available rooms that are occupied, indicating room utilization efficiency.</a:t>
            </a:r>
          </a:p>
          <a:p>
            <a:pPr algn="l">
              <a:lnSpc>
                <a:spcPts val="3121"/>
              </a:lnSpc>
            </a:pPr>
          </a:p>
          <a:p>
            <a:pPr algn="l">
              <a:lnSpc>
                <a:spcPts val="3121"/>
              </a:lnSpc>
              <a:spcBef>
                <a:spcPct val="0"/>
              </a:spcBef>
            </a:pPr>
            <a:r>
              <a:rPr lang="en-US" sz="2229">
                <a:solidFill>
                  <a:srgbClr val="2EC4B6"/>
                </a:solidFill>
                <a:latin typeface="Arial Nova"/>
                <a:ea typeface="Arial Nova"/>
                <a:cs typeface="Arial Nova"/>
                <a:sym typeface="Arial Nova"/>
              </a:rPr>
              <a:t>      </a:t>
            </a:r>
            <a:r>
              <a:rPr lang="en-US" b="true" sz="2229" i="true">
                <a:solidFill>
                  <a:srgbClr val="2EC4B6"/>
                </a:solidFill>
                <a:latin typeface="Arial Nova Bold Italics"/>
                <a:ea typeface="Arial Nova Bold Italics"/>
                <a:cs typeface="Arial Nova Bold Italics"/>
                <a:sym typeface="Arial Nova Bold Italics"/>
              </a:rPr>
              <a:t>Occ</a:t>
            </a:r>
            <a:r>
              <a:rPr lang="en-US" b="true" sz="2229" i="true">
                <a:solidFill>
                  <a:srgbClr val="2EC4B6"/>
                </a:solidFill>
                <a:latin typeface="Arial Nova Bold Italics"/>
                <a:ea typeface="Arial Nova Bold Italics"/>
                <a:cs typeface="Arial Nova Bold Italics"/>
                <a:sym typeface="Arial Nova Bold Italics"/>
              </a:rPr>
              <a:t>upancy % = DIVIDE([Room Booked], [TotalRooms]) * 100</a:t>
            </a:r>
          </a:p>
          <a:p>
            <a:pPr algn="l">
              <a:lnSpc>
                <a:spcPts val="3121"/>
              </a:lnSpc>
              <a:spcBef>
                <a:spcPct val="0"/>
              </a:spcBef>
            </a:pPr>
          </a:p>
          <a:p>
            <a:pPr algn="l" marL="481456" indent="-240728" lvl="1">
              <a:lnSpc>
                <a:spcPts val="3121"/>
              </a:lnSpc>
              <a:buFont typeface="Arial"/>
              <a:buChar char="•"/>
            </a:pPr>
            <a:r>
              <a:rPr lang="en-US" b="true" sz="2229">
                <a:solidFill>
                  <a:srgbClr val="FF914D"/>
                </a:solidFill>
                <a:latin typeface="Arial Nova Bold"/>
                <a:ea typeface="Arial Nova Bold"/>
                <a:cs typeface="Arial Nova Bold"/>
                <a:sym typeface="Arial Nova Bold"/>
              </a:rPr>
              <a:t>Cancellation Rate :</a:t>
            </a:r>
            <a:r>
              <a:rPr lang="en-US" sz="2229">
                <a:solidFill>
                  <a:srgbClr val="FFFFFF"/>
                </a:solidFill>
                <a:latin typeface="Arial Nova"/>
                <a:ea typeface="Arial Nova"/>
                <a:cs typeface="Arial Nova"/>
                <a:sym typeface="Arial Nova"/>
              </a:rPr>
              <a:t> Measures the proportion of bookings that are cancelled, indicating booking reliability.</a:t>
            </a:r>
          </a:p>
          <a:p>
            <a:pPr algn="l">
              <a:lnSpc>
                <a:spcPts val="3121"/>
              </a:lnSpc>
              <a:spcBef>
                <a:spcPct val="0"/>
              </a:spcBef>
            </a:pPr>
          </a:p>
          <a:p>
            <a:pPr algn="l">
              <a:lnSpc>
                <a:spcPts val="3121"/>
              </a:lnSpc>
              <a:spcBef>
                <a:spcPct val="0"/>
              </a:spcBef>
            </a:pPr>
            <a:r>
              <a:rPr lang="en-US" sz="2229">
                <a:solidFill>
                  <a:srgbClr val="2EC4B6"/>
                </a:solidFill>
                <a:latin typeface="Arial Nova"/>
                <a:ea typeface="Arial Nova"/>
                <a:cs typeface="Arial Nova"/>
                <a:sym typeface="Arial Nova"/>
              </a:rPr>
              <a:t>      </a:t>
            </a:r>
            <a:r>
              <a:rPr lang="en-US" b="true" sz="2229" i="true">
                <a:solidFill>
                  <a:srgbClr val="2EC4B6"/>
                </a:solidFill>
                <a:latin typeface="Arial Nova Bold Italics"/>
                <a:ea typeface="Arial Nova Bold Italics"/>
                <a:cs typeface="Arial Nova Bold Italics"/>
                <a:sym typeface="Arial Nova Bold Italics"/>
              </a:rPr>
              <a:t>CancellationRate = DIVIDE(COUNTROWS(FILTER(Bookings, Bookings[CancellationFlag] = "Yes")), COUNTROWS(Bookings))</a:t>
            </a:r>
          </a:p>
          <a:p>
            <a:pPr algn="l">
              <a:lnSpc>
                <a:spcPts val="3121"/>
              </a:lnSpc>
              <a:spcBef>
                <a:spcPct val="0"/>
              </a:spcBef>
            </a:pPr>
          </a:p>
          <a:p>
            <a:pPr algn="l" marL="481456" indent="-240728" lvl="1">
              <a:lnSpc>
                <a:spcPts val="3121"/>
              </a:lnSpc>
              <a:buFont typeface="Arial"/>
              <a:buChar char="•"/>
            </a:pPr>
            <a:r>
              <a:rPr lang="en-US" b="true" sz="2229">
                <a:solidFill>
                  <a:srgbClr val="FF914D"/>
                </a:solidFill>
                <a:latin typeface="Arial Nova Bold"/>
                <a:ea typeface="Arial Nova Bold"/>
                <a:cs typeface="Arial Nova Bold"/>
                <a:sym typeface="Arial Nova Bold"/>
              </a:rPr>
              <a:t>Lead Time </a:t>
            </a:r>
            <a:r>
              <a:rPr lang="en-US" sz="2229">
                <a:solidFill>
                  <a:srgbClr val="FFFFFF"/>
                </a:solidFill>
                <a:latin typeface="Arial Nova"/>
                <a:ea typeface="Arial Nova"/>
                <a:cs typeface="Arial Nova"/>
                <a:sym typeface="Arial Nova"/>
              </a:rPr>
              <a:t>: Measures the number of days between booking date and check-in date, reflecting customer booking behavior.</a:t>
            </a:r>
          </a:p>
          <a:p>
            <a:pPr algn="l">
              <a:lnSpc>
                <a:spcPts val="3121"/>
              </a:lnSpc>
            </a:pPr>
          </a:p>
          <a:p>
            <a:pPr algn="l">
              <a:lnSpc>
                <a:spcPts val="3121"/>
              </a:lnSpc>
              <a:spcBef>
                <a:spcPct val="0"/>
              </a:spcBef>
            </a:pPr>
            <a:r>
              <a:rPr lang="en-US" sz="2229">
                <a:solidFill>
                  <a:srgbClr val="2EC4B6"/>
                </a:solidFill>
                <a:latin typeface="Arial Nova"/>
                <a:ea typeface="Arial Nova"/>
                <a:cs typeface="Arial Nova"/>
                <a:sym typeface="Arial Nova"/>
              </a:rPr>
              <a:t>       </a:t>
            </a:r>
            <a:r>
              <a:rPr lang="en-US" b="true" sz="2229" i="true">
                <a:solidFill>
                  <a:srgbClr val="2EC4B6"/>
                </a:solidFill>
                <a:latin typeface="Arial Nova Bold Italics"/>
                <a:ea typeface="Arial Nova Bold Italics"/>
                <a:cs typeface="Arial Nova Bold Italics"/>
                <a:sym typeface="Arial Nova Bold Italics"/>
              </a:rPr>
              <a:t>Lead Time = DATEDIFF( 'Bookings'[BookingDate], 'Bookings'[CheckInDate], DAY)</a:t>
            </a:r>
          </a:p>
          <a:p>
            <a:pPr algn="l">
              <a:lnSpc>
                <a:spcPts val="3121"/>
              </a:lnSpc>
            </a:pPr>
          </a:p>
          <a:p>
            <a:pPr algn="l" marL="481456" indent="-240728" lvl="1">
              <a:lnSpc>
                <a:spcPts val="3121"/>
              </a:lnSpc>
              <a:buFont typeface="Arial"/>
              <a:buChar char="•"/>
            </a:pPr>
            <a:r>
              <a:rPr lang="en-US" b="true" sz="2229">
                <a:solidFill>
                  <a:srgbClr val="FF914D"/>
                </a:solidFill>
                <a:latin typeface="Arial Nova Bold"/>
                <a:ea typeface="Arial Nova Bold"/>
                <a:cs typeface="Arial Nova Bold"/>
                <a:sym typeface="Arial Nova Bold"/>
              </a:rPr>
              <a:t>Refund Count </a:t>
            </a:r>
            <a:r>
              <a:rPr lang="en-US" sz="2229">
                <a:solidFill>
                  <a:srgbClr val="FFFFFF"/>
                </a:solidFill>
                <a:latin typeface="Arial Nova"/>
                <a:ea typeface="Arial Nova"/>
                <a:cs typeface="Arial Nova"/>
                <a:sym typeface="Arial Nova"/>
              </a:rPr>
              <a:t>: Measures the total number of refunded bookings, highlighting revenue leakage.</a:t>
            </a:r>
          </a:p>
          <a:p>
            <a:pPr algn="l">
              <a:lnSpc>
                <a:spcPts val="3121"/>
              </a:lnSpc>
            </a:pPr>
          </a:p>
          <a:p>
            <a:pPr algn="l">
              <a:lnSpc>
                <a:spcPts val="3121"/>
              </a:lnSpc>
            </a:pPr>
            <a:r>
              <a:rPr lang="en-US" sz="2229">
                <a:solidFill>
                  <a:srgbClr val="2EC4B6"/>
                </a:solidFill>
                <a:latin typeface="Arial Nova"/>
                <a:ea typeface="Arial Nova"/>
                <a:cs typeface="Arial Nova"/>
                <a:sym typeface="Arial Nova"/>
              </a:rPr>
              <a:t>      </a:t>
            </a:r>
            <a:r>
              <a:rPr lang="en-US" b="true" sz="2229" i="true">
                <a:solidFill>
                  <a:srgbClr val="2EC4B6"/>
                </a:solidFill>
                <a:latin typeface="Arial Nova Bold Italics"/>
                <a:ea typeface="Arial Nova Bold Italics"/>
                <a:cs typeface="Arial Nova Bold Italics"/>
                <a:sym typeface="Arial Nova Bold Italics"/>
              </a:rPr>
              <a:t>RefundCount = CALCULATE(COUNTROWS(Bookings), Bookings[RefundAmount] &gt; 0)</a:t>
            </a:r>
          </a:p>
          <a:p>
            <a:pPr algn="l">
              <a:lnSpc>
                <a:spcPts val="3121"/>
              </a:lnSpc>
            </a:pPr>
          </a:p>
          <a:p>
            <a:pPr algn="l" marL="481456" indent="-240728" lvl="1">
              <a:lnSpc>
                <a:spcPts val="3121"/>
              </a:lnSpc>
              <a:buFont typeface="Arial"/>
              <a:buChar char="•"/>
            </a:pPr>
            <a:r>
              <a:rPr lang="en-US" b="true" sz="2229">
                <a:solidFill>
                  <a:srgbClr val="FF914D"/>
                </a:solidFill>
                <a:latin typeface="Arial Nova Bold"/>
                <a:ea typeface="Arial Nova Bold"/>
                <a:cs typeface="Arial Nova Bold"/>
                <a:sym typeface="Arial Nova Bold"/>
              </a:rPr>
              <a:t>No Show Count :</a:t>
            </a:r>
            <a:r>
              <a:rPr lang="en-US" sz="2229">
                <a:solidFill>
                  <a:srgbClr val="FFFFFF"/>
                </a:solidFill>
                <a:latin typeface="Arial Nova"/>
                <a:ea typeface="Arial Nova"/>
                <a:cs typeface="Arial Nova"/>
                <a:sym typeface="Arial Nova"/>
              </a:rPr>
              <a:t> Measures the number of guests who did not arrive, impacting realized occupancy and revenue.</a:t>
            </a:r>
          </a:p>
          <a:p>
            <a:pPr algn="l">
              <a:lnSpc>
                <a:spcPts val="3121"/>
              </a:lnSpc>
            </a:pPr>
          </a:p>
          <a:p>
            <a:pPr algn="l">
              <a:lnSpc>
                <a:spcPts val="3121"/>
              </a:lnSpc>
            </a:pPr>
            <a:r>
              <a:rPr lang="en-US" sz="2229">
                <a:solidFill>
                  <a:srgbClr val="FFFFFF"/>
                </a:solidFill>
                <a:latin typeface="Arial Nova"/>
                <a:ea typeface="Arial Nova"/>
                <a:cs typeface="Arial Nova"/>
                <a:sym typeface="Arial Nova"/>
              </a:rPr>
              <a:t>      </a:t>
            </a:r>
            <a:r>
              <a:rPr lang="en-US" b="true" sz="2229" i="true">
                <a:solidFill>
                  <a:srgbClr val="2EC4B6"/>
                </a:solidFill>
                <a:latin typeface="Arial Nova Bold Italics"/>
                <a:ea typeface="Arial Nova Bold Italics"/>
                <a:cs typeface="Arial Nova Bold Italics"/>
                <a:sym typeface="Arial Nova Bold Italics"/>
              </a:rPr>
              <a:t>NoShowCount = CALCULATE(COUNTROWS(Bookings), Bookings[BookingStatus] = "No-Show"</a:t>
            </a:r>
            <a:r>
              <a:rPr lang="en-US" b="true" sz="2229" i="true">
                <a:solidFill>
                  <a:srgbClr val="2EC4B6"/>
                </a:solidFill>
                <a:latin typeface="Arial Nova Bold Italics"/>
                <a:ea typeface="Arial Nova Bold Italics"/>
                <a:cs typeface="Arial Nova Bold Italics"/>
                <a:sym typeface="Arial Nova Bold Italics"/>
              </a:rPr>
              <a:t>)</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549101" y="1497494"/>
            <a:ext cx="17189799" cy="7924800"/>
            <a:chOff x="0" y="0"/>
            <a:chExt cx="4527354" cy="2087190"/>
          </a:xfrm>
        </p:grpSpPr>
        <p:sp>
          <p:nvSpPr>
            <p:cNvPr name="Freeform 9" id="9"/>
            <p:cNvSpPr/>
            <p:nvPr/>
          </p:nvSpPr>
          <p:spPr>
            <a:xfrm flipH="false" flipV="false" rot="0">
              <a:off x="0" y="0"/>
              <a:ext cx="4527354" cy="2087190"/>
            </a:xfrm>
            <a:custGeom>
              <a:avLst/>
              <a:gdLst/>
              <a:ahLst/>
              <a:cxnLst/>
              <a:rect r="r" b="b" t="t" l="l"/>
              <a:pathLst>
                <a:path h="2087190" w="4527354">
                  <a:moveTo>
                    <a:pt x="0" y="0"/>
                  </a:moveTo>
                  <a:lnTo>
                    <a:pt x="4527354" y="0"/>
                  </a:lnTo>
                  <a:lnTo>
                    <a:pt x="4527354" y="2087190"/>
                  </a:lnTo>
                  <a:lnTo>
                    <a:pt x="0" y="2087190"/>
                  </a:lnTo>
                  <a:close/>
                </a:path>
              </a:pathLst>
            </a:custGeom>
            <a:solidFill>
              <a:srgbClr val="036493"/>
            </a:solidFill>
          </p:spPr>
        </p:sp>
        <p:sp>
          <p:nvSpPr>
            <p:cNvPr name="TextBox 10" id="10"/>
            <p:cNvSpPr txBox="true"/>
            <p:nvPr/>
          </p:nvSpPr>
          <p:spPr>
            <a:xfrm>
              <a:off x="0" y="-66675"/>
              <a:ext cx="4527354" cy="2153865"/>
            </a:xfrm>
            <a:prstGeom prst="rect">
              <a:avLst/>
            </a:prstGeom>
          </p:spPr>
          <p:txBody>
            <a:bodyPr anchor="ctr" rtlCol="false" tIns="50800" lIns="50800" bIns="50800" rIns="50800"/>
            <a:lstStyle/>
            <a:p>
              <a:pPr algn="ctr">
                <a:lnSpc>
                  <a:spcPts val="3494"/>
                </a:lnSpc>
              </a:pPr>
            </a:p>
          </p:txBody>
        </p:sp>
      </p:grpSp>
      <p:sp>
        <p:nvSpPr>
          <p:cNvPr name="TextBox 11" id="11"/>
          <p:cNvSpPr txBox="true"/>
          <p:nvPr/>
        </p:nvSpPr>
        <p:spPr>
          <a:xfrm rot="0">
            <a:off x="686261" y="1697519"/>
            <a:ext cx="16915479" cy="7458075"/>
          </a:xfrm>
          <a:prstGeom prst="rect">
            <a:avLst/>
          </a:prstGeom>
        </p:spPr>
        <p:txBody>
          <a:bodyPr anchor="t" rtlCol="false" tIns="0" lIns="0" bIns="0" rIns="0">
            <a:spAutoFit/>
          </a:bodyPr>
          <a:lstStyle/>
          <a:p>
            <a:pPr algn="l" marL="0" indent="0" lvl="0">
              <a:lnSpc>
                <a:spcPts val="4200"/>
              </a:lnSpc>
            </a:pPr>
            <a:r>
              <a:rPr lang="en-US" b="true" sz="3000">
                <a:solidFill>
                  <a:srgbClr val="FF914D"/>
                </a:solidFill>
                <a:latin typeface="Arial Nova Bold"/>
                <a:ea typeface="Arial Nova Bold"/>
                <a:cs typeface="Arial Nova Bold"/>
                <a:sym typeface="Arial Nova Bold"/>
              </a:rPr>
              <a:t>Purpose </a:t>
            </a:r>
            <a:r>
              <a:rPr lang="en-US" b="true" sz="3000" strike="noStrike" u="none">
                <a:solidFill>
                  <a:srgbClr val="FF914D"/>
                </a:solidFill>
                <a:latin typeface="Arial Nova Bold"/>
                <a:ea typeface="Arial Nova Bold"/>
                <a:cs typeface="Arial Nova Bold"/>
                <a:sym typeface="Arial Nova Bold"/>
              </a:rPr>
              <a:t>o</a:t>
            </a:r>
            <a:r>
              <a:rPr lang="en-US" b="true" sz="3000" strike="noStrike" u="none">
                <a:solidFill>
                  <a:srgbClr val="FF914D"/>
                </a:solidFill>
                <a:latin typeface="Arial Nova Bold"/>
                <a:ea typeface="Arial Nova Bold"/>
                <a:cs typeface="Arial Nova Bold"/>
                <a:sym typeface="Arial Nova Bold"/>
              </a:rPr>
              <a:t>f th</a:t>
            </a:r>
            <a:r>
              <a:rPr lang="en-US" b="true" sz="3000" strike="noStrike" u="none">
                <a:solidFill>
                  <a:srgbClr val="FF914D"/>
                </a:solidFill>
                <a:latin typeface="Arial Nova Bold"/>
                <a:ea typeface="Arial Nova Bold"/>
                <a:cs typeface="Arial Nova Bold"/>
                <a:sym typeface="Arial Nova Bold"/>
              </a:rPr>
              <a:t>e </a:t>
            </a:r>
            <a:r>
              <a:rPr lang="en-US" b="true" sz="3000" strike="noStrike" u="none">
                <a:solidFill>
                  <a:srgbClr val="FF914D"/>
                </a:solidFill>
                <a:latin typeface="Arial Nova Bold"/>
                <a:ea typeface="Arial Nova Bold"/>
                <a:cs typeface="Arial Nova Bold"/>
                <a:sym typeface="Arial Nova Bold"/>
              </a:rPr>
              <a:t>Module</a:t>
            </a:r>
          </a:p>
          <a:p>
            <a:pPr algn="l"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This </a:t>
            </a:r>
            <a:r>
              <a:rPr lang="en-US" sz="3000" strike="noStrike" u="none">
                <a:solidFill>
                  <a:srgbClr val="FFFFFF"/>
                </a:solidFill>
                <a:latin typeface="Arial Nova"/>
                <a:ea typeface="Arial Nova"/>
                <a:cs typeface="Arial Nova"/>
                <a:sym typeface="Arial Nova"/>
              </a:rPr>
              <a:t>is th</a:t>
            </a:r>
            <a:r>
              <a:rPr lang="en-US" sz="3000" strike="noStrike" u="none">
                <a:solidFill>
                  <a:srgbClr val="FFFFFF"/>
                </a:solidFill>
                <a:latin typeface="Arial Nova"/>
                <a:ea typeface="Arial Nova"/>
                <a:cs typeface="Arial Nova"/>
                <a:sym typeface="Arial Nova"/>
              </a:rPr>
              <a:t>e final</a:t>
            </a:r>
            <a:r>
              <a:rPr lang="en-US" sz="3000" strike="noStrike" u="none">
                <a:solidFill>
                  <a:srgbClr val="FFFFFF"/>
                </a:solidFill>
                <a:latin typeface="Arial Nova"/>
                <a:ea typeface="Arial Nova"/>
                <a:cs typeface="Arial Nova"/>
                <a:sym typeface="Arial Nova"/>
              </a:rPr>
              <a:t>, d</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ci</a:t>
            </a:r>
            <a:r>
              <a:rPr lang="en-US" sz="3000" strike="noStrike" u="none">
                <a:solidFill>
                  <a:srgbClr val="FFFFFF"/>
                </a:solidFill>
                <a:latin typeface="Arial Nova"/>
                <a:ea typeface="Arial Nova"/>
                <a:cs typeface="Arial Nova"/>
                <a:sym typeface="Arial Nova"/>
              </a:rPr>
              <a:t>s</a:t>
            </a:r>
            <a:r>
              <a:rPr lang="en-US" sz="3000" strike="noStrike" u="none">
                <a:solidFill>
                  <a:srgbClr val="FFFFFF"/>
                </a:solidFill>
                <a:latin typeface="Arial Nova"/>
                <a:ea typeface="Arial Nova"/>
                <a:cs typeface="Arial Nova"/>
                <a:sym typeface="Arial Nova"/>
              </a:rPr>
              <a:t>i</a:t>
            </a:r>
            <a:r>
              <a:rPr lang="en-US" sz="3000" strike="noStrike" u="none">
                <a:solidFill>
                  <a:srgbClr val="FFFFFF"/>
                </a:solidFill>
                <a:latin typeface="Arial Nova"/>
                <a:ea typeface="Arial Nova"/>
                <a:cs typeface="Arial Nova"/>
                <a:sym typeface="Arial Nova"/>
              </a:rPr>
              <a:t>on-oriente</a:t>
            </a:r>
            <a:r>
              <a:rPr lang="en-US" sz="3000" strike="noStrike" u="none">
                <a:solidFill>
                  <a:srgbClr val="FFFFFF"/>
                </a:solidFill>
                <a:latin typeface="Arial Nova"/>
                <a:ea typeface="Arial Nova"/>
                <a:cs typeface="Arial Nova"/>
                <a:sym typeface="Arial Nova"/>
              </a:rPr>
              <a:t>d</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dashb</a:t>
            </a:r>
            <a:r>
              <a:rPr lang="en-US" sz="3000" strike="noStrike" u="none">
                <a:solidFill>
                  <a:srgbClr val="FFFFFF"/>
                </a:solidFill>
                <a:latin typeface="Arial Nova"/>
                <a:ea typeface="Arial Nova"/>
                <a:cs typeface="Arial Nova"/>
                <a:sym typeface="Arial Nova"/>
              </a:rPr>
              <a:t>oard design</a:t>
            </a:r>
            <a:r>
              <a:rPr lang="en-US" sz="3000" strike="noStrike" u="none">
                <a:solidFill>
                  <a:srgbClr val="FFFFFF"/>
                </a:solidFill>
                <a:latin typeface="Arial Nova"/>
                <a:ea typeface="Arial Nova"/>
                <a:cs typeface="Arial Nova"/>
                <a:sym typeface="Arial Nova"/>
              </a:rPr>
              <a:t>ed</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fo</a:t>
            </a: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 G</a:t>
            </a:r>
            <a:r>
              <a:rPr lang="en-US" sz="3000" strike="noStrike" u="none">
                <a:solidFill>
                  <a:srgbClr val="FFFFFF"/>
                </a:solidFill>
                <a:latin typeface="Arial Nova"/>
                <a:ea typeface="Arial Nova"/>
                <a:cs typeface="Arial Nova"/>
                <a:sym typeface="Arial Nova"/>
              </a:rPr>
              <a:t>ene</a:t>
            </a:r>
            <a:r>
              <a:rPr lang="en-US" sz="3000" strike="noStrike" u="none">
                <a:solidFill>
                  <a:srgbClr val="FFFFFF"/>
                </a:solidFill>
                <a:latin typeface="Arial Nova"/>
                <a:ea typeface="Arial Nova"/>
                <a:cs typeface="Arial Nova"/>
                <a:sym typeface="Arial Nova"/>
              </a:rPr>
              <a:t>ral</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Ma</a:t>
            </a:r>
            <a:r>
              <a:rPr lang="en-US" sz="3000" strike="noStrike" u="none">
                <a:solidFill>
                  <a:srgbClr val="FFFFFF"/>
                </a:solidFill>
                <a:latin typeface="Arial Nova"/>
                <a:ea typeface="Arial Nova"/>
                <a:cs typeface="Arial Nova"/>
                <a:sym typeface="Arial Nova"/>
              </a:rPr>
              <a:t>n</a:t>
            </a:r>
            <a:r>
              <a:rPr lang="en-US" sz="3000" strike="noStrike" u="none">
                <a:solidFill>
                  <a:srgbClr val="FFFFFF"/>
                </a:solidFill>
                <a:latin typeface="Arial Nova"/>
                <a:ea typeface="Arial Nova"/>
                <a:cs typeface="Arial Nova"/>
                <a:sym typeface="Arial Nova"/>
              </a:rPr>
              <a:t>age</a:t>
            </a:r>
            <a:r>
              <a:rPr lang="en-US" sz="3000" strike="noStrike" u="none">
                <a:solidFill>
                  <a:srgbClr val="FFFFFF"/>
                </a:solidFill>
                <a:latin typeface="Arial Nova"/>
                <a:ea typeface="Arial Nova"/>
                <a:cs typeface="Arial Nova"/>
                <a:sym typeface="Arial Nova"/>
              </a:rPr>
              <a:t>rs</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and</a:t>
            </a:r>
            <a:r>
              <a:rPr lang="en-US" sz="3000" strike="noStrike" u="none">
                <a:solidFill>
                  <a:srgbClr val="FFFFFF"/>
                </a:solidFill>
                <a:latin typeface="Arial Nova"/>
                <a:ea typeface="Arial Nova"/>
                <a:cs typeface="Arial Nova"/>
                <a:sym typeface="Arial Nova"/>
              </a:rPr>
              <a:t> Revenue M</a:t>
            </a:r>
            <a:r>
              <a:rPr lang="en-US" sz="3000" strike="noStrike" u="none">
                <a:solidFill>
                  <a:srgbClr val="FFFFFF"/>
                </a:solidFill>
                <a:latin typeface="Arial Nova"/>
                <a:ea typeface="Arial Nova"/>
                <a:cs typeface="Arial Nova"/>
                <a:sym typeface="Arial Nova"/>
              </a:rPr>
              <a:t>a</a:t>
            </a:r>
            <a:r>
              <a:rPr lang="en-US" sz="3000" strike="noStrike" u="none">
                <a:solidFill>
                  <a:srgbClr val="FFFFFF"/>
                </a:solidFill>
                <a:latin typeface="Arial Nova"/>
                <a:ea typeface="Arial Nova"/>
                <a:cs typeface="Arial Nova"/>
                <a:sym typeface="Arial Nova"/>
              </a:rPr>
              <a:t>nage</a:t>
            </a:r>
            <a:r>
              <a:rPr lang="en-US" sz="3000" strike="noStrike" u="none">
                <a:solidFill>
                  <a:srgbClr val="FFFFFF"/>
                </a:solidFill>
                <a:latin typeface="Arial Nova"/>
                <a:ea typeface="Arial Nova"/>
                <a:cs typeface="Arial Nova"/>
                <a:sym typeface="Arial Nova"/>
              </a:rPr>
              <a:t>rs</a:t>
            </a:r>
            <a:r>
              <a:rPr lang="en-US" sz="3000" strike="noStrike" u="none">
                <a:solidFill>
                  <a:srgbClr val="FFFFFF"/>
                </a:solidFill>
                <a:latin typeface="Arial Nova"/>
                <a:ea typeface="Arial Nova"/>
                <a:cs typeface="Arial Nova"/>
                <a:sym typeface="Arial Nova"/>
              </a:rPr>
              <a:t>.</a:t>
            </a:r>
          </a:p>
          <a:p>
            <a:pPr algn="l"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It </a:t>
            </a:r>
            <a:r>
              <a:rPr lang="en-US" sz="3000" strike="noStrike" u="none">
                <a:solidFill>
                  <a:srgbClr val="FFFFFF"/>
                </a:solidFill>
                <a:latin typeface="Arial Nova"/>
                <a:ea typeface="Arial Nova"/>
                <a:cs typeface="Arial Nova"/>
                <a:sym typeface="Arial Nova"/>
              </a:rPr>
              <a:t>converts historica</a:t>
            </a:r>
            <a:r>
              <a:rPr lang="en-US" sz="3000" strike="noStrike" u="none">
                <a:solidFill>
                  <a:srgbClr val="FFFFFF"/>
                </a:solidFill>
                <a:latin typeface="Arial Nova"/>
                <a:ea typeface="Arial Nova"/>
                <a:cs typeface="Arial Nova"/>
                <a:sym typeface="Arial Nova"/>
              </a:rPr>
              <a:t>l</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p</a:t>
            </a:r>
            <a:r>
              <a:rPr lang="en-US" sz="3000" strike="noStrike" u="none">
                <a:solidFill>
                  <a:srgbClr val="FFFFFF"/>
                </a:solidFill>
                <a:latin typeface="Arial Nova"/>
                <a:ea typeface="Arial Nova"/>
                <a:cs typeface="Arial Nova"/>
                <a:sym typeface="Arial Nova"/>
              </a:rPr>
              <a:t>erformance data into actionable revenue </a:t>
            </a:r>
            <a:r>
              <a:rPr lang="en-US" sz="3000" strike="noStrike" u="none">
                <a:solidFill>
                  <a:srgbClr val="FFFFFF"/>
                </a:solidFill>
                <a:latin typeface="Arial Nova"/>
                <a:ea typeface="Arial Nova"/>
                <a:cs typeface="Arial Nova"/>
                <a:sym typeface="Arial Nova"/>
              </a:rPr>
              <a:t>st</a:t>
            </a:r>
            <a:r>
              <a:rPr lang="en-US" sz="3000" strike="noStrike" u="none">
                <a:solidFill>
                  <a:srgbClr val="FFFFFF"/>
                </a:solidFill>
                <a:latin typeface="Arial Nova"/>
                <a:ea typeface="Arial Nova"/>
                <a:cs typeface="Arial Nova"/>
                <a:sym typeface="Arial Nova"/>
              </a:rPr>
              <a:t>rate</a:t>
            </a:r>
            <a:r>
              <a:rPr lang="en-US" sz="3000" strike="noStrike" u="none">
                <a:solidFill>
                  <a:srgbClr val="FFFFFF"/>
                </a:solidFill>
                <a:latin typeface="Arial Nova"/>
                <a:ea typeface="Arial Nova"/>
                <a:cs typeface="Arial Nova"/>
                <a:sym typeface="Arial Nova"/>
              </a:rPr>
              <a:t>gi</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s.</a:t>
            </a:r>
          </a:p>
          <a:p>
            <a:pPr algn="l">
              <a:lnSpc>
                <a:spcPts val="4200"/>
              </a:lnSpc>
            </a:pPr>
          </a:p>
          <a:p>
            <a:pPr algn="l" marL="0" indent="0" lvl="0">
              <a:lnSpc>
                <a:spcPts val="4200"/>
              </a:lnSpc>
            </a:pPr>
            <a:r>
              <a:rPr lang="en-US" b="true" sz="3000" strike="noStrike" u="none">
                <a:solidFill>
                  <a:srgbClr val="FF914D"/>
                </a:solidFill>
                <a:latin typeface="Arial Nova Bold"/>
                <a:ea typeface="Arial Nova Bold"/>
                <a:cs typeface="Arial Nova Bold"/>
                <a:sym typeface="Arial Nova Bold"/>
              </a:rPr>
              <a:t>Key In</a:t>
            </a:r>
            <a:r>
              <a:rPr lang="en-US" b="true" sz="3000" strike="noStrike" u="none">
                <a:solidFill>
                  <a:srgbClr val="FF914D"/>
                </a:solidFill>
                <a:latin typeface="Arial Nova Bold"/>
                <a:ea typeface="Arial Nova Bold"/>
                <a:cs typeface="Arial Nova Bold"/>
                <a:sym typeface="Arial Nova Bold"/>
              </a:rPr>
              <a:t>sig</a:t>
            </a:r>
            <a:r>
              <a:rPr lang="en-US" b="true" sz="3000" strike="noStrike" u="none">
                <a:solidFill>
                  <a:srgbClr val="FF914D"/>
                </a:solidFill>
                <a:latin typeface="Arial Nova Bold"/>
                <a:ea typeface="Arial Nova Bold"/>
                <a:cs typeface="Arial Nova Bold"/>
                <a:sym typeface="Arial Nova Bold"/>
              </a:rPr>
              <a:t>hts</a:t>
            </a:r>
            <a:r>
              <a:rPr lang="en-US" b="true" sz="3000" strike="noStrike" u="none">
                <a:solidFill>
                  <a:srgbClr val="FF914D"/>
                </a:solidFill>
                <a:latin typeface="Arial Nova Bold"/>
                <a:ea typeface="Arial Nova Bold"/>
                <a:cs typeface="Arial Nova Bold"/>
                <a:sym typeface="Arial Nova Bold"/>
              </a:rPr>
              <a:t> </a:t>
            </a:r>
            <a:r>
              <a:rPr lang="en-US" b="true" sz="3000" strike="noStrike" u="none">
                <a:solidFill>
                  <a:srgbClr val="FF914D"/>
                </a:solidFill>
                <a:latin typeface="Arial Nova Bold"/>
                <a:ea typeface="Arial Nova Bold"/>
                <a:cs typeface="Arial Nova Bold"/>
                <a:sym typeface="Arial Nova Bold"/>
              </a:rPr>
              <a:t>D</a:t>
            </a:r>
            <a:r>
              <a:rPr lang="en-US" b="true" sz="3000" strike="noStrike" u="none">
                <a:solidFill>
                  <a:srgbClr val="FF914D"/>
                </a:solidFill>
                <a:latin typeface="Arial Nova Bold"/>
                <a:ea typeface="Arial Nova Bold"/>
                <a:cs typeface="Arial Nova Bold"/>
                <a:sym typeface="Arial Nova Bold"/>
              </a:rPr>
              <a:t>eli</a:t>
            </a:r>
            <a:r>
              <a:rPr lang="en-US" b="true" sz="3000" strike="noStrike" u="none">
                <a:solidFill>
                  <a:srgbClr val="FF914D"/>
                </a:solidFill>
                <a:latin typeface="Arial Nova Bold"/>
                <a:ea typeface="Arial Nova Bold"/>
                <a:cs typeface="Arial Nova Bold"/>
                <a:sym typeface="Arial Nova Bold"/>
              </a:rPr>
              <a:t>ver</a:t>
            </a:r>
            <a:r>
              <a:rPr lang="en-US" b="true" sz="3000" strike="noStrike" u="none">
                <a:solidFill>
                  <a:srgbClr val="FF914D"/>
                </a:solidFill>
                <a:latin typeface="Arial Nova Bold"/>
                <a:ea typeface="Arial Nova Bold"/>
                <a:cs typeface="Arial Nova Bold"/>
                <a:sym typeface="Arial Nova Bold"/>
              </a:rPr>
              <a:t>ed</a:t>
            </a:r>
          </a:p>
          <a:p>
            <a:pPr algn="just"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Identifies up</a:t>
            </a:r>
            <a:r>
              <a:rPr lang="en-US" sz="3000" strike="noStrike" u="none">
                <a:solidFill>
                  <a:srgbClr val="FFFFFF"/>
                </a:solidFill>
                <a:latin typeface="Arial Nova"/>
                <a:ea typeface="Arial Nova"/>
                <a:cs typeface="Arial Nova"/>
                <a:sym typeface="Arial Nova"/>
              </a:rPr>
              <a:t>sell potential across ancillary services such </a:t>
            </a:r>
            <a:r>
              <a:rPr lang="en-US" sz="3000" strike="noStrike" u="none">
                <a:solidFill>
                  <a:srgbClr val="FFFFFF"/>
                </a:solidFill>
                <a:latin typeface="Arial Nova"/>
                <a:ea typeface="Arial Nova"/>
                <a:cs typeface="Arial Nova"/>
                <a:sym typeface="Arial Nova"/>
              </a:rPr>
              <a:t>as sp</a:t>
            </a:r>
            <a:r>
              <a:rPr lang="en-US" sz="3000" strike="noStrike" u="none">
                <a:solidFill>
                  <a:srgbClr val="FFFFFF"/>
                </a:solidFill>
                <a:latin typeface="Arial Nova"/>
                <a:ea typeface="Arial Nova"/>
                <a:cs typeface="Arial Nova"/>
                <a:sym typeface="Arial Nova"/>
              </a:rPr>
              <a:t>a, d</a:t>
            </a:r>
            <a:r>
              <a:rPr lang="en-US" sz="3000" strike="noStrike" u="none">
                <a:solidFill>
                  <a:srgbClr val="FFFFFF"/>
                </a:solidFill>
                <a:latin typeface="Arial Nova"/>
                <a:ea typeface="Arial Nova"/>
                <a:cs typeface="Arial Nova"/>
                <a:sym typeface="Arial Nova"/>
              </a:rPr>
              <a:t>ining</a:t>
            </a:r>
            <a:r>
              <a:rPr lang="en-US" sz="3000" strike="noStrike" u="none">
                <a:solidFill>
                  <a:srgbClr val="FFFFFF"/>
                </a:solidFill>
                <a:latin typeface="Arial Nova"/>
                <a:ea typeface="Arial Nova"/>
                <a:cs typeface="Arial Nova"/>
                <a:sym typeface="Arial Nova"/>
              </a:rPr>
              <a:t>, and add-on</a:t>
            </a:r>
            <a:r>
              <a:rPr lang="en-US" sz="3000" strike="noStrike" u="none">
                <a:solidFill>
                  <a:srgbClr val="FFFFFF"/>
                </a:solidFill>
                <a:latin typeface="Arial Nova"/>
                <a:ea typeface="Arial Nova"/>
                <a:cs typeface="Arial Nova"/>
                <a:sym typeface="Arial Nova"/>
              </a:rPr>
              <a:t> s</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vic</a:t>
            </a:r>
            <a:r>
              <a:rPr lang="en-US" sz="3000" strike="noStrike" u="none">
                <a:solidFill>
                  <a:srgbClr val="FFFFFF"/>
                </a:solidFill>
                <a:latin typeface="Arial Nova"/>
                <a:ea typeface="Arial Nova"/>
                <a:cs typeface="Arial Nova"/>
                <a:sym typeface="Arial Nova"/>
              </a:rPr>
              <a:t>es based on</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g</a:t>
            </a:r>
            <a:r>
              <a:rPr lang="en-US" sz="3000" strike="noStrike" u="none">
                <a:solidFill>
                  <a:srgbClr val="FFFFFF"/>
                </a:solidFill>
                <a:latin typeface="Arial Nova"/>
                <a:ea typeface="Arial Nova"/>
                <a:cs typeface="Arial Nova"/>
                <a:sym typeface="Arial Nova"/>
              </a:rPr>
              <a:t>ues</a:t>
            </a:r>
            <a:r>
              <a:rPr lang="en-US" sz="3000" strike="noStrike" u="none">
                <a:solidFill>
                  <a:srgbClr val="FFFFFF"/>
                </a:solidFill>
                <a:latin typeface="Arial Nova"/>
                <a:ea typeface="Arial Nova"/>
                <a:cs typeface="Arial Nova"/>
                <a:sym typeface="Arial Nova"/>
              </a:rPr>
              <a:t>t se</a:t>
            </a:r>
            <a:r>
              <a:rPr lang="en-US" sz="3000" strike="noStrike" u="none">
                <a:solidFill>
                  <a:srgbClr val="FFFFFF"/>
                </a:solidFill>
                <a:latin typeface="Arial Nova"/>
                <a:ea typeface="Arial Nova"/>
                <a:cs typeface="Arial Nova"/>
                <a:sym typeface="Arial Nova"/>
              </a:rPr>
              <a:t>gment</a:t>
            </a:r>
            <a:r>
              <a:rPr lang="en-US" sz="3000" strike="noStrike" u="none">
                <a:solidFill>
                  <a:srgbClr val="FFFFFF"/>
                </a:solidFill>
                <a:latin typeface="Arial Nova"/>
                <a:ea typeface="Arial Nova"/>
                <a:cs typeface="Arial Nova"/>
                <a:sym typeface="Arial Nova"/>
              </a:rPr>
              <a:t>s</a:t>
            </a:r>
            <a:r>
              <a:rPr lang="en-US" sz="3000" strike="noStrike" u="none">
                <a:solidFill>
                  <a:srgbClr val="FFFFFF"/>
                </a:solidFill>
                <a:latin typeface="Arial Nova"/>
                <a:ea typeface="Arial Nova"/>
                <a:cs typeface="Arial Nova"/>
                <a:sym typeface="Arial Nova"/>
              </a:rPr>
              <a:t>.</a:t>
            </a:r>
          </a:p>
          <a:p>
            <a:pPr algn="just"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commend</a:t>
            </a:r>
            <a:r>
              <a:rPr lang="en-US" sz="3000" strike="noStrike" u="none">
                <a:solidFill>
                  <a:srgbClr val="FFFFFF"/>
                </a:solidFill>
                <a:latin typeface="Arial Nova"/>
                <a:ea typeface="Arial Nova"/>
                <a:cs typeface="Arial Nova"/>
                <a:sym typeface="Arial Nova"/>
              </a:rPr>
              <a:t>s o</a:t>
            </a:r>
            <a:r>
              <a:rPr lang="en-US" sz="3000" strike="noStrike" u="none">
                <a:solidFill>
                  <a:srgbClr val="FFFFFF"/>
                </a:solidFill>
                <a:latin typeface="Arial Nova"/>
                <a:ea typeface="Arial Nova"/>
                <a:cs typeface="Arial Nova"/>
                <a:sym typeface="Arial Nova"/>
              </a:rPr>
              <a:t>ptim</a:t>
            </a:r>
            <a:r>
              <a:rPr lang="en-US" sz="3000" strike="noStrike" u="none">
                <a:solidFill>
                  <a:srgbClr val="FFFFFF"/>
                </a:solidFill>
                <a:latin typeface="Arial Nova"/>
                <a:ea typeface="Arial Nova"/>
                <a:cs typeface="Arial Nova"/>
                <a:sym typeface="Arial Nova"/>
              </a:rPr>
              <a:t>al </a:t>
            </a:r>
            <a:r>
              <a:rPr lang="en-US" sz="3000" strike="noStrike" u="none">
                <a:solidFill>
                  <a:srgbClr val="FFFFFF"/>
                </a:solidFill>
                <a:latin typeface="Arial Nova"/>
                <a:ea typeface="Arial Nova"/>
                <a:cs typeface="Arial Nova"/>
                <a:sym typeface="Arial Nova"/>
              </a:rPr>
              <a:t>p</a:t>
            </a: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icing ti</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rs by s</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aso</a:t>
            </a:r>
            <a:r>
              <a:rPr lang="en-US" sz="3000" strike="noStrike" u="none">
                <a:solidFill>
                  <a:srgbClr val="FFFFFF"/>
                </a:solidFill>
                <a:latin typeface="Arial Nova"/>
                <a:ea typeface="Arial Nova"/>
                <a:cs typeface="Arial Nova"/>
                <a:sym typeface="Arial Nova"/>
              </a:rPr>
              <a:t>n </a:t>
            </a:r>
            <a:r>
              <a:rPr lang="en-US" sz="3000" strike="noStrike" u="none">
                <a:solidFill>
                  <a:srgbClr val="FFFFFF"/>
                </a:solidFill>
                <a:latin typeface="Arial Nova"/>
                <a:ea typeface="Arial Nova"/>
                <a:cs typeface="Arial Nova"/>
                <a:sym typeface="Arial Nova"/>
              </a:rPr>
              <a:t>and room ty</a:t>
            </a:r>
            <a:r>
              <a:rPr lang="en-US" sz="3000" strike="noStrike" u="none">
                <a:solidFill>
                  <a:srgbClr val="FFFFFF"/>
                </a:solidFill>
                <a:latin typeface="Arial Nova"/>
                <a:ea typeface="Arial Nova"/>
                <a:cs typeface="Arial Nova"/>
                <a:sym typeface="Arial Nova"/>
              </a:rPr>
              <a:t>pe</a:t>
            </a:r>
            <a:r>
              <a:rPr lang="en-US" sz="3000" strike="noStrike" u="none">
                <a:solidFill>
                  <a:srgbClr val="FFFFFF"/>
                </a:solidFill>
                <a:latin typeface="Arial Nova"/>
                <a:ea typeface="Arial Nova"/>
                <a:cs typeface="Arial Nova"/>
                <a:sym typeface="Arial Nova"/>
              </a:rPr>
              <a:t>.</a:t>
            </a:r>
          </a:p>
          <a:p>
            <a:pPr algn="just"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All</a:t>
            </a:r>
            <a:r>
              <a:rPr lang="en-US" sz="3000" strike="noStrike" u="none">
                <a:solidFill>
                  <a:srgbClr val="FFFFFF"/>
                </a:solidFill>
                <a:latin typeface="Arial Nova"/>
                <a:ea typeface="Arial Nova"/>
                <a:cs typeface="Arial Nova"/>
                <a:sym typeface="Arial Nova"/>
              </a:rPr>
              <a:t>o</a:t>
            </a:r>
            <a:r>
              <a:rPr lang="en-US" sz="3000" strike="noStrike" u="none">
                <a:solidFill>
                  <a:srgbClr val="FFFFFF"/>
                </a:solidFill>
                <a:latin typeface="Arial Nova"/>
                <a:ea typeface="Arial Nova"/>
                <a:cs typeface="Arial Nova"/>
                <a:sym typeface="Arial Nova"/>
              </a:rPr>
              <a:t>ws inte</a:t>
            </a: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active si</a:t>
            </a:r>
            <a:r>
              <a:rPr lang="en-US" sz="3000" strike="noStrike" u="none">
                <a:solidFill>
                  <a:srgbClr val="FFFFFF"/>
                </a:solidFill>
                <a:latin typeface="Arial Nova"/>
                <a:ea typeface="Arial Nova"/>
                <a:cs typeface="Arial Nova"/>
                <a:sym typeface="Arial Nova"/>
              </a:rPr>
              <a:t>m</a:t>
            </a:r>
            <a:r>
              <a:rPr lang="en-US" sz="3000" strike="noStrike" u="none">
                <a:solidFill>
                  <a:srgbClr val="FFFFFF"/>
                </a:solidFill>
                <a:latin typeface="Arial Nova"/>
                <a:ea typeface="Arial Nova"/>
                <a:cs typeface="Arial Nova"/>
                <a:sym typeface="Arial Nova"/>
              </a:rPr>
              <a:t>ul</a:t>
            </a:r>
            <a:r>
              <a:rPr lang="en-US" sz="3000" strike="noStrike" u="none">
                <a:solidFill>
                  <a:srgbClr val="FFFFFF"/>
                </a:solidFill>
                <a:latin typeface="Arial Nova"/>
                <a:ea typeface="Arial Nova"/>
                <a:cs typeface="Arial Nova"/>
                <a:sym typeface="Arial Nova"/>
              </a:rPr>
              <a:t>ation</a:t>
            </a:r>
            <a:r>
              <a:rPr lang="en-US" sz="3000" strike="noStrike" u="none">
                <a:solidFill>
                  <a:srgbClr val="FFFFFF"/>
                </a:solidFill>
                <a:latin typeface="Arial Nova"/>
                <a:ea typeface="Arial Nova"/>
                <a:cs typeface="Arial Nova"/>
                <a:sym typeface="Arial Nova"/>
              </a:rPr>
              <a:t> of pri</a:t>
            </a:r>
            <a:r>
              <a:rPr lang="en-US" sz="3000" strike="noStrike" u="none">
                <a:solidFill>
                  <a:srgbClr val="FFFFFF"/>
                </a:solidFill>
                <a:latin typeface="Arial Nova"/>
                <a:ea typeface="Arial Nova"/>
                <a:cs typeface="Arial Nova"/>
                <a:sym typeface="Arial Nova"/>
              </a:rPr>
              <a:t>cing and de</a:t>
            </a:r>
            <a:r>
              <a:rPr lang="en-US" sz="3000" strike="noStrike" u="none">
                <a:solidFill>
                  <a:srgbClr val="FFFFFF"/>
                </a:solidFill>
                <a:latin typeface="Arial Nova"/>
                <a:ea typeface="Arial Nova"/>
                <a:cs typeface="Arial Nova"/>
                <a:sym typeface="Arial Nova"/>
              </a:rPr>
              <a:t>mand</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sc</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narios.</a:t>
            </a:r>
          </a:p>
          <a:p>
            <a:pPr algn="l">
              <a:lnSpc>
                <a:spcPts val="4200"/>
              </a:lnSpc>
            </a:pPr>
          </a:p>
          <a:p>
            <a:pPr algn="l" marL="0" indent="0" lvl="0">
              <a:lnSpc>
                <a:spcPts val="4200"/>
              </a:lnSpc>
            </a:pPr>
            <a:r>
              <a:rPr lang="en-US" b="true" sz="3000" strike="noStrike" u="none">
                <a:solidFill>
                  <a:srgbClr val="FF914D"/>
                </a:solidFill>
                <a:latin typeface="Arial Nova Bold"/>
                <a:ea typeface="Arial Nova Bold"/>
                <a:cs typeface="Arial Nova Bold"/>
                <a:sym typeface="Arial Nova Bold"/>
              </a:rPr>
              <a:t>B</a:t>
            </a:r>
            <a:r>
              <a:rPr lang="en-US" b="true" sz="3000" strike="noStrike" u="none">
                <a:solidFill>
                  <a:srgbClr val="FF914D"/>
                </a:solidFill>
                <a:latin typeface="Arial Nova Bold"/>
                <a:ea typeface="Arial Nova Bold"/>
                <a:cs typeface="Arial Nova Bold"/>
                <a:sym typeface="Arial Nova Bold"/>
              </a:rPr>
              <a:t>us</a:t>
            </a:r>
            <a:r>
              <a:rPr lang="en-US" b="true" sz="3000" strike="noStrike" u="none">
                <a:solidFill>
                  <a:srgbClr val="FF914D"/>
                </a:solidFill>
                <a:latin typeface="Arial Nova Bold"/>
                <a:ea typeface="Arial Nova Bold"/>
                <a:cs typeface="Arial Nova Bold"/>
                <a:sym typeface="Arial Nova Bold"/>
              </a:rPr>
              <a:t>iness</a:t>
            </a:r>
            <a:r>
              <a:rPr lang="en-US" b="true" sz="3000" strike="noStrike" u="none">
                <a:solidFill>
                  <a:srgbClr val="FF914D"/>
                </a:solidFill>
                <a:latin typeface="Arial Nova Bold"/>
                <a:ea typeface="Arial Nova Bold"/>
                <a:cs typeface="Arial Nova Bold"/>
                <a:sym typeface="Arial Nova Bold"/>
              </a:rPr>
              <a:t> </a:t>
            </a:r>
            <a:r>
              <a:rPr lang="en-US" b="true" sz="3000" strike="noStrike" u="none">
                <a:solidFill>
                  <a:srgbClr val="FF914D"/>
                </a:solidFill>
                <a:latin typeface="Arial Nova Bold"/>
                <a:ea typeface="Arial Nova Bold"/>
                <a:cs typeface="Arial Nova Bold"/>
                <a:sym typeface="Arial Nova Bold"/>
              </a:rPr>
              <a:t>Va</a:t>
            </a:r>
            <a:r>
              <a:rPr lang="en-US" b="true" sz="3000" strike="noStrike" u="none">
                <a:solidFill>
                  <a:srgbClr val="FF914D"/>
                </a:solidFill>
                <a:latin typeface="Arial Nova Bold"/>
                <a:ea typeface="Arial Nova Bold"/>
                <a:cs typeface="Arial Nova Bold"/>
                <a:sym typeface="Arial Nova Bold"/>
              </a:rPr>
              <a:t>l</a:t>
            </a:r>
            <a:r>
              <a:rPr lang="en-US" b="true" sz="3000" strike="noStrike" u="none">
                <a:solidFill>
                  <a:srgbClr val="FF914D"/>
                </a:solidFill>
                <a:latin typeface="Arial Nova Bold"/>
                <a:ea typeface="Arial Nova Bold"/>
                <a:cs typeface="Arial Nova Bold"/>
                <a:sym typeface="Arial Nova Bold"/>
              </a:rPr>
              <a:t>ue</a:t>
            </a:r>
          </a:p>
          <a:p>
            <a:pPr algn="l" marL="647700" indent="-323850" lvl="1">
              <a:lnSpc>
                <a:spcPts val="4200"/>
              </a:lnSpc>
              <a:buFont typeface="Arial"/>
              <a:buChar char="•"/>
            </a:pPr>
            <a:r>
              <a:rPr lang="en-US" sz="3000" strike="noStrike" u="none">
                <a:solidFill>
                  <a:srgbClr val="FFFFFF"/>
                </a:solidFill>
                <a:latin typeface="Arial Nova"/>
                <a:ea typeface="Arial Nova"/>
                <a:cs typeface="Arial Nova"/>
                <a:sym typeface="Arial Nova"/>
              </a:rPr>
              <a:t>He</a:t>
            </a:r>
            <a:r>
              <a:rPr lang="en-US" sz="3000" strike="noStrike" u="none">
                <a:solidFill>
                  <a:srgbClr val="FFFFFF"/>
                </a:solidFill>
                <a:latin typeface="Arial Nova"/>
                <a:ea typeface="Arial Nova"/>
                <a:cs typeface="Arial Nova"/>
                <a:sym typeface="Arial Nova"/>
              </a:rPr>
              <a:t>lps decision-makers unde</a:t>
            </a:r>
            <a:r>
              <a:rPr lang="en-US" sz="3000" strike="noStrike" u="none">
                <a:solidFill>
                  <a:srgbClr val="FFFFFF"/>
                </a:solidFill>
                <a:latin typeface="Arial Nova"/>
                <a:ea typeface="Arial Nova"/>
                <a:cs typeface="Arial Nova"/>
                <a:sym typeface="Arial Nova"/>
              </a:rPr>
              <a:t>rs</a:t>
            </a:r>
            <a:r>
              <a:rPr lang="en-US" sz="3000" strike="noStrike" u="none">
                <a:solidFill>
                  <a:srgbClr val="FFFFFF"/>
                </a:solidFill>
                <a:latin typeface="Arial Nova"/>
                <a:ea typeface="Arial Nova"/>
                <a:cs typeface="Arial Nova"/>
                <a:sym typeface="Arial Nova"/>
              </a:rPr>
              <a:t>tand t</a:t>
            </a:r>
            <a:r>
              <a:rPr lang="en-US" sz="3000" strike="noStrike" u="none">
                <a:solidFill>
                  <a:srgbClr val="FFFFFF"/>
                </a:solidFill>
                <a:latin typeface="Arial Nova"/>
                <a:ea typeface="Arial Nova"/>
                <a:cs typeface="Arial Nova"/>
                <a:sym typeface="Arial Nova"/>
              </a:rPr>
              <a:t>h</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 t</a:t>
            </a:r>
            <a:r>
              <a:rPr lang="en-US" sz="3000" strike="noStrike" u="none">
                <a:solidFill>
                  <a:srgbClr val="FFFFFF"/>
                </a:solidFill>
                <a:latin typeface="Arial Nova"/>
                <a:ea typeface="Arial Nova"/>
                <a:cs typeface="Arial Nova"/>
                <a:sym typeface="Arial Nova"/>
              </a:rPr>
              <a:t>r</a:t>
            </a:r>
            <a:r>
              <a:rPr lang="en-US" sz="3000" strike="noStrike" u="none">
                <a:solidFill>
                  <a:srgbClr val="FFFFFF"/>
                </a:solidFill>
                <a:latin typeface="Arial Nova"/>
                <a:ea typeface="Arial Nova"/>
                <a:cs typeface="Arial Nova"/>
                <a:sym typeface="Arial Nova"/>
              </a:rPr>
              <a:t>ad</a:t>
            </a:r>
            <a:r>
              <a:rPr lang="en-US" sz="3000" strike="noStrike" u="none">
                <a:solidFill>
                  <a:srgbClr val="FFFFFF"/>
                </a:solidFill>
                <a:latin typeface="Arial Nova"/>
                <a:ea typeface="Arial Nova"/>
                <a:cs typeface="Arial Nova"/>
                <a:sym typeface="Arial Nova"/>
              </a:rPr>
              <a:t>e</a:t>
            </a:r>
            <a:r>
              <a:rPr lang="en-US" sz="3000" strike="noStrike" u="none">
                <a:solidFill>
                  <a:srgbClr val="FFFFFF"/>
                </a:solidFill>
                <a:latin typeface="Arial Nova"/>
                <a:ea typeface="Arial Nova"/>
                <a:cs typeface="Arial Nova"/>
                <a:sym typeface="Arial Nova"/>
              </a:rPr>
              <a:t>-</a:t>
            </a:r>
            <a:r>
              <a:rPr lang="en-US" sz="3000" strike="noStrike" u="none">
                <a:solidFill>
                  <a:srgbClr val="FFFFFF"/>
                </a:solidFill>
                <a:latin typeface="Arial Nova"/>
                <a:ea typeface="Arial Nova"/>
                <a:cs typeface="Arial Nova"/>
                <a:sym typeface="Arial Nova"/>
              </a:rPr>
              <a:t>o</a:t>
            </a:r>
            <a:r>
              <a:rPr lang="en-US" sz="3000" strike="noStrike" u="none">
                <a:solidFill>
                  <a:srgbClr val="FFFFFF"/>
                </a:solidFill>
                <a:latin typeface="Arial Nova"/>
                <a:ea typeface="Arial Nova"/>
                <a:cs typeface="Arial Nova"/>
                <a:sym typeface="Arial Nova"/>
              </a:rPr>
              <a:t>ff</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betwee</a:t>
            </a:r>
            <a:r>
              <a:rPr lang="en-US" sz="3000" strike="noStrike" u="none">
                <a:solidFill>
                  <a:srgbClr val="FFFFFF"/>
                </a:solidFill>
                <a:latin typeface="Arial Nova"/>
                <a:ea typeface="Arial Nova"/>
                <a:cs typeface="Arial Nova"/>
                <a:sym typeface="Arial Nova"/>
              </a:rPr>
              <a:t>n</a:t>
            </a:r>
            <a:r>
              <a:rPr lang="en-US" sz="3000" strike="noStrike" u="none">
                <a:solidFill>
                  <a:srgbClr val="FFFFFF"/>
                </a:solidFill>
                <a:latin typeface="Arial Nova"/>
                <a:ea typeface="Arial Nova"/>
                <a:cs typeface="Arial Nova"/>
                <a:sym typeface="Arial Nova"/>
              </a:rPr>
              <a:t> ADR </a:t>
            </a:r>
            <a:r>
              <a:rPr lang="en-US" sz="3000" strike="noStrike" u="none">
                <a:solidFill>
                  <a:srgbClr val="FFFFFF"/>
                </a:solidFill>
                <a:latin typeface="Arial Nova"/>
                <a:ea typeface="Arial Nova"/>
                <a:cs typeface="Arial Nova"/>
                <a:sym typeface="Arial Nova"/>
              </a:rPr>
              <a:t>an</a:t>
            </a:r>
            <a:r>
              <a:rPr lang="en-US" sz="3000" strike="noStrike" u="none">
                <a:solidFill>
                  <a:srgbClr val="FFFFFF"/>
                </a:solidFill>
                <a:latin typeface="Arial Nova"/>
                <a:ea typeface="Arial Nova"/>
                <a:cs typeface="Arial Nova"/>
                <a:sym typeface="Arial Nova"/>
              </a:rPr>
              <a:t>d</a:t>
            </a:r>
            <a:r>
              <a:rPr lang="en-US" sz="3000" strike="noStrike" u="none">
                <a:solidFill>
                  <a:srgbClr val="FFFFFF"/>
                </a:solidFill>
                <a:latin typeface="Arial Nova"/>
                <a:ea typeface="Arial Nova"/>
                <a:cs typeface="Arial Nova"/>
                <a:sym typeface="Arial Nova"/>
              </a:rPr>
              <a:t> occupancy</a:t>
            </a:r>
            <a:r>
              <a:rPr lang="en-US" sz="3000" strike="noStrike" u="none">
                <a:solidFill>
                  <a:srgbClr val="FFFFFF"/>
                </a:solidFill>
                <a:latin typeface="Arial Nova"/>
                <a:ea typeface="Arial Nova"/>
                <a:cs typeface="Arial Nova"/>
                <a:sym typeface="Arial Nova"/>
              </a:rPr>
              <a:t>.</a:t>
            </a:r>
          </a:p>
          <a:p>
            <a:pPr algn="l" marL="647700" indent="-323850" lvl="1">
              <a:lnSpc>
                <a:spcPts val="4200"/>
              </a:lnSpc>
              <a:spcBef>
                <a:spcPct val="0"/>
              </a:spcBef>
              <a:buFont typeface="Arial"/>
              <a:buChar char="•"/>
            </a:pPr>
            <a:r>
              <a:rPr lang="en-US" sz="3000" strike="noStrike" u="none">
                <a:solidFill>
                  <a:srgbClr val="FFFFFF"/>
                </a:solidFill>
                <a:latin typeface="Arial Nova"/>
                <a:ea typeface="Arial Nova"/>
                <a:cs typeface="Arial Nova"/>
                <a:sym typeface="Arial Nova"/>
              </a:rPr>
              <a:t>Supports </a:t>
            </a:r>
            <a:r>
              <a:rPr lang="en-US" sz="3000" strike="noStrike" u="none">
                <a:solidFill>
                  <a:srgbClr val="FFFFFF"/>
                </a:solidFill>
                <a:latin typeface="Arial Nova"/>
                <a:ea typeface="Arial Nova"/>
                <a:cs typeface="Arial Nova"/>
                <a:sym typeface="Arial Nova"/>
              </a:rPr>
              <a:t>RevPAR optimization through </a:t>
            </a:r>
            <a:r>
              <a:rPr lang="en-US" sz="3000" strike="noStrike" u="none">
                <a:solidFill>
                  <a:srgbClr val="FFFFFF"/>
                </a:solidFill>
                <a:latin typeface="Arial Nova"/>
                <a:ea typeface="Arial Nova"/>
                <a:cs typeface="Arial Nova"/>
                <a:sym typeface="Arial Nova"/>
              </a:rPr>
              <a:t>data-driven </a:t>
            </a:r>
            <a:r>
              <a:rPr lang="en-US" sz="3000" strike="noStrike" u="none">
                <a:solidFill>
                  <a:srgbClr val="FFFFFF"/>
                </a:solidFill>
                <a:latin typeface="Arial Nova"/>
                <a:ea typeface="Arial Nova"/>
                <a:cs typeface="Arial Nova"/>
                <a:sym typeface="Arial Nova"/>
              </a:rPr>
              <a:t>sc</a:t>
            </a:r>
            <a:r>
              <a:rPr lang="en-US" sz="3000" strike="noStrike" u="none">
                <a:solidFill>
                  <a:srgbClr val="FFFFFF"/>
                </a:solidFill>
                <a:latin typeface="Arial Nova"/>
                <a:ea typeface="Arial Nova"/>
                <a:cs typeface="Arial Nova"/>
                <a:sym typeface="Arial Nova"/>
              </a:rPr>
              <a:t>en</a:t>
            </a:r>
            <a:r>
              <a:rPr lang="en-US" sz="3000" strike="noStrike" u="none">
                <a:solidFill>
                  <a:srgbClr val="FFFFFF"/>
                </a:solidFill>
                <a:latin typeface="Arial Nova"/>
                <a:ea typeface="Arial Nova"/>
                <a:cs typeface="Arial Nova"/>
                <a:sym typeface="Arial Nova"/>
              </a:rPr>
              <a:t>ario</a:t>
            </a:r>
            <a:r>
              <a:rPr lang="en-US" sz="3000" strike="noStrike" u="none">
                <a:solidFill>
                  <a:srgbClr val="FFFFFF"/>
                </a:solidFill>
                <a:latin typeface="Arial Nova"/>
                <a:ea typeface="Arial Nova"/>
                <a:cs typeface="Arial Nova"/>
                <a:sym typeface="Arial Nova"/>
              </a:rPr>
              <a:t> </a:t>
            </a:r>
            <a:r>
              <a:rPr lang="en-US" sz="3000" strike="noStrike" u="none">
                <a:solidFill>
                  <a:srgbClr val="FFFFFF"/>
                </a:solidFill>
                <a:latin typeface="Arial Nova"/>
                <a:ea typeface="Arial Nova"/>
                <a:cs typeface="Arial Nova"/>
                <a:sym typeface="Arial Nova"/>
              </a:rPr>
              <a:t>pl</a:t>
            </a:r>
            <a:r>
              <a:rPr lang="en-US" sz="3000" strike="noStrike" u="none">
                <a:solidFill>
                  <a:srgbClr val="FFFFFF"/>
                </a:solidFill>
                <a:latin typeface="Arial Nova"/>
                <a:ea typeface="Arial Nova"/>
                <a:cs typeface="Arial Nova"/>
                <a:sym typeface="Arial Nova"/>
              </a:rPr>
              <a:t>annin</a:t>
            </a:r>
            <a:r>
              <a:rPr lang="en-US" sz="3000" strike="noStrike" u="none">
                <a:solidFill>
                  <a:srgbClr val="FFFFFF"/>
                </a:solidFill>
                <a:latin typeface="Arial Nova"/>
                <a:ea typeface="Arial Nova"/>
                <a:cs typeface="Arial Nova"/>
                <a:sym typeface="Arial Nova"/>
              </a:rPr>
              <a:t>g.</a:t>
            </a:r>
          </a:p>
        </p:txBody>
      </p:sp>
      <p:sp>
        <p:nvSpPr>
          <p:cNvPr name="TextBox 12" id="12"/>
          <p:cNvSpPr txBox="true"/>
          <p:nvPr/>
        </p:nvSpPr>
        <p:spPr>
          <a:xfrm rot="0">
            <a:off x="549101" y="261527"/>
            <a:ext cx="17189799" cy="904875"/>
          </a:xfrm>
          <a:prstGeom prst="rect">
            <a:avLst/>
          </a:prstGeom>
        </p:spPr>
        <p:txBody>
          <a:bodyPr anchor="t" rtlCol="false" tIns="0" lIns="0" bIns="0" rIns="0">
            <a:spAutoFit/>
          </a:bodyPr>
          <a:lstStyle/>
          <a:p>
            <a:pPr algn="ctr">
              <a:lnSpc>
                <a:spcPts val="7500"/>
              </a:lnSpc>
            </a:pPr>
            <a:r>
              <a:rPr lang="en-US" b="true" sz="5000">
                <a:solidFill>
                  <a:srgbClr val="FFFFFF"/>
                </a:solidFill>
                <a:latin typeface="Arial Nova Bold"/>
                <a:ea typeface="Arial Nova Bold"/>
                <a:cs typeface="Arial Nova Bold"/>
                <a:sym typeface="Arial Nova Bold"/>
              </a:rPr>
              <a:t>MODULE 5 - REVENUE STRATEGY DASHBOARD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547015" y="1028700"/>
            <a:ext cx="8399780" cy="4724876"/>
          </a:xfrm>
          <a:custGeom>
            <a:avLst/>
            <a:gdLst/>
            <a:ahLst/>
            <a:cxnLst/>
            <a:rect r="r" b="b" t="t" l="l"/>
            <a:pathLst>
              <a:path h="4724876" w="8399780">
                <a:moveTo>
                  <a:pt x="0" y="0"/>
                </a:moveTo>
                <a:lnTo>
                  <a:pt x="8399780" y="0"/>
                </a:lnTo>
                <a:lnTo>
                  <a:pt x="8399780" y="4724876"/>
                </a:lnTo>
                <a:lnTo>
                  <a:pt x="0" y="4724876"/>
                </a:lnTo>
                <a:lnTo>
                  <a:pt x="0" y="0"/>
                </a:lnTo>
                <a:close/>
              </a:path>
            </a:pathLst>
          </a:custGeom>
          <a:blipFill>
            <a:blip r:embed="rId2"/>
            <a:stretch>
              <a:fillRect l="0" t="0" r="0" b="0"/>
            </a:stretch>
          </a:blipFill>
        </p:spPr>
      </p:sp>
      <p:sp>
        <p:nvSpPr>
          <p:cNvPr name="Freeform 9" id="9"/>
          <p:cNvSpPr/>
          <p:nvPr/>
        </p:nvSpPr>
        <p:spPr>
          <a:xfrm flipH="false" flipV="false" rot="0">
            <a:off x="9144000" y="4636145"/>
            <a:ext cx="8585241" cy="4839929"/>
          </a:xfrm>
          <a:custGeom>
            <a:avLst/>
            <a:gdLst/>
            <a:ahLst/>
            <a:cxnLst/>
            <a:rect r="r" b="b" t="t" l="l"/>
            <a:pathLst>
              <a:path h="4839929" w="8585241">
                <a:moveTo>
                  <a:pt x="0" y="0"/>
                </a:moveTo>
                <a:lnTo>
                  <a:pt x="8585241" y="0"/>
                </a:lnTo>
                <a:lnTo>
                  <a:pt x="8585241" y="4839929"/>
                </a:lnTo>
                <a:lnTo>
                  <a:pt x="0" y="4839929"/>
                </a:lnTo>
                <a:lnTo>
                  <a:pt x="0" y="0"/>
                </a:lnTo>
                <a:close/>
              </a:path>
            </a:pathLst>
          </a:custGeom>
          <a:blipFill>
            <a:blip r:embed="rId3"/>
            <a:stretch>
              <a:fillRect l="0" t="0" r="0" b="0"/>
            </a:stretch>
          </a:blipFill>
        </p:spPr>
      </p:sp>
      <p:sp>
        <p:nvSpPr>
          <p:cNvPr name="TextBox 10" id="10"/>
          <p:cNvSpPr txBox="true"/>
          <p:nvPr/>
        </p:nvSpPr>
        <p:spPr>
          <a:xfrm rot="0">
            <a:off x="547015" y="381000"/>
            <a:ext cx="17159830" cy="647700"/>
          </a:xfrm>
          <a:prstGeom prst="rect">
            <a:avLst/>
          </a:prstGeom>
        </p:spPr>
        <p:txBody>
          <a:bodyPr anchor="t" rtlCol="false" tIns="0" lIns="0" bIns="0" rIns="0">
            <a:spAutoFit/>
          </a:bodyPr>
          <a:lstStyle/>
          <a:p>
            <a:pPr algn="ctr">
              <a:lnSpc>
                <a:spcPts val="4800"/>
              </a:lnSpc>
            </a:pPr>
            <a:r>
              <a:rPr lang="en-US" b="true" sz="5000" spc="-255">
                <a:solidFill>
                  <a:srgbClr val="FFFFFF"/>
                </a:solidFill>
                <a:latin typeface="Arial Nova Bold"/>
                <a:ea typeface="Arial Nova Bold"/>
                <a:cs typeface="Arial Nova Bold"/>
                <a:sym typeface="Arial Nova Bold"/>
              </a:rPr>
              <a:t>STRATEGY SIMULATION &amp; DECISION SUPPORT DASHBOARD</a:t>
            </a:r>
          </a:p>
        </p:txBody>
      </p:sp>
      <p:grpSp>
        <p:nvGrpSpPr>
          <p:cNvPr name="Group 11" id="11"/>
          <p:cNvGrpSpPr/>
          <p:nvPr/>
        </p:nvGrpSpPr>
        <p:grpSpPr>
          <a:xfrm rot="0">
            <a:off x="9144000" y="1028700"/>
            <a:ext cx="8562845" cy="3455582"/>
            <a:chOff x="0" y="0"/>
            <a:chExt cx="2255235" cy="910112"/>
          </a:xfrm>
        </p:grpSpPr>
        <p:sp>
          <p:nvSpPr>
            <p:cNvPr name="Freeform 12" id="12"/>
            <p:cNvSpPr/>
            <p:nvPr/>
          </p:nvSpPr>
          <p:spPr>
            <a:xfrm flipH="false" flipV="false" rot="0">
              <a:off x="0" y="0"/>
              <a:ext cx="2255235" cy="910112"/>
            </a:xfrm>
            <a:custGeom>
              <a:avLst/>
              <a:gdLst/>
              <a:ahLst/>
              <a:cxnLst/>
              <a:rect r="r" b="b" t="t" l="l"/>
              <a:pathLst>
                <a:path h="910112" w="2255235">
                  <a:moveTo>
                    <a:pt x="0" y="0"/>
                  </a:moveTo>
                  <a:lnTo>
                    <a:pt x="2255235" y="0"/>
                  </a:lnTo>
                  <a:lnTo>
                    <a:pt x="2255235" y="910112"/>
                  </a:lnTo>
                  <a:lnTo>
                    <a:pt x="0" y="910112"/>
                  </a:lnTo>
                  <a:close/>
                </a:path>
              </a:pathLst>
            </a:custGeom>
            <a:solidFill>
              <a:srgbClr val="036493"/>
            </a:solidFill>
          </p:spPr>
        </p:sp>
        <p:sp>
          <p:nvSpPr>
            <p:cNvPr name="TextBox 13" id="13"/>
            <p:cNvSpPr txBox="true"/>
            <p:nvPr/>
          </p:nvSpPr>
          <p:spPr>
            <a:xfrm>
              <a:off x="0" y="-66675"/>
              <a:ext cx="2255235" cy="976787"/>
            </a:xfrm>
            <a:prstGeom prst="rect">
              <a:avLst/>
            </a:prstGeom>
          </p:spPr>
          <p:txBody>
            <a:bodyPr anchor="ctr" rtlCol="false" tIns="50800" lIns="50800" bIns="50800" rIns="50800"/>
            <a:lstStyle/>
            <a:p>
              <a:pPr algn="ctr">
                <a:lnSpc>
                  <a:spcPts val="3494"/>
                </a:lnSpc>
              </a:pPr>
            </a:p>
          </p:txBody>
        </p:sp>
      </p:grpSp>
      <p:sp>
        <p:nvSpPr>
          <p:cNvPr name="TextBox 14" id="14"/>
          <p:cNvSpPr txBox="true"/>
          <p:nvPr/>
        </p:nvSpPr>
        <p:spPr>
          <a:xfrm rot="0">
            <a:off x="9276667" y="1021943"/>
            <a:ext cx="8297511" cy="3421470"/>
          </a:xfrm>
          <a:prstGeom prst="rect">
            <a:avLst/>
          </a:prstGeom>
        </p:spPr>
        <p:txBody>
          <a:bodyPr anchor="t" rtlCol="false" tIns="0" lIns="0" bIns="0" rIns="0">
            <a:spAutoFit/>
          </a:bodyPr>
          <a:lstStyle/>
          <a:p>
            <a:pPr algn="just" marL="0" indent="0" lvl="0">
              <a:lnSpc>
                <a:spcPts val="3040"/>
              </a:lnSpc>
            </a:pPr>
            <a:r>
              <a:rPr lang="en-US" b="true" sz="2171">
                <a:solidFill>
                  <a:srgbClr val="FF914D"/>
                </a:solidFill>
                <a:latin typeface="Arial Nova Bold"/>
                <a:ea typeface="Arial Nova Bold"/>
                <a:cs typeface="Arial Nova Bold"/>
                <a:sym typeface="Arial Nova Bold"/>
              </a:rPr>
              <a:t>Revenue by</a:t>
            </a:r>
            <a:r>
              <a:rPr lang="en-US" b="true" sz="2171" strike="noStrike" u="none">
                <a:solidFill>
                  <a:srgbClr val="FF914D"/>
                </a:solidFill>
                <a:latin typeface="Arial Nova Bold"/>
                <a:ea typeface="Arial Nova Bold"/>
                <a:cs typeface="Arial Nova Bold"/>
                <a:sym typeface="Arial Nova Bold"/>
              </a:rPr>
              <a:t> </a:t>
            </a:r>
            <a:r>
              <a:rPr lang="en-US" b="true" sz="2171" strike="noStrike" u="none">
                <a:solidFill>
                  <a:srgbClr val="FF914D"/>
                </a:solidFill>
                <a:latin typeface="Arial Nova Bold"/>
                <a:ea typeface="Arial Nova Bold"/>
                <a:cs typeface="Arial Nova Bold"/>
                <a:sym typeface="Arial Nova Bold"/>
              </a:rPr>
              <a:t>Mon</a:t>
            </a:r>
            <a:r>
              <a:rPr lang="en-US" b="true" sz="2171" strike="noStrike" u="none">
                <a:solidFill>
                  <a:srgbClr val="FF914D"/>
                </a:solidFill>
                <a:latin typeface="Arial Nova Bold"/>
                <a:ea typeface="Arial Nova Bold"/>
                <a:cs typeface="Arial Nova Bold"/>
                <a:sym typeface="Arial Nova Bold"/>
              </a:rPr>
              <a:t>th</a:t>
            </a:r>
            <a:r>
              <a:rPr lang="en-US" b="true" sz="2171" strike="noStrike" u="none">
                <a:solidFill>
                  <a:srgbClr val="FF914D"/>
                </a:solidFill>
                <a:latin typeface="Arial Nova Bold"/>
                <a:ea typeface="Arial Nova Bold"/>
                <a:cs typeface="Arial Nova Bold"/>
                <a:sym typeface="Arial Nova Bold"/>
              </a:rPr>
              <a:t> &amp; Servic</a:t>
            </a:r>
            <a:r>
              <a:rPr lang="en-US" b="true" sz="2171" strike="noStrike" u="none">
                <a:solidFill>
                  <a:srgbClr val="FF914D"/>
                </a:solidFill>
                <a:latin typeface="Arial Nova Bold"/>
                <a:ea typeface="Arial Nova Bold"/>
                <a:cs typeface="Arial Nova Bold"/>
                <a:sym typeface="Arial Nova Bold"/>
              </a:rPr>
              <a:t>e Type</a:t>
            </a:r>
          </a:p>
          <a:p>
            <a:pPr algn="just" marL="468813" indent="-234407" lvl="1">
              <a:lnSpc>
                <a:spcPts val="3040"/>
              </a:lnSpc>
              <a:buFont typeface="Arial"/>
              <a:buChar char="•"/>
            </a:pPr>
            <a:r>
              <a:rPr lang="en-US" sz="2171" strike="noStrike" u="none">
                <a:solidFill>
                  <a:srgbClr val="FFFFFF"/>
                </a:solidFill>
                <a:latin typeface="Arial Nova"/>
                <a:ea typeface="Arial Nova"/>
                <a:cs typeface="Arial Nova"/>
                <a:sym typeface="Arial Nova"/>
              </a:rPr>
              <a:t>Spa and D</a:t>
            </a:r>
            <a:r>
              <a:rPr lang="en-US" sz="2171" strike="noStrike" u="none">
                <a:solidFill>
                  <a:srgbClr val="FFFFFF"/>
                </a:solidFill>
                <a:latin typeface="Arial Nova"/>
                <a:ea typeface="Arial Nova"/>
                <a:cs typeface="Arial Nova"/>
                <a:sym typeface="Arial Nova"/>
              </a:rPr>
              <a:t>ining consistently contribute the la</a:t>
            </a:r>
            <a:r>
              <a:rPr lang="en-US" sz="2171" strike="noStrike" u="none">
                <a:solidFill>
                  <a:srgbClr val="FFFFFF"/>
                </a:solidFill>
                <a:latin typeface="Arial Nova"/>
                <a:ea typeface="Arial Nova"/>
                <a:cs typeface="Arial Nova"/>
                <a:sym typeface="Arial Nova"/>
              </a:rPr>
              <a:t>rgest </a:t>
            </a:r>
            <a:r>
              <a:rPr lang="en-US" sz="2171" strike="noStrike" u="none">
                <a:solidFill>
                  <a:srgbClr val="FFFFFF"/>
                </a:solidFill>
                <a:latin typeface="Arial Nova"/>
                <a:ea typeface="Arial Nova"/>
                <a:cs typeface="Arial Nova"/>
                <a:sym typeface="Arial Nova"/>
              </a:rPr>
              <a:t>share o</a:t>
            </a:r>
            <a:r>
              <a:rPr lang="en-US" sz="2171" strike="noStrike" u="none">
                <a:solidFill>
                  <a:srgbClr val="FFFFFF"/>
                </a:solidFill>
                <a:latin typeface="Arial Nova"/>
                <a:ea typeface="Arial Nova"/>
                <a:cs typeface="Arial Nova"/>
                <a:sym typeface="Arial Nova"/>
              </a:rPr>
              <a:t>f ancilla</a:t>
            </a:r>
            <a:r>
              <a:rPr lang="en-US" sz="2171" strike="noStrike" u="none">
                <a:solidFill>
                  <a:srgbClr val="FFFFFF"/>
                </a:solidFill>
                <a:latin typeface="Arial Nova"/>
                <a:ea typeface="Arial Nova"/>
                <a:cs typeface="Arial Nova"/>
                <a:sym typeface="Arial Nova"/>
              </a:rPr>
              <a:t>ry </a:t>
            </a:r>
            <a:r>
              <a:rPr lang="en-US" sz="2171" strike="noStrike" u="none">
                <a:solidFill>
                  <a:srgbClr val="FFFFFF"/>
                </a:solidFill>
                <a:latin typeface="Arial Nova"/>
                <a:ea typeface="Arial Nova"/>
                <a:cs typeface="Arial Nova"/>
                <a:sym typeface="Arial Nova"/>
              </a:rPr>
              <a:t>rev</a:t>
            </a:r>
            <a:r>
              <a:rPr lang="en-US" sz="2171" strike="noStrike" u="none">
                <a:solidFill>
                  <a:srgbClr val="FFFFFF"/>
                </a:solidFill>
                <a:latin typeface="Arial Nova"/>
                <a:ea typeface="Arial Nova"/>
                <a:cs typeface="Arial Nova"/>
                <a:sym typeface="Arial Nova"/>
              </a:rPr>
              <a:t>enue acr</a:t>
            </a:r>
            <a:r>
              <a:rPr lang="en-US" sz="2171" strike="noStrike" u="none">
                <a:solidFill>
                  <a:srgbClr val="FFFFFF"/>
                </a:solidFill>
                <a:latin typeface="Arial Nova"/>
                <a:ea typeface="Arial Nova"/>
                <a:cs typeface="Arial Nova"/>
                <a:sym typeface="Arial Nova"/>
              </a:rPr>
              <a:t>oss </a:t>
            </a:r>
            <a:r>
              <a:rPr lang="en-US" sz="2171" strike="noStrike" u="none">
                <a:solidFill>
                  <a:srgbClr val="FFFFFF"/>
                </a:solidFill>
                <a:latin typeface="Arial Nova"/>
                <a:ea typeface="Arial Nova"/>
                <a:cs typeface="Arial Nova"/>
                <a:sym typeface="Arial Nova"/>
              </a:rPr>
              <a:t>a</a:t>
            </a:r>
            <a:r>
              <a:rPr lang="en-US" sz="2171" strike="noStrike" u="none">
                <a:solidFill>
                  <a:srgbClr val="FFFFFF"/>
                </a:solidFill>
                <a:latin typeface="Arial Nova"/>
                <a:ea typeface="Arial Nova"/>
                <a:cs typeface="Arial Nova"/>
                <a:sym typeface="Arial Nova"/>
              </a:rPr>
              <a:t>l</a:t>
            </a:r>
            <a:r>
              <a:rPr lang="en-US" sz="2171" strike="noStrike" u="none">
                <a:solidFill>
                  <a:srgbClr val="FFFFFF"/>
                </a:solidFill>
                <a:latin typeface="Arial Nova"/>
                <a:ea typeface="Arial Nova"/>
                <a:cs typeface="Arial Nova"/>
                <a:sym typeface="Arial Nova"/>
              </a:rPr>
              <a:t>l months, </a:t>
            </a:r>
            <a:r>
              <a:rPr lang="en-US" sz="2171" strike="noStrike" u="none">
                <a:solidFill>
                  <a:srgbClr val="FFFFFF"/>
                </a:solidFill>
                <a:latin typeface="Arial Nova"/>
                <a:ea typeface="Arial Nova"/>
                <a:cs typeface="Arial Nova"/>
                <a:sym typeface="Arial Nova"/>
              </a:rPr>
              <a:t>indic</a:t>
            </a:r>
            <a:r>
              <a:rPr lang="en-US" sz="2171" strike="noStrike" u="none">
                <a:solidFill>
                  <a:srgbClr val="FFFFFF"/>
                </a:solidFill>
                <a:latin typeface="Arial Nova"/>
                <a:ea typeface="Arial Nova"/>
                <a:cs typeface="Arial Nova"/>
                <a:sym typeface="Arial Nova"/>
              </a:rPr>
              <a:t>ating </a:t>
            </a:r>
            <a:r>
              <a:rPr lang="en-US" sz="2171" strike="noStrike" u="none">
                <a:solidFill>
                  <a:srgbClr val="FFFFFF"/>
                </a:solidFill>
                <a:latin typeface="Arial Nova"/>
                <a:ea typeface="Arial Nova"/>
                <a:cs typeface="Arial Nova"/>
                <a:sym typeface="Arial Nova"/>
              </a:rPr>
              <a:t>stro</a:t>
            </a:r>
            <a:r>
              <a:rPr lang="en-US" sz="2171" strike="noStrike" u="none">
                <a:solidFill>
                  <a:srgbClr val="FFFFFF"/>
                </a:solidFill>
                <a:latin typeface="Arial Nova"/>
                <a:ea typeface="Arial Nova"/>
                <a:cs typeface="Arial Nova"/>
                <a:sym typeface="Arial Nova"/>
              </a:rPr>
              <a:t>n</a:t>
            </a:r>
            <a:r>
              <a:rPr lang="en-US" sz="2171" strike="noStrike" u="none">
                <a:solidFill>
                  <a:srgbClr val="FFFFFF"/>
                </a:solidFill>
                <a:latin typeface="Arial Nova"/>
                <a:ea typeface="Arial Nova"/>
                <a:cs typeface="Arial Nova"/>
                <a:sym typeface="Arial Nova"/>
              </a:rPr>
              <a:t>g </a:t>
            </a:r>
            <a:r>
              <a:rPr lang="en-US" sz="2171" strike="noStrike" u="none">
                <a:solidFill>
                  <a:srgbClr val="FFFFFF"/>
                </a:solidFill>
                <a:latin typeface="Arial Nova"/>
                <a:ea typeface="Arial Nova"/>
                <a:cs typeface="Arial Nova"/>
                <a:sym typeface="Arial Nova"/>
              </a:rPr>
              <a:t>u</a:t>
            </a:r>
            <a:r>
              <a:rPr lang="en-US" sz="2171" strike="noStrike" u="none">
                <a:solidFill>
                  <a:srgbClr val="FFFFFF"/>
                </a:solidFill>
                <a:latin typeface="Arial Nova"/>
                <a:ea typeface="Arial Nova"/>
                <a:cs typeface="Arial Nova"/>
                <a:sym typeface="Arial Nova"/>
              </a:rPr>
              <a:t>ps</a:t>
            </a:r>
            <a:r>
              <a:rPr lang="en-US" sz="2171" strike="noStrike" u="none">
                <a:solidFill>
                  <a:srgbClr val="FFFFFF"/>
                </a:solidFill>
                <a:latin typeface="Arial Nova"/>
                <a:ea typeface="Arial Nova"/>
                <a:cs typeface="Arial Nova"/>
                <a:sym typeface="Arial Nova"/>
              </a:rPr>
              <a:t>e</a:t>
            </a:r>
            <a:r>
              <a:rPr lang="en-US" sz="2171" strike="noStrike" u="none">
                <a:solidFill>
                  <a:srgbClr val="FFFFFF"/>
                </a:solidFill>
                <a:latin typeface="Arial Nova"/>
                <a:ea typeface="Arial Nova"/>
                <a:cs typeface="Arial Nova"/>
                <a:sym typeface="Arial Nova"/>
              </a:rPr>
              <a:t>ll</a:t>
            </a:r>
            <a:r>
              <a:rPr lang="en-US" sz="2171" strike="noStrike" u="none">
                <a:solidFill>
                  <a:srgbClr val="FFFFFF"/>
                </a:solidFill>
                <a:latin typeface="Arial Nova"/>
                <a:ea typeface="Arial Nova"/>
                <a:cs typeface="Arial Nova"/>
                <a:sym typeface="Arial Nova"/>
              </a:rPr>
              <a:t> </a:t>
            </a:r>
            <a:r>
              <a:rPr lang="en-US" sz="2171" strike="noStrike" u="none">
                <a:solidFill>
                  <a:srgbClr val="FFFFFF"/>
                </a:solidFill>
                <a:latin typeface="Arial Nova"/>
                <a:ea typeface="Arial Nova"/>
                <a:cs typeface="Arial Nova"/>
                <a:sym typeface="Arial Nova"/>
              </a:rPr>
              <a:t>pote</a:t>
            </a:r>
            <a:r>
              <a:rPr lang="en-US" sz="2171" strike="noStrike" u="none">
                <a:solidFill>
                  <a:srgbClr val="FFFFFF"/>
                </a:solidFill>
                <a:latin typeface="Arial Nova"/>
                <a:ea typeface="Arial Nova"/>
                <a:cs typeface="Arial Nova"/>
                <a:sym typeface="Arial Nova"/>
              </a:rPr>
              <a:t>n</a:t>
            </a:r>
            <a:r>
              <a:rPr lang="en-US" sz="2171" strike="noStrike" u="none">
                <a:solidFill>
                  <a:srgbClr val="FFFFFF"/>
                </a:solidFill>
                <a:latin typeface="Arial Nova"/>
                <a:ea typeface="Arial Nova"/>
                <a:cs typeface="Arial Nova"/>
                <a:sym typeface="Arial Nova"/>
              </a:rPr>
              <a:t>ti</a:t>
            </a:r>
            <a:r>
              <a:rPr lang="en-US" sz="2171" strike="noStrike" u="none">
                <a:solidFill>
                  <a:srgbClr val="FFFFFF"/>
                </a:solidFill>
                <a:latin typeface="Arial Nova"/>
                <a:ea typeface="Arial Nova"/>
                <a:cs typeface="Arial Nova"/>
                <a:sym typeface="Arial Nova"/>
              </a:rPr>
              <a:t>a</a:t>
            </a:r>
            <a:r>
              <a:rPr lang="en-US" sz="2171" strike="noStrike" u="none">
                <a:solidFill>
                  <a:srgbClr val="FFFFFF"/>
                </a:solidFill>
                <a:latin typeface="Arial Nova"/>
                <a:ea typeface="Arial Nova"/>
                <a:cs typeface="Arial Nova"/>
                <a:sym typeface="Arial Nova"/>
              </a:rPr>
              <a:t>l</a:t>
            </a:r>
            <a:r>
              <a:rPr lang="en-US" sz="2171" strike="noStrike" u="none">
                <a:solidFill>
                  <a:srgbClr val="FFFFFF"/>
                </a:solidFill>
                <a:latin typeface="Arial Nova"/>
                <a:ea typeface="Arial Nova"/>
                <a:cs typeface="Arial Nova"/>
                <a:sym typeface="Arial Nova"/>
              </a:rPr>
              <a:t>.</a:t>
            </a:r>
          </a:p>
          <a:p>
            <a:pPr algn="just">
              <a:lnSpc>
                <a:spcPts val="3040"/>
              </a:lnSpc>
            </a:pPr>
          </a:p>
          <a:p>
            <a:pPr algn="just" marL="0" indent="0" lvl="0">
              <a:lnSpc>
                <a:spcPts val="3040"/>
              </a:lnSpc>
            </a:pPr>
            <a:r>
              <a:rPr lang="en-US" b="true" sz="2171" strike="noStrike" u="none">
                <a:solidFill>
                  <a:srgbClr val="FF914D"/>
                </a:solidFill>
                <a:latin typeface="Arial Nova Bold"/>
                <a:ea typeface="Arial Nova Bold"/>
                <a:cs typeface="Arial Nova Bold"/>
                <a:sym typeface="Arial Nova Bold"/>
              </a:rPr>
              <a:t>Annual S</a:t>
            </a:r>
            <a:r>
              <a:rPr lang="en-US" b="true" sz="2171" strike="noStrike" u="none">
                <a:solidFill>
                  <a:srgbClr val="FF914D"/>
                </a:solidFill>
                <a:latin typeface="Arial Nova Bold"/>
                <a:ea typeface="Arial Nova Bold"/>
                <a:cs typeface="Arial Nova Bold"/>
                <a:sym typeface="Arial Nova Bold"/>
              </a:rPr>
              <a:t>e</a:t>
            </a:r>
            <a:r>
              <a:rPr lang="en-US" b="true" sz="2171" strike="noStrike" u="none">
                <a:solidFill>
                  <a:srgbClr val="FF914D"/>
                </a:solidFill>
                <a:latin typeface="Arial Nova Bold"/>
                <a:ea typeface="Arial Nova Bold"/>
                <a:cs typeface="Arial Nova Bold"/>
                <a:sym typeface="Arial Nova Bold"/>
              </a:rPr>
              <a:t>rvice Revenue &amp;</a:t>
            </a:r>
            <a:r>
              <a:rPr lang="en-US" b="true" sz="2171" strike="noStrike" u="none">
                <a:solidFill>
                  <a:srgbClr val="FF914D"/>
                </a:solidFill>
                <a:latin typeface="Arial Nova Bold"/>
                <a:ea typeface="Arial Nova Bold"/>
                <a:cs typeface="Arial Nova Bold"/>
                <a:sym typeface="Arial Nova Bold"/>
              </a:rPr>
              <a:t> </a:t>
            </a:r>
            <a:r>
              <a:rPr lang="en-US" b="true" sz="2171" strike="noStrike" u="none">
                <a:solidFill>
                  <a:srgbClr val="FF914D"/>
                </a:solidFill>
                <a:latin typeface="Arial Nova Bold"/>
                <a:ea typeface="Arial Nova Bold"/>
                <a:cs typeface="Arial Nova Bold"/>
                <a:sym typeface="Arial Nova Bold"/>
              </a:rPr>
              <a:t>Tra</a:t>
            </a:r>
            <a:r>
              <a:rPr lang="en-US" b="true" sz="2171" strike="noStrike" u="none">
                <a:solidFill>
                  <a:srgbClr val="FF914D"/>
                </a:solidFill>
                <a:latin typeface="Arial Nova Bold"/>
                <a:ea typeface="Arial Nova Bold"/>
                <a:cs typeface="Arial Nova Bold"/>
                <a:sym typeface="Arial Nova Bold"/>
              </a:rPr>
              <a:t>nsactions Table</a:t>
            </a:r>
          </a:p>
          <a:p>
            <a:pPr algn="just" marL="468813" indent="-234407" lvl="1">
              <a:lnSpc>
                <a:spcPts val="3040"/>
              </a:lnSpc>
              <a:spcBef>
                <a:spcPct val="0"/>
              </a:spcBef>
              <a:buFont typeface="Arial"/>
              <a:buChar char="•"/>
            </a:pPr>
            <a:r>
              <a:rPr lang="en-US" sz="2171" strike="noStrike" u="none">
                <a:solidFill>
                  <a:srgbClr val="FFFFFF"/>
                </a:solidFill>
                <a:latin typeface="Arial Nova"/>
                <a:ea typeface="Arial Nova"/>
                <a:cs typeface="Arial Nova"/>
                <a:sym typeface="Arial Nova"/>
              </a:rPr>
              <a:t>Ov</a:t>
            </a:r>
            <a:r>
              <a:rPr lang="en-US" sz="2171" strike="noStrike" u="none">
                <a:solidFill>
                  <a:srgbClr val="FFFFFF"/>
                </a:solidFill>
                <a:latin typeface="Arial Nova"/>
                <a:ea typeface="Arial Nova"/>
                <a:cs typeface="Arial Nova"/>
                <a:sym typeface="Arial Nova"/>
              </a:rPr>
              <a:t>erall service revenue peaks in 2024, with Spa </a:t>
            </a:r>
            <a:r>
              <a:rPr lang="en-US" sz="2171" strike="noStrike" u="none">
                <a:solidFill>
                  <a:srgbClr val="FFFFFF"/>
                </a:solidFill>
                <a:latin typeface="Arial Nova"/>
                <a:ea typeface="Arial Nova"/>
                <a:cs typeface="Arial Nova"/>
                <a:sym typeface="Arial Nova"/>
              </a:rPr>
              <a:t>rema</a:t>
            </a:r>
            <a:r>
              <a:rPr lang="en-US" sz="2171" strike="noStrike" u="none">
                <a:solidFill>
                  <a:srgbClr val="FFFFFF"/>
                </a:solidFill>
                <a:latin typeface="Arial Nova"/>
                <a:ea typeface="Arial Nova"/>
                <a:cs typeface="Arial Nova"/>
                <a:sym typeface="Arial Nova"/>
              </a:rPr>
              <a:t>ining </a:t>
            </a:r>
            <a:r>
              <a:rPr lang="en-US" sz="2171" strike="noStrike" u="none">
                <a:solidFill>
                  <a:srgbClr val="FFFFFF"/>
                </a:solidFill>
                <a:latin typeface="Arial Nova"/>
                <a:ea typeface="Arial Nova"/>
                <a:cs typeface="Arial Nova"/>
                <a:sym typeface="Arial Nova"/>
              </a:rPr>
              <a:t>the highest-e</a:t>
            </a:r>
            <a:r>
              <a:rPr lang="en-US" sz="2171" strike="noStrike" u="none">
                <a:solidFill>
                  <a:srgbClr val="FFFFFF"/>
                </a:solidFill>
                <a:latin typeface="Arial Nova"/>
                <a:ea typeface="Arial Nova"/>
                <a:cs typeface="Arial Nova"/>
                <a:sym typeface="Arial Nova"/>
              </a:rPr>
              <a:t>a</a:t>
            </a:r>
            <a:r>
              <a:rPr lang="en-US" sz="2171" strike="noStrike" u="none">
                <a:solidFill>
                  <a:srgbClr val="FFFFFF"/>
                </a:solidFill>
                <a:latin typeface="Arial Nova"/>
                <a:ea typeface="Arial Nova"/>
                <a:cs typeface="Arial Nova"/>
                <a:sym typeface="Arial Nova"/>
              </a:rPr>
              <a:t>r</a:t>
            </a:r>
            <a:r>
              <a:rPr lang="en-US" sz="2171" strike="noStrike" u="none">
                <a:solidFill>
                  <a:srgbClr val="FFFFFF"/>
                </a:solidFill>
                <a:latin typeface="Arial Nova"/>
                <a:ea typeface="Arial Nova"/>
                <a:cs typeface="Arial Nova"/>
                <a:sym typeface="Arial Nova"/>
              </a:rPr>
              <a:t>n</a:t>
            </a:r>
            <a:r>
              <a:rPr lang="en-US" sz="2171" strike="noStrike" u="none">
                <a:solidFill>
                  <a:srgbClr val="FFFFFF"/>
                </a:solidFill>
                <a:latin typeface="Arial Nova"/>
                <a:ea typeface="Arial Nova"/>
                <a:cs typeface="Arial Nova"/>
                <a:sym typeface="Arial Nova"/>
              </a:rPr>
              <a:t>i</a:t>
            </a:r>
            <a:r>
              <a:rPr lang="en-US" sz="2171" strike="noStrike" u="none">
                <a:solidFill>
                  <a:srgbClr val="FFFFFF"/>
                </a:solidFill>
                <a:latin typeface="Arial Nova"/>
                <a:ea typeface="Arial Nova"/>
                <a:cs typeface="Arial Nova"/>
                <a:sym typeface="Arial Nova"/>
              </a:rPr>
              <a:t>n</a:t>
            </a:r>
            <a:r>
              <a:rPr lang="en-US" sz="2171" strike="noStrike" u="none">
                <a:solidFill>
                  <a:srgbClr val="FFFFFF"/>
                </a:solidFill>
                <a:latin typeface="Arial Nova"/>
                <a:ea typeface="Arial Nova"/>
                <a:cs typeface="Arial Nova"/>
                <a:sym typeface="Arial Nova"/>
              </a:rPr>
              <a:t>g</a:t>
            </a:r>
            <a:r>
              <a:rPr lang="en-US" sz="2171" strike="noStrike" u="none">
                <a:solidFill>
                  <a:srgbClr val="FFFFFF"/>
                </a:solidFill>
                <a:latin typeface="Arial Nova"/>
                <a:ea typeface="Arial Nova"/>
                <a:cs typeface="Arial Nova"/>
                <a:sym typeface="Arial Nova"/>
              </a:rPr>
              <a:t> service despite similar transaction </a:t>
            </a:r>
            <a:r>
              <a:rPr lang="en-US" sz="2171" strike="noStrike" u="none">
                <a:solidFill>
                  <a:srgbClr val="FFFFFF"/>
                </a:solidFill>
                <a:latin typeface="Arial Nova"/>
                <a:ea typeface="Arial Nova"/>
                <a:cs typeface="Arial Nova"/>
                <a:sym typeface="Arial Nova"/>
              </a:rPr>
              <a:t>vol</a:t>
            </a:r>
            <a:r>
              <a:rPr lang="en-US" sz="2171" strike="noStrike" u="none">
                <a:solidFill>
                  <a:srgbClr val="FFFFFF"/>
                </a:solidFill>
                <a:latin typeface="Arial Nova"/>
                <a:ea typeface="Arial Nova"/>
                <a:cs typeface="Arial Nova"/>
                <a:sym typeface="Arial Nova"/>
              </a:rPr>
              <a:t>u</a:t>
            </a:r>
            <a:r>
              <a:rPr lang="en-US" sz="2171" strike="noStrike" u="none">
                <a:solidFill>
                  <a:srgbClr val="FFFFFF"/>
                </a:solidFill>
                <a:latin typeface="Arial Nova"/>
                <a:ea typeface="Arial Nova"/>
                <a:cs typeface="Arial Nova"/>
                <a:sym typeface="Arial Nova"/>
              </a:rPr>
              <a:t>m</a:t>
            </a:r>
            <a:r>
              <a:rPr lang="en-US" sz="2171" strike="noStrike" u="none">
                <a:solidFill>
                  <a:srgbClr val="FFFFFF"/>
                </a:solidFill>
                <a:latin typeface="Arial Nova"/>
                <a:ea typeface="Arial Nova"/>
                <a:cs typeface="Arial Nova"/>
                <a:sym typeface="Arial Nova"/>
              </a:rPr>
              <a:t>es</a:t>
            </a:r>
            <a:r>
              <a:rPr lang="en-US" sz="2171" strike="noStrike" u="none">
                <a:solidFill>
                  <a:srgbClr val="FFFFFF"/>
                </a:solidFill>
                <a:latin typeface="Arial Nova"/>
                <a:ea typeface="Arial Nova"/>
                <a:cs typeface="Arial Nova"/>
                <a:sym typeface="Arial Nova"/>
              </a:rPr>
              <a:t> across</a:t>
            </a:r>
            <a:r>
              <a:rPr lang="en-US" sz="2171" strike="noStrike" u="none">
                <a:solidFill>
                  <a:srgbClr val="FFFFFF"/>
                </a:solidFill>
                <a:latin typeface="Arial Nova"/>
                <a:ea typeface="Arial Nova"/>
                <a:cs typeface="Arial Nova"/>
                <a:sym typeface="Arial Nova"/>
              </a:rPr>
              <a:t> services.</a:t>
            </a:r>
          </a:p>
        </p:txBody>
      </p:sp>
      <p:grpSp>
        <p:nvGrpSpPr>
          <p:cNvPr name="Group 15" id="15"/>
          <p:cNvGrpSpPr/>
          <p:nvPr/>
        </p:nvGrpSpPr>
        <p:grpSpPr>
          <a:xfrm rot="0">
            <a:off x="547015" y="5933908"/>
            <a:ext cx="8399780" cy="3542167"/>
            <a:chOff x="0" y="0"/>
            <a:chExt cx="2212288" cy="932916"/>
          </a:xfrm>
        </p:grpSpPr>
        <p:sp>
          <p:nvSpPr>
            <p:cNvPr name="Freeform 16" id="16"/>
            <p:cNvSpPr/>
            <p:nvPr/>
          </p:nvSpPr>
          <p:spPr>
            <a:xfrm flipH="false" flipV="false" rot="0">
              <a:off x="0" y="0"/>
              <a:ext cx="2212288" cy="932916"/>
            </a:xfrm>
            <a:custGeom>
              <a:avLst/>
              <a:gdLst/>
              <a:ahLst/>
              <a:cxnLst/>
              <a:rect r="r" b="b" t="t" l="l"/>
              <a:pathLst>
                <a:path h="932916" w="2212288">
                  <a:moveTo>
                    <a:pt x="0" y="0"/>
                  </a:moveTo>
                  <a:lnTo>
                    <a:pt x="2212288" y="0"/>
                  </a:lnTo>
                  <a:lnTo>
                    <a:pt x="2212288" y="932916"/>
                  </a:lnTo>
                  <a:lnTo>
                    <a:pt x="0" y="932916"/>
                  </a:lnTo>
                  <a:close/>
                </a:path>
              </a:pathLst>
            </a:custGeom>
            <a:solidFill>
              <a:srgbClr val="036493"/>
            </a:solidFill>
          </p:spPr>
        </p:sp>
        <p:sp>
          <p:nvSpPr>
            <p:cNvPr name="TextBox 17" id="17"/>
            <p:cNvSpPr txBox="true"/>
            <p:nvPr/>
          </p:nvSpPr>
          <p:spPr>
            <a:xfrm>
              <a:off x="0" y="-66675"/>
              <a:ext cx="2212288" cy="999591"/>
            </a:xfrm>
            <a:prstGeom prst="rect">
              <a:avLst/>
            </a:prstGeom>
          </p:spPr>
          <p:txBody>
            <a:bodyPr anchor="ctr" rtlCol="false" tIns="50800" lIns="50800" bIns="50800" rIns="50800"/>
            <a:lstStyle/>
            <a:p>
              <a:pPr algn="ctr">
                <a:lnSpc>
                  <a:spcPts val="3494"/>
                </a:lnSpc>
              </a:pPr>
            </a:p>
          </p:txBody>
        </p:sp>
      </p:grpSp>
      <p:sp>
        <p:nvSpPr>
          <p:cNvPr name="TextBox 18" id="18"/>
          <p:cNvSpPr txBox="true"/>
          <p:nvPr/>
        </p:nvSpPr>
        <p:spPr>
          <a:xfrm rot="0">
            <a:off x="691795" y="5970425"/>
            <a:ext cx="8110220" cy="3421507"/>
          </a:xfrm>
          <a:prstGeom prst="rect">
            <a:avLst/>
          </a:prstGeom>
        </p:spPr>
        <p:txBody>
          <a:bodyPr anchor="t" rtlCol="false" tIns="0" lIns="0" bIns="0" rIns="0">
            <a:spAutoFit/>
          </a:bodyPr>
          <a:lstStyle/>
          <a:p>
            <a:pPr algn="just" marL="0" indent="0" lvl="0">
              <a:lnSpc>
                <a:spcPts val="3037"/>
              </a:lnSpc>
            </a:pPr>
            <a:r>
              <a:rPr lang="en-US" b="true" sz="2169">
                <a:solidFill>
                  <a:srgbClr val="FF914D"/>
                </a:solidFill>
                <a:latin typeface="Arial Nova Bold"/>
                <a:ea typeface="Arial Nova Bold"/>
                <a:cs typeface="Arial Nova Bold"/>
                <a:sym typeface="Arial Nova Bold"/>
              </a:rPr>
              <a:t>Revenue by</a:t>
            </a:r>
            <a:r>
              <a:rPr lang="en-US" b="true" sz="2169" strike="noStrike" u="none">
                <a:solidFill>
                  <a:srgbClr val="FF914D"/>
                </a:solidFill>
                <a:latin typeface="Arial Nova Bold"/>
                <a:ea typeface="Arial Nova Bold"/>
                <a:cs typeface="Arial Nova Bold"/>
                <a:sym typeface="Arial Nova Bold"/>
              </a:rPr>
              <a:t> Service Type (Pie Chart)</a:t>
            </a:r>
          </a:p>
          <a:p>
            <a:pPr algn="just" marL="468502" indent="-234251" lvl="1">
              <a:lnSpc>
                <a:spcPts val="3037"/>
              </a:lnSpc>
              <a:buFont typeface="Arial"/>
              <a:buChar char="•"/>
            </a:pPr>
            <a:r>
              <a:rPr lang="en-US" sz="2169" strike="noStrike" u="none">
                <a:solidFill>
                  <a:srgbClr val="FFFFFF"/>
                </a:solidFill>
                <a:latin typeface="Arial Nova"/>
                <a:ea typeface="Arial Nova"/>
                <a:cs typeface="Arial Nova"/>
                <a:sym typeface="Arial Nova"/>
              </a:rPr>
              <a:t>Spa dominates total ancillary revenue (~34%), followed by Dining, highlighting experience-driven guest spending behavior.</a:t>
            </a:r>
          </a:p>
          <a:p>
            <a:pPr algn="just">
              <a:lnSpc>
                <a:spcPts val="3037"/>
              </a:lnSpc>
            </a:pPr>
          </a:p>
          <a:p>
            <a:pPr algn="just" marL="0" indent="0" lvl="0">
              <a:lnSpc>
                <a:spcPts val="3037"/>
              </a:lnSpc>
            </a:pPr>
            <a:r>
              <a:rPr lang="en-US" b="true" sz="2169" strike="noStrike" u="none">
                <a:solidFill>
                  <a:srgbClr val="FF914D"/>
                </a:solidFill>
                <a:latin typeface="Arial Nova Bold"/>
                <a:ea typeface="Arial Nova Bold"/>
                <a:cs typeface="Arial Nova Bold"/>
                <a:sym typeface="Arial Nova Bold"/>
              </a:rPr>
              <a:t>Room</a:t>
            </a:r>
            <a:r>
              <a:rPr lang="en-US" b="true" sz="2169" strike="noStrike" u="none">
                <a:solidFill>
                  <a:srgbClr val="FF914D"/>
                </a:solidFill>
                <a:latin typeface="Arial Nova Bold"/>
                <a:ea typeface="Arial Nova Bold"/>
                <a:cs typeface="Arial Nova Bold"/>
                <a:sym typeface="Arial Nova Bold"/>
              </a:rPr>
              <a:t> </a:t>
            </a:r>
            <a:r>
              <a:rPr lang="en-US" b="true" sz="2169" strike="noStrike" u="none">
                <a:solidFill>
                  <a:srgbClr val="FF914D"/>
                </a:solidFill>
                <a:latin typeface="Arial Nova Bold"/>
                <a:ea typeface="Arial Nova Bold"/>
                <a:cs typeface="Arial Nova Bold"/>
                <a:sym typeface="Arial Nova Bold"/>
              </a:rPr>
              <a:t>Typ</a:t>
            </a:r>
            <a:r>
              <a:rPr lang="en-US" b="true" sz="2169" strike="noStrike" u="none">
                <a:solidFill>
                  <a:srgbClr val="FF914D"/>
                </a:solidFill>
                <a:latin typeface="Arial Nova Bold"/>
                <a:ea typeface="Arial Nova Bold"/>
                <a:cs typeface="Arial Nova Bold"/>
                <a:sym typeface="Arial Nova Bold"/>
              </a:rPr>
              <a:t>e Revenue </a:t>
            </a:r>
            <a:r>
              <a:rPr lang="en-US" b="true" sz="2169" strike="noStrike" u="none">
                <a:solidFill>
                  <a:srgbClr val="FF914D"/>
                </a:solidFill>
                <a:latin typeface="Arial Nova Bold"/>
                <a:ea typeface="Arial Nova Bold"/>
                <a:cs typeface="Arial Nova Bold"/>
                <a:sym typeface="Arial Nova Bold"/>
              </a:rPr>
              <a:t>by</a:t>
            </a:r>
            <a:r>
              <a:rPr lang="en-US" b="true" sz="2169" strike="noStrike" u="none">
                <a:solidFill>
                  <a:srgbClr val="FF914D"/>
                </a:solidFill>
                <a:latin typeface="Arial Nova Bold"/>
                <a:ea typeface="Arial Nova Bold"/>
                <a:cs typeface="Arial Nova Bold"/>
                <a:sym typeface="Arial Nova Bold"/>
              </a:rPr>
              <a:t> Season + What-If Sliders</a:t>
            </a:r>
          </a:p>
          <a:p>
            <a:pPr algn="just" marL="468502" indent="-234251" lvl="1">
              <a:lnSpc>
                <a:spcPts val="3037"/>
              </a:lnSpc>
              <a:spcBef>
                <a:spcPct val="0"/>
              </a:spcBef>
              <a:buFont typeface="Arial"/>
              <a:buChar char="•"/>
            </a:pPr>
            <a:r>
              <a:rPr lang="en-US" sz="2169" strike="noStrike" u="none">
                <a:solidFill>
                  <a:srgbClr val="FFFFFF"/>
                </a:solidFill>
                <a:latin typeface="Arial Nova"/>
                <a:ea typeface="Arial Nova"/>
                <a:cs typeface="Arial Nova"/>
                <a:sym typeface="Arial Nova"/>
              </a:rPr>
              <a:t>Pr</a:t>
            </a:r>
            <a:r>
              <a:rPr lang="en-US" sz="2169" strike="noStrike" u="none">
                <a:solidFill>
                  <a:srgbClr val="FFFFFF"/>
                </a:solidFill>
                <a:latin typeface="Arial Nova"/>
                <a:ea typeface="Arial Nova"/>
                <a:cs typeface="Arial Nova"/>
                <a:sym typeface="Arial Nova"/>
              </a:rPr>
              <a:t>emium room types generate maximum revenue across all seasons, and intera</a:t>
            </a:r>
            <a:r>
              <a:rPr lang="en-US" sz="2169" strike="noStrike" u="none">
                <a:solidFill>
                  <a:srgbClr val="FFFFFF"/>
                </a:solidFill>
                <a:latin typeface="Arial Nova"/>
                <a:ea typeface="Arial Nova"/>
                <a:cs typeface="Arial Nova"/>
                <a:sym typeface="Arial Nova"/>
              </a:rPr>
              <a:t>c</a:t>
            </a:r>
            <a:r>
              <a:rPr lang="en-US" sz="2169" strike="noStrike" u="none">
                <a:solidFill>
                  <a:srgbClr val="FFFFFF"/>
                </a:solidFill>
                <a:latin typeface="Arial Nova"/>
                <a:ea typeface="Arial Nova"/>
                <a:cs typeface="Arial Nova"/>
                <a:sym typeface="Arial Nova"/>
              </a:rPr>
              <a:t>t</a:t>
            </a:r>
            <a:r>
              <a:rPr lang="en-US" sz="2169" strike="noStrike" u="none">
                <a:solidFill>
                  <a:srgbClr val="FFFFFF"/>
                </a:solidFill>
                <a:latin typeface="Arial Nova"/>
                <a:ea typeface="Arial Nova"/>
                <a:cs typeface="Arial Nova"/>
                <a:sym typeface="Arial Nova"/>
              </a:rPr>
              <a:t>iv</a:t>
            </a:r>
            <a:r>
              <a:rPr lang="en-US" sz="2169" strike="noStrike" u="none">
                <a:solidFill>
                  <a:srgbClr val="FFFFFF"/>
                </a:solidFill>
                <a:latin typeface="Arial Nova"/>
                <a:ea typeface="Arial Nova"/>
                <a:cs typeface="Arial Nova"/>
                <a:sym typeface="Arial Nova"/>
              </a:rPr>
              <a:t>e </a:t>
            </a:r>
            <a:r>
              <a:rPr lang="en-US" sz="2169" strike="noStrike" u="none">
                <a:solidFill>
                  <a:srgbClr val="FFFFFF"/>
                </a:solidFill>
                <a:latin typeface="Arial Nova"/>
                <a:ea typeface="Arial Nova"/>
                <a:cs typeface="Arial Nova"/>
                <a:sym typeface="Arial Nova"/>
              </a:rPr>
              <a:t>pr</a:t>
            </a:r>
            <a:r>
              <a:rPr lang="en-US" sz="2169" strike="noStrike" u="none">
                <a:solidFill>
                  <a:srgbClr val="FFFFFF"/>
                </a:solidFill>
                <a:latin typeface="Arial Nova"/>
                <a:ea typeface="Arial Nova"/>
                <a:cs typeface="Arial Nova"/>
                <a:sym typeface="Arial Nova"/>
              </a:rPr>
              <a:t>i</a:t>
            </a:r>
            <a:r>
              <a:rPr lang="en-US" sz="2169" strike="noStrike" u="none">
                <a:solidFill>
                  <a:srgbClr val="FFFFFF"/>
                </a:solidFill>
                <a:latin typeface="Arial Nova"/>
                <a:ea typeface="Arial Nova"/>
                <a:cs typeface="Arial Nova"/>
                <a:sym typeface="Arial Nova"/>
              </a:rPr>
              <a:t>c</a:t>
            </a:r>
            <a:r>
              <a:rPr lang="en-US" sz="2169" strike="noStrike" u="none">
                <a:solidFill>
                  <a:srgbClr val="FFFFFF"/>
                </a:solidFill>
                <a:latin typeface="Arial Nova"/>
                <a:ea typeface="Arial Nova"/>
                <a:cs typeface="Arial Nova"/>
                <a:sym typeface="Arial Nova"/>
              </a:rPr>
              <a:t>e</a:t>
            </a:r>
            <a:r>
              <a:rPr lang="en-US" sz="2169" strike="noStrike" u="none">
                <a:solidFill>
                  <a:srgbClr val="FFFFFF"/>
                </a:solidFill>
                <a:latin typeface="Arial Nova"/>
                <a:ea typeface="Arial Nova"/>
                <a:cs typeface="Arial Nova"/>
                <a:sym typeface="Arial Nova"/>
              </a:rPr>
              <a:t> </a:t>
            </a:r>
            <a:r>
              <a:rPr lang="en-US" sz="2169" strike="noStrike" u="none">
                <a:solidFill>
                  <a:srgbClr val="FFFFFF"/>
                </a:solidFill>
                <a:latin typeface="Arial Nova"/>
                <a:ea typeface="Arial Nova"/>
                <a:cs typeface="Arial Nova"/>
                <a:sym typeface="Arial Nova"/>
              </a:rPr>
              <a:t>and occupancy sliders help optimize RevPAR by balancing ADR a</a:t>
            </a:r>
            <a:r>
              <a:rPr lang="en-US" sz="2169" strike="noStrike" u="none">
                <a:solidFill>
                  <a:srgbClr val="FFFFFF"/>
                </a:solidFill>
                <a:latin typeface="Arial Nova"/>
                <a:ea typeface="Arial Nova"/>
                <a:cs typeface="Arial Nova"/>
                <a:sym typeface="Arial Nova"/>
              </a:rPr>
              <a:t>nd</a:t>
            </a:r>
            <a:r>
              <a:rPr lang="en-US" sz="2169" strike="noStrike" u="none">
                <a:solidFill>
                  <a:srgbClr val="FFFFFF"/>
                </a:solidFill>
                <a:latin typeface="Arial Nova"/>
                <a:ea typeface="Arial Nova"/>
                <a:cs typeface="Arial Nova"/>
                <a:sym typeface="Arial Nova"/>
              </a:rPr>
              <a:t> demand.</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8" id="8"/>
          <p:cNvSpPr txBox="true"/>
          <p:nvPr/>
        </p:nvSpPr>
        <p:spPr>
          <a:xfrm rot="0">
            <a:off x="739585" y="296111"/>
            <a:ext cx="16774690" cy="854075"/>
          </a:xfrm>
          <a:prstGeom prst="rect">
            <a:avLst/>
          </a:prstGeom>
        </p:spPr>
        <p:txBody>
          <a:bodyPr anchor="t" rtlCol="false" tIns="0" lIns="0" bIns="0" rIns="0">
            <a:spAutoFit/>
          </a:bodyPr>
          <a:lstStyle/>
          <a:p>
            <a:pPr algn="ctr">
              <a:lnSpc>
                <a:spcPts val="7000"/>
              </a:lnSpc>
            </a:pPr>
            <a:r>
              <a:rPr lang="en-US" b="true" sz="5000">
                <a:solidFill>
                  <a:srgbClr val="FFFFFF"/>
                </a:solidFill>
                <a:latin typeface="Arial Nova Bold"/>
                <a:ea typeface="Arial Nova Bold"/>
                <a:cs typeface="Arial Nova Bold"/>
                <a:sym typeface="Arial Nova Bold"/>
              </a:rPr>
              <a:t>INTERACTIVE WHAT-IF PARAMETERS</a:t>
            </a:r>
          </a:p>
        </p:txBody>
      </p:sp>
      <p:grpSp>
        <p:nvGrpSpPr>
          <p:cNvPr name="Group 9" id="9"/>
          <p:cNvGrpSpPr/>
          <p:nvPr/>
        </p:nvGrpSpPr>
        <p:grpSpPr>
          <a:xfrm rot="0">
            <a:off x="549101" y="1497494"/>
            <a:ext cx="17189799" cy="7924800"/>
            <a:chOff x="0" y="0"/>
            <a:chExt cx="4527354" cy="2087190"/>
          </a:xfrm>
        </p:grpSpPr>
        <p:sp>
          <p:nvSpPr>
            <p:cNvPr name="Freeform 10" id="10"/>
            <p:cNvSpPr/>
            <p:nvPr/>
          </p:nvSpPr>
          <p:spPr>
            <a:xfrm flipH="false" flipV="false" rot="0">
              <a:off x="0" y="0"/>
              <a:ext cx="4527354" cy="2087190"/>
            </a:xfrm>
            <a:custGeom>
              <a:avLst/>
              <a:gdLst/>
              <a:ahLst/>
              <a:cxnLst/>
              <a:rect r="r" b="b" t="t" l="l"/>
              <a:pathLst>
                <a:path h="2087190" w="4527354">
                  <a:moveTo>
                    <a:pt x="0" y="0"/>
                  </a:moveTo>
                  <a:lnTo>
                    <a:pt x="4527354" y="0"/>
                  </a:lnTo>
                  <a:lnTo>
                    <a:pt x="4527354" y="2087190"/>
                  </a:lnTo>
                  <a:lnTo>
                    <a:pt x="0" y="2087190"/>
                  </a:lnTo>
                  <a:close/>
                </a:path>
              </a:pathLst>
            </a:custGeom>
            <a:solidFill>
              <a:srgbClr val="036493"/>
            </a:solidFill>
          </p:spPr>
        </p:sp>
        <p:sp>
          <p:nvSpPr>
            <p:cNvPr name="TextBox 11" id="11"/>
            <p:cNvSpPr txBox="true"/>
            <p:nvPr/>
          </p:nvSpPr>
          <p:spPr>
            <a:xfrm>
              <a:off x="0" y="-66675"/>
              <a:ext cx="4527354" cy="2153865"/>
            </a:xfrm>
            <a:prstGeom prst="rect">
              <a:avLst/>
            </a:prstGeom>
          </p:spPr>
          <p:txBody>
            <a:bodyPr anchor="ctr" rtlCol="false" tIns="50800" lIns="50800" bIns="50800" rIns="50800"/>
            <a:lstStyle/>
            <a:p>
              <a:pPr algn="ctr">
                <a:lnSpc>
                  <a:spcPts val="3494"/>
                </a:lnSpc>
              </a:pPr>
            </a:p>
          </p:txBody>
        </p:sp>
      </p:grpSp>
      <p:sp>
        <p:nvSpPr>
          <p:cNvPr name="TextBox 12" id="12"/>
          <p:cNvSpPr txBox="true"/>
          <p:nvPr/>
        </p:nvSpPr>
        <p:spPr>
          <a:xfrm rot="0">
            <a:off x="549101" y="1564005"/>
            <a:ext cx="16965174" cy="7378765"/>
          </a:xfrm>
          <a:prstGeom prst="rect">
            <a:avLst/>
          </a:prstGeom>
        </p:spPr>
        <p:txBody>
          <a:bodyPr anchor="t" rtlCol="false" tIns="0" lIns="0" bIns="0" rIns="0">
            <a:spAutoFit/>
          </a:bodyPr>
          <a:lstStyle/>
          <a:p>
            <a:pPr algn="l" marL="0" indent="0" lvl="0">
              <a:lnSpc>
                <a:spcPts val="3699"/>
              </a:lnSpc>
            </a:pPr>
            <a:r>
              <a:rPr lang="en-US" b="true" sz="2642">
                <a:solidFill>
                  <a:srgbClr val="FF914D"/>
                </a:solidFill>
                <a:latin typeface="Arial Nova Bold"/>
                <a:ea typeface="Arial Nova Bold"/>
                <a:cs typeface="Arial Nova Bold"/>
                <a:sym typeface="Arial Nova Bold"/>
              </a:rPr>
              <a:t>Occupancy</a:t>
            </a:r>
            <a:r>
              <a:rPr lang="en-US" b="true" sz="2642" strike="noStrike" u="none">
                <a:solidFill>
                  <a:srgbClr val="FF914D"/>
                </a:solidFill>
                <a:latin typeface="Arial Nova Bold"/>
                <a:ea typeface="Arial Nova Bold"/>
                <a:cs typeface="Arial Nova Bold"/>
                <a:sym typeface="Arial Nova Bold"/>
              </a:rPr>
              <a:t> Sensitivity Parameter</a:t>
            </a:r>
          </a:p>
          <a:p>
            <a:pPr algn="l">
              <a:lnSpc>
                <a:spcPts val="3699"/>
              </a:lnSpc>
            </a:pPr>
          </a:p>
          <a:p>
            <a:pPr algn="l">
              <a:lnSpc>
                <a:spcPts val="3699"/>
              </a:lnSpc>
            </a:pPr>
            <a:r>
              <a:rPr lang="en-US" sz="2642" strike="noStrike" u="none">
                <a:solidFill>
                  <a:srgbClr val="FFFFFF"/>
                </a:solidFill>
                <a:latin typeface="Arial Nova"/>
                <a:ea typeface="Arial Nova"/>
                <a:cs typeface="Arial Nova"/>
                <a:sym typeface="Arial Nova"/>
              </a:rPr>
              <a:t> </a:t>
            </a:r>
            <a:r>
              <a:rPr lang="en-US" sz="2642" strike="noStrike" u="none">
                <a:solidFill>
                  <a:srgbClr val="D5EFEF"/>
                </a:solidFill>
                <a:latin typeface="Arial Nova"/>
                <a:ea typeface="Arial Nova"/>
                <a:cs typeface="Arial Nova"/>
                <a:sym typeface="Arial Nova"/>
              </a:rPr>
              <a:t>     </a:t>
            </a:r>
            <a:r>
              <a:rPr lang="en-US" b="true" sz="2642" i="true" strike="noStrike" u="none">
                <a:solidFill>
                  <a:srgbClr val="2EC4B6"/>
                </a:solidFill>
                <a:latin typeface="Arial Nova Bold Italics"/>
                <a:ea typeface="Arial Nova Bold Italics"/>
                <a:cs typeface="Arial Nova Bold Italics"/>
                <a:sym typeface="Arial Nova Bold Italics"/>
              </a:rPr>
              <a:t>Occupancy </a:t>
            </a:r>
            <a:r>
              <a:rPr lang="en-US" b="true" sz="2642" i="true" strike="noStrike" u="none">
                <a:solidFill>
                  <a:srgbClr val="2EC4B6"/>
                </a:solidFill>
                <a:latin typeface="Arial Nova Bold Italics"/>
                <a:ea typeface="Arial Nova Bold Italics"/>
                <a:cs typeface="Arial Nova Bold Italics"/>
                <a:sym typeface="Arial Nova Bold Italics"/>
              </a:rPr>
              <a:t>Sensitivity</a:t>
            </a:r>
            <a:r>
              <a:rPr lang="en-US" b="true" sz="2642" i="true" strike="noStrike" u="none">
                <a:solidFill>
                  <a:srgbClr val="2EC4B6"/>
                </a:solidFill>
                <a:latin typeface="Arial Nova Bold Italics"/>
                <a:ea typeface="Arial Nova Bold Italics"/>
                <a:cs typeface="Arial Nova Bold Italics"/>
                <a:sym typeface="Arial Nova Bold Italics"/>
              </a:rPr>
              <a:t> = </a:t>
            </a:r>
            <a:r>
              <a:rPr lang="en-US" b="true" sz="2642" i="true" strike="noStrike" u="none">
                <a:solidFill>
                  <a:srgbClr val="2EC4B6"/>
                </a:solidFill>
                <a:latin typeface="Arial Nova Bold Italics"/>
                <a:ea typeface="Arial Nova Bold Italics"/>
                <a:cs typeface="Arial Nova Bold Italics"/>
                <a:sym typeface="Arial Nova Bold Italics"/>
              </a:rPr>
              <a:t>GEN</a:t>
            </a:r>
            <a:r>
              <a:rPr lang="en-US" b="true" sz="2642" i="true" strike="noStrike" u="none">
                <a:solidFill>
                  <a:srgbClr val="2EC4B6"/>
                </a:solidFill>
                <a:latin typeface="Arial Nova Bold Italics"/>
                <a:ea typeface="Arial Nova Bold Italics"/>
                <a:cs typeface="Arial Nova Bold Italics"/>
                <a:sym typeface="Arial Nova Bold Italics"/>
              </a:rPr>
              <a:t>ER</a:t>
            </a:r>
            <a:r>
              <a:rPr lang="en-US" b="true" sz="2642" i="true" strike="noStrike" u="none">
                <a:solidFill>
                  <a:srgbClr val="2EC4B6"/>
                </a:solidFill>
                <a:latin typeface="Arial Nova Bold Italics"/>
                <a:ea typeface="Arial Nova Bold Italics"/>
                <a:cs typeface="Arial Nova Bold Italics"/>
                <a:sym typeface="Arial Nova Bold Italics"/>
              </a:rPr>
              <a:t>A</a:t>
            </a:r>
            <a:r>
              <a:rPr lang="en-US" b="true" sz="2642" i="true" strike="noStrike" u="none">
                <a:solidFill>
                  <a:srgbClr val="2EC4B6"/>
                </a:solidFill>
                <a:latin typeface="Arial Nova Bold Italics"/>
                <a:ea typeface="Arial Nova Bold Italics"/>
                <a:cs typeface="Arial Nova Bold Italics"/>
                <a:sym typeface="Arial Nova Bold Italics"/>
              </a:rPr>
              <a:t>T</a:t>
            </a:r>
            <a:r>
              <a:rPr lang="en-US" b="true" sz="2642" i="true" strike="noStrike" u="none">
                <a:solidFill>
                  <a:srgbClr val="2EC4B6"/>
                </a:solidFill>
                <a:latin typeface="Arial Nova Bold Italics"/>
                <a:ea typeface="Arial Nova Bold Italics"/>
                <a:cs typeface="Arial Nova Bold Italics"/>
                <a:sym typeface="Arial Nova Bold Italics"/>
              </a:rPr>
              <a:t>ESE</a:t>
            </a:r>
            <a:r>
              <a:rPr lang="en-US" b="true" sz="2642" i="true" strike="noStrike" u="none">
                <a:solidFill>
                  <a:srgbClr val="2EC4B6"/>
                </a:solidFill>
                <a:latin typeface="Arial Nova Bold Italics"/>
                <a:ea typeface="Arial Nova Bold Italics"/>
                <a:cs typeface="Arial Nova Bold Italics"/>
                <a:sym typeface="Arial Nova Bold Italics"/>
              </a:rPr>
              <a:t>R</a:t>
            </a:r>
            <a:r>
              <a:rPr lang="en-US" b="true" sz="2642" i="true" strike="noStrike" u="none">
                <a:solidFill>
                  <a:srgbClr val="2EC4B6"/>
                </a:solidFill>
                <a:latin typeface="Arial Nova Bold Italics"/>
                <a:ea typeface="Arial Nova Bold Italics"/>
                <a:cs typeface="Arial Nova Bold Italics"/>
                <a:sym typeface="Arial Nova Bold Italics"/>
              </a:rPr>
              <a:t>IES(</a:t>
            </a:r>
            <a:r>
              <a:rPr lang="en-US" b="true" sz="2642" i="true" strike="noStrike" u="none">
                <a:solidFill>
                  <a:srgbClr val="2EC4B6"/>
                </a:solidFill>
                <a:latin typeface="Arial Nova Bold Italics"/>
                <a:ea typeface="Arial Nova Bold Italics"/>
                <a:cs typeface="Arial Nova Bold Italics"/>
                <a:sym typeface="Arial Nova Bold Italics"/>
              </a:rPr>
              <a:t>0</a:t>
            </a:r>
            <a:r>
              <a:rPr lang="en-US" b="true" sz="2642" i="true" strike="noStrike" u="none">
                <a:solidFill>
                  <a:srgbClr val="2EC4B6"/>
                </a:solidFill>
                <a:latin typeface="Arial Nova Bold Italics"/>
                <a:ea typeface="Arial Nova Bold Italics"/>
                <a:cs typeface="Arial Nova Bold Italics"/>
                <a:sym typeface="Arial Nova Bold Italics"/>
              </a:rPr>
              <a:t>.8,</a:t>
            </a:r>
            <a:r>
              <a:rPr lang="en-US" b="true" sz="2642" i="true" strike="noStrike" u="none">
                <a:solidFill>
                  <a:srgbClr val="2EC4B6"/>
                </a:solidFill>
                <a:latin typeface="Arial Nova Bold Italics"/>
                <a:ea typeface="Arial Nova Bold Italics"/>
                <a:cs typeface="Arial Nova Bold Italics"/>
                <a:sym typeface="Arial Nova Bold Italics"/>
              </a:rPr>
              <a:t> </a:t>
            </a:r>
            <a:r>
              <a:rPr lang="en-US" b="true" sz="2642" i="true" strike="noStrike" u="none">
                <a:solidFill>
                  <a:srgbClr val="2EC4B6"/>
                </a:solidFill>
                <a:latin typeface="Arial Nova Bold Italics"/>
                <a:ea typeface="Arial Nova Bold Italics"/>
                <a:cs typeface="Arial Nova Bold Italics"/>
                <a:sym typeface="Arial Nova Bold Italics"/>
              </a:rPr>
              <a:t>1.2,</a:t>
            </a:r>
            <a:r>
              <a:rPr lang="en-US" b="true" sz="2642" i="true" strike="noStrike" u="none">
                <a:solidFill>
                  <a:srgbClr val="2EC4B6"/>
                </a:solidFill>
                <a:latin typeface="Arial Nova Bold Italics"/>
                <a:ea typeface="Arial Nova Bold Italics"/>
                <a:cs typeface="Arial Nova Bold Italics"/>
                <a:sym typeface="Arial Nova Bold Italics"/>
              </a:rPr>
              <a:t> 0</a:t>
            </a:r>
            <a:r>
              <a:rPr lang="en-US" b="true" sz="2642" i="true" strike="noStrike" u="none">
                <a:solidFill>
                  <a:srgbClr val="2EC4B6"/>
                </a:solidFill>
                <a:latin typeface="Arial Nova Bold Italics"/>
                <a:ea typeface="Arial Nova Bold Italics"/>
                <a:cs typeface="Arial Nova Bold Italics"/>
                <a:sym typeface="Arial Nova Bold Italics"/>
              </a:rPr>
              <a:t>.</a:t>
            </a:r>
            <a:r>
              <a:rPr lang="en-US" b="true" sz="2642" i="true" strike="noStrike" u="none">
                <a:solidFill>
                  <a:srgbClr val="2EC4B6"/>
                </a:solidFill>
                <a:latin typeface="Arial Nova Bold Italics"/>
                <a:ea typeface="Arial Nova Bold Italics"/>
                <a:cs typeface="Arial Nova Bold Italics"/>
                <a:sym typeface="Arial Nova Bold Italics"/>
              </a:rPr>
              <a:t>0</a:t>
            </a:r>
            <a:r>
              <a:rPr lang="en-US" b="true" sz="2642" i="true" strike="noStrike" u="none">
                <a:solidFill>
                  <a:srgbClr val="2EC4B6"/>
                </a:solidFill>
                <a:latin typeface="Arial Nova Bold Italics"/>
                <a:ea typeface="Arial Nova Bold Italics"/>
                <a:cs typeface="Arial Nova Bold Italics"/>
                <a:sym typeface="Arial Nova Bold Italics"/>
              </a:rPr>
              <a:t>5)</a:t>
            </a:r>
          </a:p>
          <a:p>
            <a:pPr algn="l">
              <a:lnSpc>
                <a:spcPts val="3699"/>
              </a:lnSpc>
            </a:pPr>
          </a:p>
          <a:p>
            <a:pPr algn="l" marL="570587" indent="-285294" lvl="1">
              <a:lnSpc>
                <a:spcPts val="3699"/>
              </a:lnSpc>
              <a:buFont typeface="Arial"/>
              <a:buChar char="•"/>
            </a:pPr>
            <a:r>
              <a:rPr lang="en-US" sz="2642" strike="noStrike" u="none">
                <a:solidFill>
                  <a:srgbClr val="FFFFFF"/>
                </a:solidFill>
                <a:latin typeface="Arial Nova"/>
                <a:ea typeface="Arial Nova"/>
                <a:cs typeface="Arial Nova"/>
                <a:sym typeface="Arial Nova"/>
              </a:rPr>
              <a:t>Sim</a:t>
            </a:r>
            <a:r>
              <a:rPr lang="en-US" sz="2642" strike="noStrike" u="none">
                <a:solidFill>
                  <a:srgbClr val="FFFFFF"/>
                </a:solidFill>
                <a:latin typeface="Arial Nova"/>
                <a:ea typeface="Arial Nova"/>
                <a:cs typeface="Arial Nova"/>
                <a:sym typeface="Arial Nova"/>
              </a:rPr>
              <a:t>ulates how occupancy may increase or decrease in response to pricing changes.</a:t>
            </a:r>
          </a:p>
          <a:p>
            <a:pPr algn="l">
              <a:lnSpc>
                <a:spcPts val="3699"/>
              </a:lnSpc>
            </a:pPr>
          </a:p>
          <a:p>
            <a:pPr algn="l" marL="0" indent="0" lvl="0">
              <a:lnSpc>
                <a:spcPts val="3699"/>
              </a:lnSpc>
            </a:pPr>
            <a:r>
              <a:rPr lang="en-US" b="true" sz="2642" strike="noStrike" u="none">
                <a:solidFill>
                  <a:srgbClr val="FF914D"/>
                </a:solidFill>
                <a:latin typeface="Arial Nova Bold"/>
                <a:ea typeface="Arial Nova Bold"/>
                <a:cs typeface="Arial Nova Bold"/>
                <a:sym typeface="Arial Nova Bold"/>
              </a:rPr>
              <a:t>P</a:t>
            </a:r>
            <a:r>
              <a:rPr lang="en-US" b="true" sz="2642" strike="noStrike" u="none">
                <a:solidFill>
                  <a:srgbClr val="FF914D"/>
                </a:solidFill>
                <a:latin typeface="Arial Nova Bold"/>
                <a:ea typeface="Arial Nova Bold"/>
                <a:cs typeface="Arial Nova Bold"/>
                <a:sym typeface="Arial Nova Bold"/>
              </a:rPr>
              <a:t>rice Uplift % Parameter</a:t>
            </a:r>
          </a:p>
          <a:p>
            <a:pPr algn="l">
              <a:lnSpc>
                <a:spcPts val="3699"/>
              </a:lnSpc>
            </a:pPr>
          </a:p>
          <a:p>
            <a:pPr algn="l">
              <a:lnSpc>
                <a:spcPts val="3699"/>
              </a:lnSpc>
            </a:pPr>
            <a:r>
              <a:rPr lang="en-US" sz="2642" strike="noStrike" u="none">
                <a:solidFill>
                  <a:srgbClr val="D5EFEF"/>
                </a:solidFill>
                <a:latin typeface="Arial Nova"/>
                <a:ea typeface="Arial Nova"/>
                <a:cs typeface="Arial Nova"/>
                <a:sym typeface="Arial Nova"/>
              </a:rPr>
              <a:t>       </a:t>
            </a:r>
            <a:r>
              <a:rPr lang="en-US" b="true" sz="2642" i="true" strike="noStrike" u="none">
                <a:solidFill>
                  <a:srgbClr val="2EC4B6"/>
                </a:solidFill>
                <a:latin typeface="Arial Nova Bold Italics"/>
                <a:ea typeface="Arial Nova Bold Italics"/>
                <a:cs typeface="Arial Nova Bold Italics"/>
                <a:sym typeface="Arial Nova Bold Italics"/>
              </a:rPr>
              <a:t>Price Uplift % = GENERATESERIES(-0.1, 0.2, 0.01</a:t>
            </a:r>
            <a:r>
              <a:rPr lang="en-US" b="true" sz="2642" i="true" strike="noStrike" u="none">
                <a:solidFill>
                  <a:srgbClr val="2EC4B6"/>
                </a:solidFill>
                <a:latin typeface="Arial Nova Bold Italics"/>
                <a:ea typeface="Arial Nova Bold Italics"/>
                <a:cs typeface="Arial Nova Bold Italics"/>
                <a:sym typeface="Arial Nova Bold Italics"/>
              </a:rPr>
              <a:t>)</a:t>
            </a:r>
          </a:p>
          <a:p>
            <a:pPr algn="l">
              <a:lnSpc>
                <a:spcPts val="3699"/>
              </a:lnSpc>
            </a:pPr>
          </a:p>
          <a:p>
            <a:pPr algn="l" marL="570587" indent="-285294" lvl="1">
              <a:lnSpc>
                <a:spcPts val="3699"/>
              </a:lnSpc>
              <a:buFont typeface="Arial"/>
              <a:buChar char="•"/>
            </a:pPr>
            <a:r>
              <a:rPr lang="en-US" sz="2642" strike="noStrike" u="none">
                <a:solidFill>
                  <a:srgbClr val="D5EFEF"/>
                </a:solidFill>
                <a:latin typeface="Arial Nova"/>
                <a:ea typeface="Arial Nova"/>
                <a:cs typeface="Arial Nova"/>
                <a:sym typeface="Arial Nova"/>
              </a:rPr>
              <a:t>Allows </a:t>
            </a:r>
            <a:r>
              <a:rPr lang="en-US" sz="2642" strike="noStrike" u="none">
                <a:solidFill>
                  <a:srgbClr val="D5EFEF"/>
                </a:solidFill>
                <a:latin typeface="Arial Nova"/>
                <a:ea typeface="Arial Nova"/>
                <a:cs typeface="Arial Nova"/>
                <a:sym typeface="Arial Nova"/>
              </a:rPr>
              <a:t>testing of price decrease or increase scenarios (−10% to +20%).</a:t>
            </a:r>
          </a:p>
          <a:p>
            <a:pPr algn="l">
              <a:lnSpc>
                <a:spcPts val="3699"/>
              </a:lnSpc>
            </a:pPr>
          </a:p>
          <a:p>
            <a:pPr algn="l" marL="0" indent="0" lvl="0">
              <a:lnSpc>
                <a:spcPts val="3699"/>
              </a:lnSpc>
            </a:pPr>
            <a:r>
              <a:rPr lang="en-US" b="true" sz="2642" strike="noStrike" u="none">
                <a:solidFill>
                  <a:srgbClr val="FF914D"/>
                </a:solidFill>
                <a:latin typeface="Arial Nova Bold"/>
                <a:ea typeface="Arial Nova Bold"/>
                <a:cs typeface="Arial Nova Bold"/>
                <a:sym typeface="Arial Nova Bold"/>
              </a:rPr>
              <a:t>How Th</a:t>
            </a:r>
            <a:r>
              <a:rPr lang="en-US" b="true" sz="2642" strike="noStrike" u="none">
                <a:solidFill>
                  <a:srgbClr val="FF914D"/>
                </a:solidFill>
                <a:latin typeface="Arial Nova Bold"/>
                <a:ea typeface="Arial Nova Bold"/>
                <a:cs typeface="Arial Nova Bold"/>
                <a:sym typeface="Arial Nova Bold"/>
              </a:rPr>
              <a:t>e</a:t>
            </a:r>
            <a:r>
              <a:rPr lang="en-US" b="true" sz="2642" strike="noStrike" u="none">
                <a:solidFill>
                  <a:srgbClr val="FF914D"/>
                </a:solidFill>
                <a:latin typeface="Arial Nova Bold"/>
                <a:ea typeface="Arial Nova Bold"/>
                <a:cs typeface="Arial Nova Bold"/>
                <a:sym typeface="Arial Nova Bold"/>
              </a:rPr>
              <a:t>s</a:t>
            </a:r>
            <a:r>
              <a:rPr lang="en-US" b="true" sz="2642" strike="noStrike" u="none">
                <a:solidFill>
                  <a:srgbClr val="FF914D"/>
                </a:solidFill>
                <a:latin typeface="Arial Nova Bold"/>
                <a:ea typeface="Arial Nova Bold"/>
                <a:cs typeface="Arial Nova Bold"/>
                <a:sym typeface="Arial Nova Bold"/>
              </a:rPr>
              <a:t>e Parameter</a:t>
            </a:r>
            <a:r>
              <a:rPr lang="en-US" b="true" sz="2642" strike="noStrike" u="none">
                <a:solidFill>
                  <a:srgbClr val="FF914D"/>
                </a:solidFill>
                <a:latin typeface="Arial Nova Bold"/>
                <a:ea typeface="Arial Nova Bold"/>
                <a:cs typeface="Arial Nova Bold"/>
                <a:sym typeface="Arial Nova Bold"/>
              </a:rPr>
              <a:t>s</a:t>
            </a:r>
            <a:r>
              <a:rPr lang="en-US" b="true" sz="2642" strike="noStrike" u="none">
                <a:solidFill>
                  <a:srgbClr val="FF914D"/>
                </a:solidFill>
                <a:latin typeface="Arial Nova Bold"/>
                <a:ea typeface="Arial Nova Bold"/>
                <a:cs typeface="Arial Nova Bold"/>
                <a:sym typeface="Arial Nova Bold"/>
              </a:rPr>
              <a:t> Are </a:t>
            </a:r>
            <a:r>
              <a:rPr lang="en-US" b="true" sz="2642" strike="noStrike" u="none">
                <a:solidFill>
                  <a:srgbClr val="FF914D"/>
                </a:solidFill>
                <a:latin typeface="Arial Nova Bold"/>
                <a:ea typeface="Arial Nova Bold"/>
                <a:cs typeface="Arial Nova Bold"/>
                <a:sym typeface="Arial Nova Bold"/>
              </a:rPr>
              <a:t>Us</a:t>
            </a:r>
            <a:r>
              <a:rPr lang="en-US" b="true" sz="2642" strike="noStrike" u="none">
                <a:solidFill>
                  <a:srgbClr val="FF914D"/>
                </a:solidFill>
                <a:latin typeface="Arial Nova Bold"/>
                <a:ea typeface="Arial Nova Bold"/>
                <a:cs typeface="Arial Nova Bold"/>
                <a:sym typeface="Arial Nova Bold"/>
              </a:rPr>
              <a:t>e</a:t>
            </a:r>
            <a:r>
              <a:rPr lang="en-US" b="true" sz="2642" strike="noStrike" u="none">
                <a:solidFill>
                  <a:srgbClr val="FF914D"/>
                </a:solidFill>
                <a:latin typeface="Arial Nova Bold"/>
                <a:ea typeface="Arial Nova Bold"/>
                <a:cs typeface="Arial Nova Bold"/>
                <a:sym typeface="Arial Nova Bold"/>
              </a:rPr>
              <a:t>d</a:t>
            </a:r>
          </a:p>
          <a:p>
            <a:pPr algn="l" marL="572081" indent="-286040" lvl="1">
              <a:lnSpc>
                <a:spcPts val="3709"/>
              </a:lnSpc>
              <a:buFont typeface="Arial"/>
              <a:buChar char="•"/>
            </a:pPr>
            <a:r>
              <a:rPr lang="en-US" sz="2649" strike="noStrike" u="none">
                <a:solidFill>
                  <a:srgbClr val="FFFFFF"/>
                </a:solidFill>
                <a:latin typeface="Arial Nova"/>
                <a:ea typeface="Arial Nova"/>
                <a:cs typeface="Arial Nova"/>
                <a:sym typeface="Arial Nova"/>
              </a:rPr>
              <a:t>Adjust ADR dyna</a:t>
            </a:r>
            <a:r>
              <a:rPr lang="en-US" sz="2649" strike="noStrike" u="none">
                <a:solidFill>
                  <a:srgbClr val="FFFFFF"/>
                </a:solidFill>
                <a:latin typeface="Arial Nova"/>
                <a:ea typeface="Arial Nova"/>
                <a:cs typeface="Arial Nova"/>
                <a:sym typeface="Arial Nova"/>
              </a:rPr>
              <a:t>m</a:t>
            </a:r>
            <a:r>
              <a:rPr lang="en-US" sz="2649" strike="noStrike" u="none">
                <a:solidFill>
                  <a:srgbClr val="FFFFFF"/>
                </a:solidFill>
                <a:latin typeface="Arial Nova"/>
                <a:ea typeface="Arial Nova"/>
                <a:cs typeface="Arial Nova"/>
                <a:sym typeface="Arial Nova"/>
              </a:rPr>
              <a:t>ically</a:t>
            </a:r>
          </a:p>
          <a:p>
            <a:pPr algn="l" marL="570587" indent="-285294" lvl="1">
              <a:lnSpc>
                <a:spcPts val="3699"/>
              </a:lnSpc>
              <a:buFont typeface="Arial"/>
              <a:buChar char="•"/>
            </a:pPr>
            <a:r>
              <a:rPr lang="en-US" sz="2642" strike="noStrike" u="none">
                <a:solidFill>
                  <a:srgbClr val="FFFFFF"/>
                </a:solidFill>
                <a:latin typeface="Arial Nova"/>
                <a:ea typeface="Arial Nova"/>
                <a:cs typeface="Arial Nova"/>
                <a:sym typeface="Arial Nova"/>
              </a:rPr>
              <a:t>O</a:t>
            </a:r>
            <a:r>
              <a:rPr lang="en-US" sz="2642" strike="noStrike" u="none">
                <a:solidFill>
                  <a:srgbClr val="FFFFFF"/>
                </a:solidFill>
                <a:latin typeface="Arial Nova"/>
                <a:ea typeface="Arial Nova"/>
                <a:cs typeface="Arial Nova"/>
                <a:sym typeface="Arial Nova"/>
              </a:rPr>
              <a:t>b</a:t>
            </a:r>
            <a:r>
              <a:rPr lang="en-US" sz="2642" strike="noStrike" u="none">
                <a:solidFill>
                  <a:srgbClr val="FFFFFF"/>
                </a:solidFill>
                <a:latin typeface="Arial Nova"/>
                <a:ea typeface="Arial Nova"/>
                <a:cs typeface="Arial Nova"/>
                <a:sym typeface="Arial Nova"/>
              </a:rPr>
              <a:t>serve result</a:t>
            </a:r>
            <a:r>
              <a:rPr lang="en-US" sz="2642" strike="noStrike" u="none">
                <a:solidFill>
                  <a:srgbClr val="FFFFFF"/>
                </a:solidFill>
                <a:latin typeface="Arial Nova"/>
                <a:ea typeface="Arial Nova"/>
                <a:cs typeface="Arial Nova"/>
                <a:sym typeface="Arial Nova"/>
              </a:rPr>
              <a:t>ing changes in Occupancy and RevPAR</a:t>
            </a:r>
          </a:p>
          <a:p>
            <a:pPr algn="l" marL="570587" indent="-285294" lvl="1">
              <a:lnSpc>
                <a:spcPts val="3699"/>
              </a:lnSpc>
              <a:spcBef>
                <a:spcPct val="0"/>
              </a:spcBef>
              <a:buFont typeface="Arial"/>
              <a:buChar char="•"/>
            </a:pPr>
            <a:r>
              <a:rPr lang="en-US" sz="2642" strike="noStrike" u="none">
                <a:solidFill>
                  <a:srgbClr val="FFFFFF"/>
                </a:solidFill>
                <a:latin typeface="Arial Nova"/>
                <a:ea typeface="Arial Nova"/>
                <a:cs typeface="Arial Nova"/>
                <a:sym typeface="Arial Nova"/>
              </a:rPr>
              <a:t>Support sce</a:t>
            </a:r>
            <a:r>
              <a:rPr lang="en-US" sz="2642" strike="noStrike" u="none">
                <a:solidFill>
                  <a:srgbClr val="FFFFFF"/>
                </a:solidFill>
                <a:latin typeface="Arial Nova"/>
                <a:ea typeface="Arial Nova"/>
                <a:cs typeface="Arial Nova"/>
                <a:sym typeface="Arial Nova"/>
              </a:rPr>
              <a:t>na</a:t>
            </a:r>
            <a:r>
              <a:rPr lang="en-US" sz="2642" strike="noStrike" u="none">
                <a:solidFill>
                  <a:srgbClr val="FFFFFF"/>
                </a:solidFill>
                <a:latin typeface="Arial Nova"/>
                <a:ea typeface="Arial Nova"/>
                <a:cs typeface="Arial Nova"/>
                <a:sym typeface="Arial Nova"/>
              </a:rPr>
              <a:t>r</a:t>
            </a:r>
            <a:r>
              <a:rPr lang="en-US" sz="2642" strike="noStrike" u="none">
                <a:solidFill>
                  <a:srgbClr val="FFFFFF"/>
                </a:solidFill>
                <a:latin typeface="Arial Nova"/>
                <a:ea typeface="Arial Nova"/>
                <a:cs typeface="Arial Nova"/>
                <a:sym typeface="Arial Nova"/>
              </a:rPr>
              <a:t>io-b</a:t>
            </a:r>
            <a:r>
              <a:rPr lang="en-US" sz="2642" strike="noStrike" u="none">
                <a:solidFill>
                  <a:srgbClr val="FFFFFF"/>
                </a:solidFill>
                <a:latin typeface="Arial Nova"/>
                <a:ea typeface="Arial Nova"/>
                <a:cs typeface="Arial Nova"/>
                <a:sym typeface="Arial Nova"/>
              </a:rPr>
              <a:t>ased revenue de</a:t>
            </a:r>
            <a:r>
              <a:rPr lang="en-US" sz="2642" strike="noStrike" u="none">
                <a:solidFill>
                  <a:srgbClr val="FFFFFF"/>
                </a:solidFill>
                <a:latin typeface="Arial Nova"/>
                <a:ea typeface="Arial Nova"/>
                <a:cs typeface="Arial Nova"/>
                <a:sym typeface="Arial Nova"/>
              </a:rPr>
              <a:t>cisi</a:t>
            </a:r>
            <a:r>
              <a:rPr lang="en-US" sz="2642" strike="noStrike" u="none">
                <a:solidFill>
                  <a:srgbClr val="FFFFFF"/>
                </a:solidFill>
                <a:latin typeface="Arial Nova"/>
                <a:ea typeface="Arial Nova"/>
                <a:cs typeface="Arial Nova"/>
                <a:sym typeface="Arial Nova"/>
              </a:rPr>
              <a:t>on-ma</a:t>
            </a:r>
            <a:r>
              <a:rPr lang="en-US" sz="2642" strike="noStrike" u="none">
                <a:solidFill>
                  <a:srgbClr val="FFFFFF"/>
                </a:solidFill>
                <a:latin typeface="Arial Nova"/>
                <a:ea typeface="Arial Nova"/>
                <a:cs typeface="Arial Nova"/>
                <a:sym typeface="Arial Nova"/>
              </a:rPr>
              <a:t>ki</a:t>
            </a:r>
            <a:r>
              <a:rPr lang="en-US" sz="2642" strike="noStrike" u="none">
                <a:solidFill>
                  <a:srgbClr val="FFFFFF"/>
                </a:solidFill>
                <a:latin typeface="Arial Nova"/>
                <a:ea typeface="Arial Nova"/>
                <a:cs typeface="Arial Nova"/>
                <a:sym typeface="Arial Nova"/>
              </a:rPr>
              <a:t>n</a:t>
            </a:r>
            <a:r>
              <a:rPr lang="en-US" sz="2642" strike="noStrike" u="none">
                <a:solidFill>
                  <a:srgbClr val="FFFFFF"/>
                </a:solidFill>
                <a:latin typeface="Arial Nova"/>
                <a:ea typeface="Arial Nova"/>
                <a:cs typeface="Arial Nova"/>
                <a:sym typeface="Arial Nova"/>
              </a:rPr>
              <a:t>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Freeform 8" id="8"/>
          <p:cNvSpPr/>
          <p:nvPr/>
        </p:nvSpPr>
        <p:spPr>
          <a:xfrm flipH="false" flipV="false" rot="0">
            <a:off x="514350" y="1930468"/>
            <a:ext cx="13719638" cy="7682998"/>
          </a:xfrm>
          <a:custGeom>
            <a:avLst/>
            <a:gdLst/>
            <a:ahLst/>
            <a:cxnLst/>
            <a:rect r="r" b="b" t="t" l="l"/>
            <a:pathLst>
              <a:path h="7682998" w="13719638">
                <a:moveTo>
                  <a:pt x="0" y="0"/>
                </a:moveTo>
                <a:lnTo>
                  <a:pt x="13719638" y="0"/>
                </a:lnTo>
                <a:lnTo>
                  <a:pt x="13719638" y="7682997"/>
                </a:lnTo>
                <a:lnTo>
                  <a:pt x="0" y="7682997"/>
                </a:lnTo>
                <a:lnTo>
                  <a:pt x="0" y="0"/>
                </a:lnTo>
                <a:close/>
              </a:path>
            </a:pathLst>
          </a:custGeom>
          <a:blipFill>
            <a:blip r:embed="rId2"/>
            <a:stretch>
              <a:fillRect l="0" t="0" r="0" b="0"/>
            </a:stretch>
          </a:blipFill>
        </p:spPr>
      </p:sp>
      <p:sp>
        <p:nvSpPr>
          <p:cNvPr name="TextBox 9" id="9"/>
          <p:cNvSpPr txBox="true"/>
          <p:nvPr/>
        </p:nvSpPr>
        <p:spPr>
          <a:xfrm rot="0">
            <a:off x="514350" y="226563"/>
            <a:ext cx="17259300"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Arial Nova Bold"/>
                <a:ea typeface="Arial Nova Bold"/>
                <a:cs typeface="Arial Nova Bold"/>
                <a:sym typeface="Arial Nova Bold"/>
              </a:rPr>
              <a:t>GENERAL MANAGER DASHBOARD</a:t>
            </a:r>
          </a:p>
        </p:txBody>
      </p:sp>
      <p:sp>
        <p:nvSpPr>
          <p:cNvPr name="TextBox 10" id="10"/>
          <p:cNvSpPr txBox="true"/>
          <p:nvPr/>
        </p:nvSpPr>
        <p:spPr>
          <a:xfrm rot="0">
            <a:off x="514350" y="1118738"/>
            <a:ext cx="17259300" cy="692245"/>
          </a:xfrm>
          <a:prstGeom prst="rect">
            <a:avLst/>
          </a:prstGeom>
        </p:spPr>
        <p:txBody>
          <a:bodyPr anchor="t" rtlCol="false" tIns="0" lIns="0" bIns="0" rIns="0">
            <a:spAutoFit/>
          </a:bodyPr>
          <a:lstStyle/>
          <a:p>
            <a:pPr algn="l">
              <a:lnSpc>
                <a:spcPts val="2794"/>
              </a:lnSpc>
              <a:spcBef>
                <a:spcPct val="0"/>
              </a:spcBef>
            </a:pPr>
            <a:r>
              <a:rPr lang="en-US" b="true" sz="1996">
                <a:solidFill>
                  <a:srgbClr val="2EC4B6"/>
                </a:solidFill>
                <a:latin typeface="Arial Nova Bold"/>
                <a:ea typeface="Arial Nova Bold"/>
                <a:cs typeface="Arial Nova Bold"/>
                <a:sym typeface="Arial Nova Bold"/>
              </a:rPr>
              <a:t>This dashb</a:t>
            </a:r>
            <a:r>
              <a:rPr lang="en-US" b="true" sz="1996">
                <a:solidFill>
                  <a:srgbClr val="2EC4B6"/>
                </a:solidFill>
                <a:latin typeface="Arial Nova Bold"/>
                <a:ea typeface="Arial Nova Bold"/>
                <a:cs typeface="Arial Nova Bold"/>
                <a:sym typeface="Arial Nova Bold"/>
              </a:rPr>
              <a:t>oard provides a high-level view of overall hotel performance, covering revenue, occupancy, pricing, booking behavior, service contribution, and future demand. It enables the General Manager to monitor current performance, trends, and risks at a glance.</a:t>
            </a:r>
          </a:p>
        </p:txBody>
      </p:sp>
      <p:grpSp>
        <p:nvGrpSpPr>
          <p:cNvPr name="Group 11" id="11"/>
          <p:cNvGrpSpPr/>
          <p:nvPr/>
        </p:nvGrpSpPr>
        <p:grpSpPr>
          <a:xfrm rot="0">
            <a:off x="14312640" y="1930468"/>
            <a:ext cx="3461010" cy="7682998"/>
            <a:chOff x="0" y="0"/>
            <a:chExt cx="911542" cy="2023506"/>
          </a:xfrm>
        </p:grpSpPr>
        <p:sp>
          <p:nvSpPr>
            <p:cNvPr name="Freeform 12" id="12"/>
            <p:cNvSpPr/>
            <p:nvPr/>
          </p:nvSpPr>
          <p:spPr>
            <a:xfrm flipH="false" flipV="false" rot="0">
              <a:off x="0" y="0"/>
              <a:ext cx="911542" cy="2023506"/>
            </a:xfrm>
            <a:custGeom>
              <a:avLst/>
              <a:gdLst/>
              <a:ahLst/>
              <a:cxnLst/>
              <a:rect r="r" b="b" t="t" l="l"/>
              <a:pathLst>
                <a:path h="2023506" w="911542">
                  <a:moveTo>
                    <a:pt x="0" y="0"/>
                  </a:moveTo>
                  <a:lnTo>
                    <a:pt x="911542" y="0"/>
                  </a:lnTo>
                  <a:lnTo>
                    <a:pt x="911542" y="2023506"/>
                  </a:lnTo>
                  <a:lnTo>
                    <a:pt x="0" y="2023506"/>
                  </a:lnTo>
                  <a:close/>
                </a:path>
              </a:pathLst>
            </a:custGeom>
            <a:solidFill>
              <a:srgbClr val="036493"/>
            </a:solidFill>
          </p:spPr>
        </p:sp>
        <p:sp>
          <p:nvSpPr>
            <p:cNvPr name="TextBox 13" id="13"/>
            <p:cNvSpPr txBox="true"/>
            <p:nvPr/>
          </p:nvSpPr>
          <p:spPr>
            <a:xfrm>
              <a:off x="0" y="-66675"/>
              <a:ext cx="911542" cy="2090181"/>
            </a:xfrm>
            <a:prstGeom prst="rect">
              <a:avLst/>
            </a:prstGeom>
          </p:spPr>
          <p:txBody>
            <a:bodyPr anchor="ctr" rtlCol="false" tIns="50800" lIns="50800" bIns="50800" rIns="50800"/>
            <a:lstStyle/>
            <a:p>
              <a:pPr algn="ctr">
                <a:lnSpc>
                  <a:spcPts val="3494"/>
                </a:lnSpc>
              </a:pPr>
            </a:p>
          </p:txBody>
        </p:sp>
      </p:grpSp>
      <p:sp>
        <p:nvSpPr>
          <p:cNvPr name="TextBox 14" id="14"/>
          <p:cNvSpPr txBox="true"/>
          <p:nvPr/>
        </p:nvSpPr>
        <p:spPr>
          <a:xfrm rot="0">
            <a:off x="14418094" y="2007369"/>
            <a:ext cx="3250102" cy="7491095"/>
          </a:xfrm>
          <a:prstGeom prst="rect">
            <a:avLst/>
          </a:prstGeom>
        </p:spPr>
        <p:txBody>
          <a:bodyPr anchor="t" rtlCol="false" tIns="0" lIns="0" bIns="0" rIns="0">
            <a:spAutoFit/>
          </a:bodyPr>
          <a:lstStyle/>
          <a:p>
            <a:pPr algn="just">
              <a:lnSpc>
                <a:spcPts val="2519"/>
              </a:lnSpc>
              <a:spcBef>
                <a:spcPct val="0"/>
              </a:spcBef>
            </a:pPr>
            <a:r>
              <a:rPr lang="en-US" sz="1799">
                <a:solidFill>
                  <a:srgbClr val="FF914D"/>
                </a:solidFill>
                <a:latin typeface="Arial Nova"/>
                <a:ea typeface="Arial Nova"/>
                <a:cs typeface="Arial Nova"/>
                <a:sym typeface="Arial Nova"/>
              </a:rPr>
              <a:t> </a:t>
            </a:r>
            <a:r>
              <a:rPr lang="en-US" b="true" sz="1799">
                <a:solidFill>
                  <a:srgbClr val="FF914D"/>
                </a:solidFill>
                <a:latin typeface="Arial Nova Bold"/>
                <a:ea typeface="Arial Nova Bold"/>
                <a:cs typeface="Arial Nova Bold"/>
                <a:sym typeface="Arial Nova Bold"/>
              </a:rPr>
              <a:t>Key Insights:</a:t>
            </a: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Total Revenue:</a:t>
            </a:r>
            <a:r>
              <a:rPr lang="en-US" sz="1599">
                <a:solidFill>
                  <a:srgbClr val="FFFFFF"/>
                </a:solidFill>
                <a:latin typeface="Arial Nova"/>
                <a:ea typeface="Arial Nova"/>
                <a:cs typeface="Arial Nova"/>
                <a:sym typeface="Arial Nova"/>
              </a:rPr>
              <a:t> ₹514M with steady monthly growth, peaking around ₹54M.</a:t>
            </a:r>
          </a:p>
          <a:p>
            <a:pPr algn="just">
              <a:lnSpc>
                <a:spcPts val="2239"/>
              </a:lnSpc>
              <a:spcBef>
                <a:spcPct val="0"/>
              </a:spcBef>
            </a:pP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Occupancy:</a:t>
            </a:r>
            <a:r>
              <a:rPr lang="en-US" sz="1599">
                <a:solidFill>
                  <a:srgbClr val="FFFFFF"/>
                </a:solidFill>
                <a:latin typeface="Arial Nova"/>
                <a:ea typeface="Arial Nova"/>
                <a:cs typeface="Arial Nova"/>
                <a:sym typeface="Arial Nova"/>
              </a:rPr>
              <a:t> Low overall (13.23%), indicating scope for demand improvement.</a:t>
            </a:r>
          </a:p>
          <a:p>
            <a:pPr algn="just">
              <a:lnSpc>
                <a:spcPts val="2239"/>
              </a:lnSpc>
              <a:spcBef>
                <a:spcPct val="0"/>
              </a:spcBef>
            </a:pP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Pricing:</a:t>
            </a:r>
            <a:r>
              <a:rPr lang="en-US" sz="1599">
                <a:solidFill>
                  <a:srgbClr val="FFFFFF"/>
                </a:solidFill>
                <a:latin typeface="Arial Nova"/>
                <a:ea typeface="Arial Nova"/>
                <a:cs typeface="Arial Nova"/>
                <a:sym typeface="Arial Nova"/>
              </a:rPr>
              <a:t> ADR ~₹663 with stable RevPAR trends across months.</a:t>
            </a:r>
          </a:p>
          <a:p>
            <a:pPr algn="just">
              <a:lnSpc>
                <a:spcPts val="2239"/>
              </a:lnSpc>
              <a:spcBef>
                <a:spcPct val="0"/>
              </a:spcBef>
            </a:pP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Bookings:</a:t>
            </a:r>
            <a:r>
              <a:rPr lang="en-US" sz="1599">
                <a:solidFill>
                  <a:srgbClr val="FFFFFF"/>
                </a:solidFill>
                <a:latin typeface="Arial Nova"/>
                <a:ea typeface="Arial Nova"/>
                <a:cs typeface="Arial Nova"/>
                <a:sym typeface="Arial Nova"/>
              </a:rPr>
              <a:t> Checked-in, cancelled, and no-shows contribute almost equally, impacting realized revenue.</a:t>
            </a:r>
          </a:p>
          <a:p>
            <a:pPr algn="just">
              <a:lnSpc>
                <a:spcPts val="2239"/>
              </a:lnSpc>
              <a:spcBef>
                <a:spcPct val="0"/>
              </a:spcBef>
            </a:pP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Channels &amp; Services:</a:t>
            </a:r>
            <a:r>
              <a:rPr lang="en-US" sz="1599">
                <a:solidFill>
                  <a:srgbClr val="FFFFFF"/>
                </a:solidFill>
                <a:latin typeface="Arial Nova"/>
                <a:ea typeface="Arial Nova"/>
                <a:cs typeface="Arial Nova"/>
                <a:sym typeface="Arial Nova"/>
              </a:rPr>
              <a:t> Website and mobile app dominate bookings; Gym and Laundry contribute the highest service revenue.</a:t>
            </a:r>
          </a:p>
          <a:p>
            <a:pPr algn="just">
              <a:lnSpc>
                <a:spcPts val="2239"/>
              </a:lnSpc>
              <a:spcBef>
                <a:spcPct val="0"/>
              </a:spcBef>
            </a:pPr>
          </a:p>
          <a:p>
            <a:pPr algn="just" marL="345439" indent="-172720" lvl="1">
              <a:lnSpc>
                <a:spcPts val="2239"/>
              </a:lnSpc>
              <a:spcBef>
                <a:spcPct val="0"/>
              </a:spcBef>
              <a:buFont typeface="Arial"/>
              <a:buChar char="•"/>
            </a:pPr>
            <a:r>
              <a:rPr lang="en-US" b="true" sz="1599">
                <a:solidFill>
                  <a:srgbClr val="FFFFFF"/>
                </a:solidFill>
                <a:latin typeface="Arial Nova Bold"/>
                <a:ea typeface="Arial Nova Bold"/>
                <a:cs typeface="Arial Nova Bold"/>
                <a:sym typeface="Arial Nova Bold"/>
              </a:rPr>
              <a:t>Future Outlook:</a:t>
            </a:r>
            <a:r>
              <a:rPr lang="en-US" sz="1599">
                <a:solidFill>
                  <a:srgbClr val="FFFFFF"/>
                </a:solidFill>
                <a:latin typeface="Arial Nova"/>
                <a:ea typeface="Arial Nova"/>
                <a:cs typeface="Arial Nova"/>
                <a:sym typeface="Arial Nova"/>
              </a:rPr>
              <a:t> Occupancy shows moderate growth with uncertainty, requiring proactive planning.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14140710" y="1945221"/>
            <a:ext cx="3704850" cy="7584935"/>
            <a:chOff x="0" y="0"/>
            <a:chExt cx="975763" cy="1997678"/>
          </a:xfrm>
        </p:grpSpPr>
        <p:sp>
          <p:nvSpPr>
            <p:cNvPr name="Freeform 9" id="9"/>
            <p:cNvSpPr/>
            <p:nvPr/>
          </p:nvSpPr>
          <p:spPr>
            <a:xfrm flipH="false" flipV="false" rot="0">
              <a:off x="0" y="0"/>
              <a:ext cx="975763" cy="1997678"/>
            </a:xfrm>
            <a:custGeom>
              <a:avLst/>
              <a:gdLst/>
              <a:ahLst/>
              <a:cxnLst/>
              <a:rect r="r" b="b" t="t" l="l"/>
              <a:pathLst>
                <a:path h="1997678" w="975763">
                  <a:moveTo>
                    <a:pt x="0" y="0"/>
                  </a:moveTo>
                  <a:lnTo>
                    <a:pt x="975763" y="0"/>
                  </a:lnTo>
                  <a:lnTo>
                    <a:pt x="975763" y="1997678"/>
                  </a:lnTo>
                  <a:lnTo>
                    <a:pt x="0" y="1997678"/>
                  </a:lnTo>
                  <a:close/>
                </a:path>
              </a:pathLst>
            </a:custGeom>
            <a:solidFill>
              <a:srgbClr val="036493"/>
            </a:solidFill>
          </p:spPr>
        </p:sp>
        <p:sp>
          <p:nvSpPr>
            <p:cNvPr name="TextBox 10" id="10"/>
            <p:cNvSpPr txBox="true"/>
            <p:nvPr/>
          </p:nvSpPr>
          <p:spPr>
            <a:xfrm>
              <a:off x="0" y="-66675"/>
              <a:ext cx="975763" cy="2064353"/>
            </a:xfrm>
            <a:prstGeom prst="rect">
              <a:avLst/>
            </a:prstGeom>
          </p:spPr>
          <p:txBody>
            <a:bodyPr anchor="ctr" rtlCol="false" tIns="50800" lIns="50800" bIns="50800" rIns="50800"/>
            <a:lstStyle/>
            <a:p>
              <a:pPr algn="ctr">
                <a:lnSpc>
                  <a:spcPts val="3494"/>
                </a:lnSpc>
              </a:pPr>
            </a:p>
          </p:txBody>
        </p:sp>
      </p:grpSp>
      <p:sp>
        <p:nvSpPr>
          <p:cNvPr name="Freeform 11" id="11"/>
          <p:cNvSpPr/>
          <p:nvPr/>
        </p:nvSpPr>
        <p:spPr>
          <a:xfrm flipH="false" flipV="false" rot="0">
            <a:off x="543236" y="1945221"/>
            <a:ext cx="13484329" cy="7584935"/>
          </a:xfrm>
          <a:custGeom>
            <a:avLst/>
            <a:gdLst/>
            <a:ahLst/>
            <a:cxnLst/>
            <a:rect r="r" b="b" t="t" l="l"/>
            <a:pathLst>
              <a:path h="7584935" w="13484329">
                <a:moveTo>
                  <a:pt x="0" y="0"/>
                </a:moveTo>
                <a:lnTo>
                  <a:pt x="13484329" y="0"/>
                </a:lnTo>
                <a:lnTo>
                  <a:pt x="13484329" y="7584935"/>
                </a:lnTo>
                <a:lnTo>
                  <a:pt x="0" y="7584935"/>
                </a:lnTo>
                <a:lnTo>
                  <a:pt x="0" y="0"/>
                </a:lnTo>
                <a:close/>
              </a:path>
            </a:pathLst>
          </a:custGeom>
          <a:blipFill>
            <a:blip r:embed="rId2"/>
            <a:stretch>
              <a:fillRect l="0" t="0" r="0" b="0"/>
            </a:stretch>
          </a:blipFill>
        </p:spPr>
      </p:sp>
      <p:sp>
        <p:nvSpPr>
          <p:cNvPr name="TextBox 12" id="12"/>
          <p:cNvSpPr txBox="true"/>
          <p:nvPr/>
        </p:nvSpPr>
        <p:spPr>
          <a:xfrm rot="0">
            <a:off x="543236" y="323990"/>
            <a:ext cx="17201528"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Arial Nova Bold"/>
                <a:ea typeface="Arial Nova Bold"/>
                <a:cs typeface="Arial Nova Bold"/>
                <a:sym typeface="Arial Nova Bold"/>
              </a:rPr>
              <a:t>REVENUE MANAGER DASHBOARD</a:t>
            </a:r>
          </a:p>
        </p:txBody>
      </p:sp>
      <p:sp>
        <p:nvSpPr>
          <p:cNvPr name="TextBox 13" id="13"/>
          <p:cNvSpPr txBox="true"/>
          <p:nvPr/>
        </p:nvSpPr>
        <p:spPr>
          <a:xfrm rot="0">
            <a:off x="543236" y="1139965"/>
            <a:ext cx="17201528" cy="692150"/>
          </a:xfrm>
          <a:prstGeom prst="rect">
            <a:avLst/>
          </a:prstGeom>
        </p:spPr>
        <p:txBody>
          <a:bodyPr anchor="t" rtlCol="false" tIns="0" lIns="0" bIns="0" rIns="0">
            <a:spAutoFit/>
          </a:bodyPr>
          <a:lstStyle/>
          <a:p>
            <a:pPr algn="l">
              <a:lnSpc>
                <a:spcPts val="2799"/>
              </a:lnSpc>
              <a:spcBef>
                <a:spcPct val="0"/>
              </a:spcBef>
            </a:pPr>
            <a:r>
              <a:rPr lang="en-US" sz="1999" b="true">
                <a:solidFill>
                  <a:srgbClr val="2EC4B6"/>
                </a:solidFill>
                <a:latin typeface="Arial Nova Bold"/>
                <a:ea typeface="Arial Nova Bold"/>
                <a:cs typeface="Arial Nova Bold"/>
                <a:sym typeface="Arial Nova Bold"/>
              </a:rPr>
              <a:t>This dashb</a:t>
            </a:r>
            <a:r>
              <a:rPr lang="en-US" b="true" sz="1999">
                <a:solidFill>
                  <a:srgbClr val="2EC4B6"/>
                </a:solidFill>
                <a:latin typeface="Arial Nova Bold"/>
                <a:ea typeface="Arial Nova Bold"/>
                <a:cs typeface="Arial Nova Bold"/>
                <a:sym typeface="Arial Nova Bold"/>
              </a:rPr>
              <a:t>oard delivers actionable insights on pricing, channel mix, occupancy, booking behavior, and cancellations to support effective revenue optimization and demand management.</a:t>
            </a:r>
          </a:p>
        </p:txBody>
      </p:sp>
      <p:sp>
        <p:nvSpPr>
          <p:cNvPr name="TextBox 14" id="14"/>
          <p:cNvSpPr txBox="true"/>
          <p:nvPr/>
        </p:nvSpPr>
        <p:spPr>
          <a:xfrm rot="0">
            <a:off x="14241507" y="2012461"/>
            <a:ext cx="3503257" cy="7412355"/>
          </a:xfrm>
          <a:prstGeom prst="rect">
            <a:avLst/>
          </a:prstGeom>
        </p:spPr>
        <p:txBody>
          <a:bodyPr anchor="t" rtlCol="false" tIns="0" lIns="0" bIns="0" rIns="0">
            <a:spAutoFit/>
          </a:bodyPr>
          <a:lstStyle/>
          <a:p>
            <a:pPr algn="just">
              <a:lnSpc>
                <a:spcPts val="2659"/>
              </a:lnSpc>
            </a:pPr>
            <a:r>
              <a:rPr lang="en-US" sz="1899">
                <a:solidFill>
                  <a:srgbClr val="FFFFFF"/>
                </a:solidFill>
                <a:latin typeface="Arial Nova"/>
                <a:ea typeface="Arial Nova"/>
                <a:cs typeface="Arial Nova"/>
                <a:sym typeface="Arial Nova"/>
              </a:rPr>
              <a:t>   </a:t>
            </a:r>
            <a:r>
              <a:rPr lang="en-US" sz="1899" b="true">
                <a:solidFill>
                  <a:srgbClr val="FF914D"/>
                </a:solidFill>
                <a:latin typeface="Arial Nova Bold"/>
                <a:ea typeface="Arial Nova Bold"/>
                <a:cs typeface="Arial Nova Bold"/>
                <a:sym typeface="Arial Nova Bold"/>
              </a:rPr>
              <a:t>Key Insights</a:t>
            </a: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Pricing:</a:t>
            </a:r>
            <a:r>
              <a:rPr lang="en-US" sz="1700">
                <a:solidFill>
                  <a:srgbClr val="FFFFFF"/>
                </a:solidFill>
                <a:latin typeface="Arial Nova"/>
                <a:ea typeface="Arial Nova"/>
                <a:cs typeface="Arial Nova"/>
                <a:sym typeface="Arial Nova"/>
              </a:rPr>
              <a:t> ADR ₹5,953 and RevPAR ₹3,896 show healthy pricing with yield improvement potential.</a:t>
            </a:r>
          </a:p>
          <a:p>
            <a:pPr algn="just">
              <a:lnSpc>
                <a:spcPts val="2380"/>
              </a:lnSpc>
            </a:pP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Occupancy:</a:t>
            </a:r>
            <a:r>
              <a:rPr lang="en-US" sz="1700">
                <a:solidFill>
                  <a:srgbClr val="FFFFFF"/>
                </a:solidFill>
                <a:latin typeface="Arial Nova"/>
                <a:ea typeface="Arial Nova"/>
                <a:cs typeface="Arial Nova"/>
                <a:sym typeface="Arial Nova"/>
              </a:rPr>
              <a:t> 65.57% occupancy and 3.23 nights indicate stable demand.</a:t>
            </a:r>
          </a:p>
          <a:p>
            <a:pPr algn="just">
              <a:lnSpc>
                <a:spcPts val="2380"/>
              </a:lnSpc>
            </a:pP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Channels:</a:t>
            </a:r>
            <a:r>
              <a:rPr lang="en-US" sz="1700">
                <a:solidFill>
                  <a:srgbClr val="FFFFFF"/>
                </a:solidFill>
                <a:latin typeface="Arial Nova"/>
                <a:ea typeface="Arial Nova"/>
                <a:cs typeface="Arial Nova"/>
                <a:sym typeface="Arial Nova"/>
              </a:rPr>
              <a:t> Website and Mobile App lead revenue, reducing commission costs.</a:t>
            </a:r>
          </a:p>
          <a:p>
            <a:pPr algn="just">
              <a:lnSpc>
                <a:spcPts val="2380"/>
              </a:lnSpc>
            </a:pP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Segments:</a:t>
            </a:r>
            <a:r>
              <a:rPr lang="en-US" sz="1700">
                <a:solidFill>
                  <a:srgbClr val="FFFFFF"/>
                </a:solidFill>
                <a:latin typeface="Arial Nova"/>
                <a:ea typeface="Arial Nova"/>
                <a:cs typeface="Arial Nova"/>
                <a:sym typeface="Arial Nova"/>
              </a:rPr>
              <a:t> Solo and Business guests are the top revenue contributors.</a:t>
            </a:r>
          </a:p>
          <a:p>
            <a:pPr algn="just">
              <a:lnSpc>
                <a:spcPts val="2380"/>
              </a:lnSpc>
            </a:pP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Bookings:</a:t>
            </a:r>
            <a:r>
              <a:rPr lang="en-US" sz="1700">
                <a:solidFill>
                  <a:srgbClr val="FFFFFF"/>
                </a:solidFill>
                <a:latin typeface="Arial Nova"/>
                <a:ea typeface="Arial Nova"/>
                <a:cs typeface="Arial Nova"/>
                <a:sym typeface="Arial Nova"/>
              </a:rPr>
              <a:t> Steady booking trends with clear seasonal peaks.</a:t>
            </a:r>
          </a:p>
          <a:p>
            <a:pPr algn="just">
              <a:lnSpc>
                <a:spcPts val="2380"/>
              </a:lnSpc>
            </a:pPr>
          </a:p>
          <a:p>
            <a:pPr algn="just" marL="367031" indent="-183515" lvl="1">
              <a:lnSpc>
                <a:spcPts val="2380"/>
              </a:lnSpc>
              <a:buFont typeface="Arial"/>
              <a:buChar char="•"/>
            </a:pPr>
            <a:r>
              <a:rPr lang="en-US" b="true" sz="1700">
                <a:solidFill>
                  <a:srgbClr val="FFFFFF"/>
                </a:solidFill>
                <a:latin typeface="Arial Nova Bold"/>
                <a:ea typeface="Arial Nova Bold"/>
                <a:cs typeface="Arial Nova Bold"/>
                <a:sym typeface="Arial Nova Bold"/>
              </a:rPr>
              <a:t>Cancellations:</a:t>
            </a:r>
            <a:r>
              <a:rPr lang="en-US" sz="1700">
                <a:solidFill>
                  <a:srgbClr val="FFFFFF"/>
                </a:solidFill>
                <a:latin typeface="Arial Nova"/>
                <a:ea typeface="Arial Nova"/>
                <a:cs typeface="Arial Nova"/>
                <a:sym typeface="Arial Nova"/>
              </a:rPr>
              <a:t> 15.12% cancellation rate signals revenue leakage risk.</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4C71"/>
        </a:solidFill>
      </p:bgPr>
    </p:bg>
    <p:spTree>
      <p:nvGrpSpPr>
        <p:cNvPr id="1" name=""/>
        <p:cNvGrpSpPr/>
        <p:nvPr/>
      </p:nvGrpSpPr>
      <p:grpSpPr>
        <a:xfrm>
          <a:off x="0" y="0"/>
          <a:ext cx="0" cy="0"/>
          <a:chOff x="0" y="0"/>
          <a:chExt cx="0" cy="0"/>
        </a:xfrm>
      </p:grpSpPr>
      <p:grpSp>
        <p:nvGrpSpPr>
          <p:cNvPr name="Group 2" id="2"/>
          <p:cNvGrpSpPr/>
          <p:nvPr/>
        </p:nvGrpSpPr>
        <p:grpSpPr>
          <a:xfrm rot="0">
            <a:off x="-650301" y="9900339"/>
            <a:ext cx="19554463" cy="1066796"/>
            <a:chOff x="0" y="0"/>
            <a:chExt cx="5150147" cy="280967"/>
          </a:xfrm>
        </p:grpSpPr>
        <p:sp>
          <p:nvSpPr>
            <p:cNvPr name="Freeform 3" id="3"/>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4" id="4"/>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5" id="5"/>
          <p:cNvGrpSpPr/>
          <p:nvPr/>
        </p:nvGrpSpPr>
        <p:grpSpPr>
          <a:xfrm rot="0">
            <a:off x="16476461" y="9753386"/>
            <a:ext cx="650352" cy="533614"/>
            <a:chOff x="0" y="0"/>
            <a:chExt cx="171286" cy="140540"/>
          </a:xfrm>
        </p:grpSpPr>
        <p:sp>
          <p:nvSpPr>
            <p:cNvPr name="Freeform 6" id="6"/>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7" id="7"/>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grpSp>
        <p:nvGrpSpPr>
          <p:cNvPr name="Group 8" id="8"/>
          <p:cNvGrpSpPr/>
          <p:nvPr/>
        </p:nvGrpSpPr>
        <p:grpSpPr>
          <a:xfrm rot="0">
            <a:off x="684349" y="2242003"/>
            <a:ext cx="16999814" cy="7129258"/>
            <a:chOff x="0" y="0"/>
            <a:chExt cx="4477317" cy="1877665"/>
          </a:xfrm>
        </p:grpSpPr>
        <p:sp>
          <p:nvSpPr>
            <p:cNvPr name="Freeform 9" id="9"/>
            <p:cNvSpPr/>
            <p:nvPr/>
          </p:nvSpPr>
          <p:spPr>
            <a:xfrm flipH="false" flipV="false" rot="0">
              <a:off x="0" y="0"/>
              <a:ext cx="4477317" cy="1877665"/>
            </a:xfrm>
            <a:custGeom>
              <a:avLst/>
              <a:gdLst/>
              <a:ahLst/>
              <a:cxnLst/>
              <a:rect r="r" b="b" t="t" l="l"/>
              <a:pathLst>
                <a:path h="1877665" w="4477317">
                  <a:moveTo>
                    <a:pt x="0" y="0"/>
                  </a:moveTo>
                  <a:lnTo>
                    <a:pt x="4477317" y="0"/>
                  </a:lnTo>
                  <a:lnTo>
                    <a:pt x="4477317" y="1877665"/>
                  </a:lnTo>
                  <a:lnTo>
                    <a:pt x="0" y="1877665"/>
                  </a:lnTo>
                  <a:close/>
                </a:path>
              </a:pathLst>
            </a:custGeom>
            <a:solidFill>
              <a:srgbClr val="036493"/>
            </a:solidFill>
          </p:spPr>
        </p:sp>
        <p:sp>
          <p:nvSpPr>
            <p:cNvPr name="TextBox 10" id="10"/>
            <p:cNvSpPr txBox="true"/>
            <p:nvPr/>
          </p:nvSpPr>
          <p:spPr>
            <a:xfrm>
              <a:off x="0" y="-66675"/>
              <a:ext cx="4477317" cy="1944340"/>
            </a:xfrm>
            <a:prstGeom prst="rect">
              <a:avLst/>
            </a:prstGeom>
          </p:spPr>
          <p:txBody>
            <a:bodyPr anchor="ctr" rtlCol="false" tIns="50800" lIns="50800" bIns="50800" rIns="50800"/>
            <a:lstStyle/>
            <a:p>
              <a:pPr algn="ctr">
                <a:lnSpc>
                  <a:spcPts val="3494"/>
                </a:lnSpc>
              </a:pPr>
            </a:p>
          </p:txBody>
        </p:sp>
      </p:grpSp>
      <p:sp>
        <p:nvSpPr>
          <p:cNvPr name="TextBox 11" id="11"/>
          <p:cNvSpPr txBox="true"/>
          <p:nvPr/>
        </p:nvSpPr>
        <p:spPr>
          <a:xfrm rot="0">
            <a:off x="831544" y="2577657"/>
            <a:ext cx="16592874" cy="6391275"/>
          </a:xfrm>
          <a:prstGeom prst="rect">
            <a:avLst/>
          </a:prstGeom>
        </p:spPr>
        <p:txBody>
          <a:bodyPr anchor="t" rtlCol="false" tIns="0" lIns="0" bIns="0" rIns="0">
            <a:spAutoFit/>
          </a:bodyPr>
          <a:lstStyle/>
          <a:p>
            <a:pPr algn="just" marL="647702" indent="-323851" lvl="1">
              <a:lnSpc>
                <a:spcPts val="4200"/>
              </a:lnSpc>
              <a:buFont typeface="Arial"/>
              <a:buChar char="•"/>
            </a:pPr>
            <a:r>
              <a:rPr lang="en-US" b="true" sz="3000">
                <a:solidFill>
                  <a:srgbClr val="FFFFFF"/>
                </a:solidFill>
                <a:latin typeface="Arial Nova Bold"/>
                <a:ea typeface="Arial Nova Bold"/>
                <a:cs typeface="Arial Nova Bold"/>
                <a:sym typeface="Arial Nova Bold"/>
              </a:rPr>
              <a:t>Unified Data Foundation:</a:t>
            </a:r>
            <a:r>
              <a:rPr lang="en-US" sz="3000">
                <a:solidFill>
                  <a:srgbClr val="FFFFFF"/>
                </a:solidFill>
                <a:latin typeface="Arial Nova"/>
                <a:ea typeface="Arial Nova"/>
                <a:cs typeface="Arial Nova"/>
                <a:sym typeface="Arial Nova"/>
              </a:rPr>
              <a:t> Successfully transformed raw booking and room data into a robust Star Schema, enabling accurate, real-time performance tracking.</a:t>
            </a:r>
          </a:p>
          <a:p>
            <a:pPr algn="just">
              <a:lnSpc>
                <a:spcPts val="4200"/>
              </a:lnSpc>
            </a:pPr>
          </a:p>
          <a:p>
            <a:pPr algn="just" marL="647702" indent="-323851" lvl="1">
              <a:lnSpc>
                <a:spcPts val="4200"/>
              </a:lnSpc>
              <a:buFont typeface="Arial"/>
              <a:buChar char="•"/>
            </a:pPr>
            <a:r>
              <a:rPr lang="en-US" b="true" sz="3000">
                <a:solidFill>
                  <a:srgbClr val="FFFFFF"/>
                </a:solidFill>
                <a:latin typeface="Arial Nova Bold"/>
                <a:ea typeface="Arial Nova Bold"/>
                <a:cs typeface="Arial Nova Bold"/>
                <a:sym typeface="Arial Nova Bold"/>
              </a:rPr>
              <a:t>360° Operational Insight:</a:t>
            </a:r>
            <a:r>
              <a:rPr lang="en-US" sz="3000">
                <a:solidFill>
                  <a:srgbClr val="FFFFFF"/>
                </a:solidFill>
                <a:latin typeface="Arial Nova"/>
                <a:ea typeface="Arial Nova"/>
                <a:cs typeface="Arial Nova"/>
                <a:sym typeface="Arial Nova"/>
              </a:rPr>
              <a:t> Established critical KPIs (Occupancy, ADR, RevPAR) and deep Guest Segmentation to pinpoint high-value customer groups and peak seasons.</a:t>
            </a:r>
          </a:p>
          <a:p>
            <a:pPr algn="just">
              <a:lnSpc>
                <a:spcPts val="4200"/>
              </a:lnSpc>
            </a:pPr>
          </a:p>
          <a:p>
            <a:pPr algn="just" marL="647702" indent="-323851" lvl="1">
              <a:lnSpc>
                <a:spcPts val="4200"/>
              </a:lnSpc>
              <a:buFont typeface="Arial"/>
              <a:buChar char="•"/>
            </a:pPr>
            <a:r>
              <a:rPr lang="en-US" b="true" sz="3000">
                <a:solidFill>
                  <a:srgbClr val="FFFFFF"/>
                </a:solidFill>
                <a:latin typeface="Arial Nova Bold"/>
                <a:ea typeface="Arial Nova Bold"/>
                <a:cs typeface="Arial Nova Bold"/>
                <a:sym typeface="Arial Nova Bold"/>
              </a:rPr>
              <a:t>Predictive Capability:</a:t>
            </a:r>
            <a:r>
              <a:rPr lang="en-US" sz="3000">
                <a:solidFill>
                  <a:srgbClr val="FFFFFF"/>
                </a:solidFill>
                <a:latin typeface="Arial Nova"/>
                <a:ea typeface="Arial Nova"/>
                <a:cs typeface="Arial Nova"/>
                <a:sym typeface="Arial Nova"/>
              </a:rPr>
              <a:t> Implemented forecasting models to anticipate demand trends and mitigate revenue loss from cancellations and no-shows.</a:t>
            </a:r>
          </a:p>
          <a:p>
            <a:pPr algn="just">
              <a:lnSpc>
                <a:spcPts val="4200"/>
              </a:lnSpc>
            </a:pPr>
          </a:p>
          <a:p>
            <a:pPr algn="just" marL="647702" indent="-323851" lvl="1">
              <a:lnSpc>
                <a:spcPts val="4200"/>
              </a:lnSpc>
              <a:buFont typeface="Arial"/>
              <a:buChar char="•"/>
            </a:pPr>
            <a:r>
              <a:rPr lang="en-US" b="true" sz="3000">
                <a:solidFill>
                  <a:srgbClr val="FFFFFF"/>
                </a:solidFill>
                <a:latin typeface="Arial Nova Bold"/>
                <a:ea typeface="Arial Nova Bold"/>
                <a:cs typeface="Arial Nova Bold"/>
                <a:sym typeface="Arial Nova Bold"/>
              </a:rPr>
              <a:t>Actionable Revenue Strategy:</a:t>
            </a:r>
            <a:r>
              <a:rPr lang="en-US" sz="3000">
                <a:solidFill>
                  <a:srgbClr val="FFFFFF"/>
                </a:solidFill>
                <a:latin typeface="Arial Nova"/>
                <a:ea typeface="Arial Nova"/>
                <a:cs typeface="Arial Nova"/>
                <a:sym typeface="Arial Nova"/>
              </a:rPr>
              <a:t> Delivered a comprehensive dashboard empowering managers to drive growth through dynamic pricing, targeted upselling, and data-</a:t>
            </a:r>
          </a:p>
          <a:p>
            <a:pPr algn="just">
              <a:lnSpc>
                <a:spcPts val="4200"/>
              </a:lnSpc>
            </a:pPr>
            <a:r>
              <a:rPr lang="en-US" sz="3000">
                <a:solidFill>
                  <a:srgbClr val="FFFFFF"/>
                </a:solidFill>
                <a:latin typeface="Arial Nova"/>
                <a:ea typeface="Arial Nova"/>
                <a:cs typeface="Arial Nova"/>
                <a:sym typeface="Arial Nova"/>
              </a:rPr>
              <a:t>      </a:t>
            </a:r>
            <a:r>
              <a:rPr lang="en-US" sz="3000">
                <a:solidFill>
                  <a:srgbClr val="FFFFFF"/>
                </a:solidFill>
                <a:latin typeface="Arial Nova"/>
                <a:ea typeface="Arial Nova"/>
                <a:cs typeface="Arial Nova"/>
                <a:sym typeface="Arial Nova"/>
              </a:rPr>
              <a:t>driven decision-making.</a:t>
            </a:r>
          </a:p>
        </p:txBody>
      </p:sp>
      <p:sp>
        <p:nvSpPr>
          <p:cNvPr name="TextBox 12" id="12"/>
          <p:cNvSpPr txBox="true"/>
          <p:nvPr/>
        </p:nvSpPr>
        <p:spPr>
          <a:xfrm rot="0">
            <a:off x="684349" y="208269"/>
            <a:ext cx="16999814" cy="1038225"/>
          </a:xfrm>
          <a:prstGeom prst="rect">
            <a:avLst/>
          </a:prstGeom>
        </p:spPr>
        <p:txBody>
          <a:bodyPr anchor="t" rtlCol="false" tIns="0" lIns="0" bIns="0" rIns="0">
            <a:spAutoFit/>
          </a:bodyPr>
          <a:lstStyle/>
          <a:p>
            <a:pPr algn="ctr">
              <a:lnSpc>
                <a:spcPts val="8400"/>
              </a:lnSpc>
            </a:pPr>
            <a:r>
              <a:rPr lang="en-US" b="true" sz="6000">
                <a:solidFill>
                  <a:srgbClr val="FFFFFF"/>
                </a:solidFill>
                <a:latin typeface="Arial Nova Bold"/>
                <a:ea typeface="Arial Nova Bold"/>
                <a:cs typeface="Arial Nova Bold"/>
                <a:sym typeface="Arial Nova Bold"/>
              </a:rPr>
              <a:t>CONCLUSION</a:t>
            </a:r>
          </a:p>
        </p:txBody>
      </p:sp>
      <p:sp>
        <p:nvSpPr>
          <p:cNvPr name="TextBox 13" id="13"/>
          <p:cNvSpPr txBox="true"/>
          <p:nvPr/>
        </p:nvSpPr>
        <p:spPr>
          <a:xfrm rot="0">
            <a:off x="684349" y="1404206"/>
            <a:ext cx="16999814" cy="613410"/>
          </a:xfrm>
          <a:prstGeom prst="rect">
            <a:avLst/>
          </a:prstGeom>
        </p:spPr>
        <p:txBody>
          <a:bodyPr anchor="t" rtlCol="false" tIns="0" lIns="0" bIns="0" rIns="0">
            <a:spAutoFit/>
          </a:bodyPr>
          <a:lstStyle/>
          <a:p>
            <a:pPr algn="l">
              <a:lnSpc>
                <a:spcPts val="5040"/>
              </a:lnSpc>
            </a:pPr>
            <a:r>
              <a:rPr lang="en-US" sz="3600" b="true">
                <a:solidFill>
                  <a:srgbClr val="FF914D"/>
                </a:solidFill>
                <a:latin typeface="Arial Nova Bold"/>
                <a:ea typeface="Arial Nova Bold"/>
                <a:cs typeface="Arial Nova Bold"/>
                <a:sym typeface="Arial Nova Bold"/>
              </a:rPr>
              <a:t>Summary &amp; Final Thoughts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grpSp>
        <p:nvGrpSpPr>
          <p:cNvPr name="Group 3" id="3"/>
          <p:cNvGrpSpPr/>
          <p:nvPr/>
        </p:nvGrpSpPr>
        <p:grpSpPr>
          <a:xfrm rot="0">
            <a:off x="-650301" y="9900339"/>
            <a:ext cx="19554463" cy="1066796"/>
            <a:chOff x="0" y="0"/>
            <a:chExt cx="5150147" cy="280967"/>
          </a:xfrm>
        </p:grpSpPr>
        <p:sp>
          <p:nvSpPr>
            <p:cNvPr name="Freeform 4" id="4"/>
            <p:cNvSpPr/>
            <p:nvPr/>
          </p:nvSpPr>
          <p:spPr>
            <a:xfrm flipH="false" flipV="false" rot="0">
              <a:off x="0" y="0"/>
              <a:ext cx="5150146" cy="280967"/>
            </a:xfrm>
            <a:custGeom>
              <a:avLst/>
              <a:gdLst/>
              <a:ahLst/>
              <a:cxnLst/>
              <a:rect r="r" b="b" t="t" l="l"/>
              <a:pathLst>
                <a:path h="280967" w="5150146">
                  <a:moveTo>
                    <a:pt x="0" y="0"/>
                  </a:moveTo>
                  <a:lnTo>
                    <a:pt x="5150146" y="0"/>
                  </a:lnTo>
                  <a:lnTo>
                    <a:pt x="5150146" y="280967"/>
                  </a:lnTo>
                  <a:lnTo>
                    <a:pt x="0" y="280967"/>
                  </a:lnTo>
                  <a:close/>
                </a:path>
              </a:pathLst>
            </a:custGeom>
            <a:solidFill>
              <a:srgbClr val="FFFFFF"/>
            </a:solidFill>
          </p:spPr>
        </p:sp>
        <p:sp>
          <p:nvSpPr>
            <p:cNvPr name="TextBox 5" id="5"/>
            <p:cNvSpPr txBox="true"/>
            <p:nvPr/>
          </p:nvSpPr>
          <p:spPr>
            <a:xfrm>
              <a:off x="0" y="-66675"/>
              <a:ext cx="5150147" cy="347642"/>
            </a:xfrm>
            <a:prstGeom prst="rect">
              <a:avLst/>
            </a:prstGeom>
          </p:spPr>
          <p:txBody>
            <a:bodyPr anchor="ctr" rtlCol="false" tIns="50800" lIns="50800" bIns="50800" rIns="50800"/>
            <a:lstStyle/>
            <a:p>
              <a:pPr algn="ctr">
                <a:lnSpc>
                  <a:spcPts val="3494"/>
                </a:lnSpc>
              </a:pPr>
            </a:p>
          </p:txBody>
        </p:sp>
      </p:grpSp>
      <p:grpSp>
        <p:nvGrpSpPr>
          <p:cNvPr name="Group 6" id="6"/>
          <p:cNvGrpSpPr/>
          <p:nvPr/>
        </p:nvGrpSpPr>
        <p:grpSpPr>
          <a:xfrm rot="0">
            <a:off x="16476461" y="9753386"/>
            <a:ext cx="650352" cy="533614"/>
            <a:chOff x="0" y="0"/>
            <a:chExt cx="171286" cy="140540"/>
          </a:xfrm>
        </p:grpSpPr>
        <p:sp>
          <p:nvSpPr>
            <p:cNvPr name="Freeform 7" id="7"/>
            <p:cNvSpPr/>
            <p:nvPr/>
          </p:nvSpPr>
          <p:spPr>
            <a:xfrm flipH="false" flipV="false" rot="0">
              <a:off x="0" y="0"/>
              <a:ext cx="171286" cy="140540"/>
            </a:xfrm>
            <a:custGeom>
              <a:avLst/>
              <a:gdLst/>
              <a:ahLst/>
              <a:cxnLst/>
              <a:rect r="r" b="b" t="t" l="l"/>
              <a:pathLst>
                <a:path h="140540" w="171286">
                  <a:moveTo>
                    <a:pt x="0" y="0"/>
                  </a:moveTo>
                  <a:lnTo>
                    <a:pt x="171286" y="0"/>
                  </a:lnTo>
                  <a:lnTo>
                    <a:pt x="171286" y="140540"/>
                  </a:lnTo>
                  <a:lnTo>
                    <a:pt x="0" y="140540"/>
                  </a:lnTo>
                  <a:close/>
                </a:path>
              </a:pathLst>
            </a:custGeom>
            <a:solidFill>
              <a:srgbClr val="FF914D"/>
            </a:solidFill>
          </p:spPr>
        </p:sp>
        <p:sp>
          <p:nvSpPr>
            <p:cNvPr name="TextBox 8" id="8"/>
            <p:cNvSpPr txBox="true"/>
            <p:nvPr/>
          </p:nvSpPr>
          <p:spPr>
            <a:xfrm>
              <a:off x="0" y="-66675"/>
              <a:ext cx="171286" cy="207215"/>
            </a:xfrm>
            <a:prstGeom prst="rect">
              <a:avLst/>
            </a:prstGeom>
          </p:spPr>
          <p:txBody>
            <a:bodyPr anchor="ctr" rtlCol="false" tIns="50800" lIns="50800" bIns="50800" rIns="50800"/>
            <a:lstStyle/>
            <a:p>
              <a:pPr algn="ctr">
                <a:lnSpc>
                  <a:spcPts val="3494"/>
                </a:lnSpc>
              </a:pPr>
            </a:p>
          </p:txBody>
        </p:sp>
      </p:grpSp>
      <p:sp>
        <p:nvSpPr>
          <p:cNvPr name="TextBox 9" id="9"/>
          <p:cNvSpPr txBox="true"/>
          <p:nvPr/>
        </p:nvSpPr>
        <p:spPr>
          <a:xfrm rot="0">
            <a:off x="1471693" y="3240092"/>
            <a:ext cx="15344613" cy="3425817"/>
          </a:xfrm>
          <a:prstGeom prst="rect">
            <a:avLst/>
          </a:prstGeom>
        </p:spPr>
        <p:txBody>
          <a:bodyPr anchor="t" rtlCol="false" tIns="0" lIns="0" bIns="0" rIns="0">
            <a:spAutoFit/>
          </a:bodyPr>
          <a:lstStyle/>
          <a:p>
            <a:pPr algn="ctr">
              <a:lnSpc>
                <a:spcPts val="28000"/>
              </a:lnSpc>
            </a:pPr>
            <a:r>
              <a:rPr lang="en-US" b="true" sz="20000">
                <a:solidFill>
                  <a:srgbClr val="FFFFFF"/>
                </a:solidFill>
                <a:latin typeface="Arial Nova Bold"/>
                <a:ea typeface="Arial Nova Bold"/>
                <a:cs typeface="Arial Nova Bold"/>
                <a:sym typeface="Arial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DAG7aCrAiQU</dc:identifier>
  <dcterms:modified xsi:type="dcterms:W3CDTF">2011-08-01T06:04:30Z</dcterms:modified>
  <cp:revision>1</cp:revision>
  <dc:title>Team A</dc:title>
</cp:coreProperties>
</file>